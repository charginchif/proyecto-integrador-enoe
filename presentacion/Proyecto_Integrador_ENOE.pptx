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Si fuera muestra aleatoria simple</c:v>
                </c:pt>
              </c:strCache>
            </c:strRef>
          </c:tx>
          <c:spPr>
            <a:solidFill>
              <a:srgbClr val="A9A8A0"/>
            </a:solidFill>
          </c:spPr>
          <c:cat>
            <c:strRef>
              <c:f>Sheet1!$A$2:$A$3</c:f>
              <c:strCache>
                <c:ptCount val="2"/>
                <c:pt idx="0">
                  <c:v>TIL1 nacional (puntos porcentuales)</c:v>
                </c:pt>
                <c:pt idx="1">
                  <c:v>Brecha por hora (puntos logarítmicos)</c:v>
                </c:pt>
              </c:strCache>
            </c:strRef>
          </c:cat>
          <c:val>
            <c:numRef>
              <c:f>Sheet1!$B$2:$B$3</c:f>
              <c:numCache>
                <c:formatCode>General</c:formatCode>
                <c:ptCount val="2"/>
                <c:pt idx="0">
                  <c:v>0.11407575785478</c:v>
                </c:pt>
                <c:pt idx="1">
                  <c:v>0.38262118000208</c:v>
                </c:pt>
              </c:numCache>
            </c:numRef>
          </c:val>
        </c:ser>
        <c:ser>
          <c:idx val="1"/>
          <c:order val="1"/>
          <c:tx>
            <c:strRef>
              <c:f>Sheet1!$C$1</c:f>
              <c:strCache>
                <c:ptCount val="1"/>
                <c:pt idx="0">
                  <c:v>Con el diseño complejo (Rao-Wu)</c:v>
                </c:pt>
              </c:strCache>
            </c:strRef>
          </c:tx>
          <c:spPr>
            <a:solidFill>
              <a:schemeClr val="accent1"/>
            </a:solidFill>
          </c:spPr>
          <c:cat>
            <c:strRef>
              <c:f>Sheet1!$A$2:$A$3</c:f>
              <c:strCache>
                <c:ptCount val="2"/>
                <c:pt idx="0">
                  <c:v>TIL1 nacional (puntos porcentuales)</c:v>
                </c:pt>
                <c:pt idx="1">
                  <c:v>Brecha por hora (puntos logarítmicos)</c:v>
                </c:pt>
              </c:strCache>
            </c:strRef>
          </c:cat>
          <c:val>
            <c:numRef>
              <c:f>Sheet1!$C$2:$C$3</c:f>
              <c:numCache>
                <c:formatCode>General</c:formatCode>
                <c:ptCount val="2"/>
                <c:pt idx="0">
                  <c:v>0.24966899602424003</c:v>
                </c:pt>
                <c:pt idx="1">
                  <c:v>0.67187132859477</c:v>
                </c:pt>
              </c:numCache>
            </c:numRef>
          </c:val>
        </c:ser>
        <c:dLbls>
          <c:numFmt formatCode="0.00" sourceLinked="0"/>
          <c:txPr>
            <a:bodyPr/>
            <a:lstStyle/>
            <a:p>
              <a:pPr>
                <a:defRPr sz="1400"/>
              </a:pPr>
            </a:p>
          </c:txPr>
          <c:dLblPos val="outEnd"/>
          <c:showLegendKey val="0"/>
          <c:showVal val="1"/>
          <c:showCatName val="0"/>
          <c:showSerName val="0"/>
          <c:showPercent val="0"/>
          <c:showBubbleSize val="0"/>
          <c:showLeaderLines val="1"/>
        </c:dLbls>
        <c:gapWidth val="90"/>
        <c:overlap val="-1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400">
                <a:solidFill>
                  <a:srgbClr val="3C3F48"/>
                </a:solidFill>
              </a:defRPr>
            </a:pPr>
          </a:p>
        </c:txPr>
        <c:crossAx val="-2113994440"/>
        <c:crosses val="autoZero"/>
        <c:auto val="1"/>
        <c:lblAlgn val="ctr"/>
        <c:lblOffset val="100"/>
        <c:noMultiLvlLbl val="0"/>
      </c:catAx>
      <c:valAx>
        <c:axId val="-2113994440"/>
        <c:scaling/>
        <c:delete val="0"/>
        <c:axPos val="l"/>
        <c:majorGridlines>
          <c:spPr>
            <a:ln w="9525">
              <a:solidFill>
                <a:srgbClr val="E1E0D9"/>
              </a:solidFill>
            </a:ln>
          </c:spPr>
        </c:majorGridlines>
        <c:numFmt formatCode="0.0" sourceLinked="0"/>
        <c:majorTickMark val="out"/>
        <c:minorTickMark val="none"/>
        <c:tickLblPos val="nextTo"/>
        <c:spPr>
          <a:ln>
            <a:noFill/>
          </a:ln>
        </c:spPr>
        <c:txPr>
          <a:bodyPr/>
          <a:lstStyle/>
          <a:p>
            <a:pPr>
              <a:defRPr sz="1400">
                <a:solidFill>
                  <a:srgbClr val="5F6368"/>
                </a:solidFill>
              </a:defRPr>
            </a:pPr>
          </a:p>
        </c:txPr>
        <c:crossAx val="-2068027336"/>
        <c:crosses val="autoZero"/>
      </c:valAx>
    </c:plotArea>
    <c:legend>
      <c:legendPos val="b"/>
      <c:overlay val="0"/>
      <c:txPr>
        <a:bodyPr/>
        <a:lstStyle/>
        <a:p>
          <a:pPr>
            <a:defRPr sz="1400"/>
          </a:pPr>
        </a:p>
      </c:txPr>
    </c:legend>
    <c:dispBlanksAs val="gap"/>
  </c:chart>
  <c:txPr>
    <a:bodyPr/>
    <a:lstStyle/>
    <a:p>
      <a:pPr>
        <a:defRPr sz="1400">
          <a:solidFill>
            <a:schemeClr val="tx1"/>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Premio salarial (%)</c:v>
                </c:pt>
              </c:strCache>
            </c:strRef>
          </c:tx>
          <c:spPr>
            <a:solidFill>
              <a:schemeClr val="accent1"/>
            </a:solidFill>
          </c:spPr>
          <c:cat>
            <c:strRef>
              <c:f>Sheet1!$A$2:$A$5</c:f>
              <c:strCache>
                <c:ptCount val="4"/>
                <c:pt idx="0">
                  <c:v>Primaria completa</c:v>
                </c:pt>
                <c:pt idx="1">
                  <c:v>Secundaria completa</c:v>
                </c:pt>
                <c:pt idx="2">
                  <c:v>Media superior</c:v>
                </c:pt>
                <c:pt idx="3">
                  <c:v>Licenciatura o posgrado</c:v>
                </c:pt>
              </c:strCache>
            </c:strRef>
          </c:cat>
          <c:val>
            <c:numRef>
              <c:f>Sheet1!$B$2:$B$5</c:f>
              <c:numCache>
                <c:formatCode>General</c:formatCode>
                <c:ptCount val="4"/>
                <c:pt idx="0">
                  <c:v>6.902584509779164</c:v>
                </c:pt>
                <c:pt idx="1">
                  <c:v>15.78122864748519</c:v>
                </c:pt>
                <c:pt idx="2">
                  <c:v>28.40260133692274</c:v>
                </c:pt>
                <c:pt idx="3">
                  <c:v>92.4289248258464</c:v>
                </c:pt>
              </c:numCache>
            </c:numRef>
          </c:val>
        </c:ser>
        <c:dLbls>
          <c:numFmt formatCode="0&quot;%&quot;" sourceLinked="0"/>
          <c:txPr>
            <a:bodyPr/>
            <a:lstStyle/>
            <a:p>
              <a:pPr>
                <a:defRPr sz="16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400">
                <a:solidFill>
                  <a:srgbClr val="3C3F48"/>
                </a:solidFill>
              </a:defRPr>
            </a:pPr>
          </a:p>
        </c:txPr>
        <c:crossAx val="-2113994440"/>
        <c:crosses val="autoZero"/>
        <c:auto val="1"/>
        <c:lblAlgn val="ctr"/>
        <c:lblOffset val="100"/>
        <c:noMultiLvlLbl val="0"/>
      </c:catAx>
      <c:valAx>
        <c:axId val="-2113994440"/>
        <c:scaling/>
        <c:delete val="0"/>
        <c:axPos val="l"/>
        <c:majorGridlines>
          <c:spPr>
            <a:ln w="9525">
              <a:solidFill>
                <a:srgbClr val="E1E0D9"/>
              </a:solidFill>
            </a:ln>
          </c:spPr>
        </c:majorGridlines>
        <c:numFmt formatCode="0&quot;%&quot;" sourceLinked="0"/>
        <c:majorTickMark val="out"/>
        <c:minorTickMark val="none"/>
        <c:tickLblPos val="nextTo"/>
        <c:spPr>
          <a:ln>
            <a:noFill/>
          </a:ln>
        </c:spPr>
        <c:txPr>
          <a:bodyPr/>
          <a:lstStyle/>
          <a:p>
            <a:pPr>
              <a:defRPr sz="1400">
                <a:solidFill>
                  <a:srgbClr val="5F6368"/>
                </a:solidFill>
              </a:defRPr>
            </a:pPr>
          </a:p>
        </c:txPr>
        <c:crossAx val="-2068027336"/>
        <c:crosses val="autoZero"/>
      </c:valAx>
    </c:plotArea>
    <c:dispBlanksAs val="gap"/>
  </c:chart>
  <c:txPr>
    <a:bodyPr/>
    <a:lstStyle/>
    <a:p>
      <a:pPr>
        <a:defRPr sz="1400">
          <a:solidFill>
            <a:schemeClr val="tx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equipo. El proyecto responde a una pregunta simple —¿cuánto rinde estudiar y para quién?— con un ciclo KDD completo sobre la ENOE 2025-T4 del INEGI: 190,187 ocupados, 32 entidades, limpieza documentada, dos almacenes de datos, estadística con el diseño muestral de la encuesta y un tablero. Pidan a cada integrante que se presente y diga qué parte explicará.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pregunta del protocolo. Tiene tres partes que corresponden a los tres objetivos: el rendimiento de un año de escolaridad por entidad, la brecha de género con la misma escolaridad y la informalidad. Las tres métricas de éxito del protocolo son: M1, brecha por nivel de instrucción con intervalo y prueba; M2, Spearman por entidad con intervalo y ranking; M3, un tablero con al menos cuatro visualizaciones sobre una base NoSQL. Al final de la presentación regresamos a ellas para ver si se cumplieron.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ciclo KDD estructura todo el trabajo y cada fase corresponde a semanas del curso. Selección: elegimos la ENOE y la validamos contra cifras oficiales. Preprocesamiento: la ENOE no tiene celdas vacías, los faltantes vienen codificados, y encontramos que el ingreso cero esconde tres fenómenos. Transformación: variables, un ETL y dos almacenes. Minería: estadística con el diseño muestral, regresión y descomposición. Interpretación: hallazgos y límites. Abajo, el tamaño de los datos.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analizar nada comprobamos que estamos leyendo bien los datos. Con la base oficial —ocupados de 15 años y más, entrevista completa, residentes habituales, ponderador fac_tri— reproducimos siete cifras que publicó el INEGI para este trimestre: la PEA, la tasa de participación, la ocupación informal, la tasa de informalidad nacional y la de tres estados. Un detalle: si hubiéramos incluido a los 1,078 menores de 15 años que trabajan, la informalidad subiría a 55.27 % y ya no coincidiría. Esto valida los códigos de clase, informalidad y los factores de expansión.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de calidad de datos más importante. El archivo trae ingreso cero para el 36 por ciento de los registros, y la lectura ingenua es que no reciben ingresos. Falso. Ponderado, solo 61 por ciento declara el monto exacto; 22 por ciento da únicamente un rango de salarios mínimos, 13 por ciento no especifica y apenas 4 por ciento realmente no recibe ingresos. Y hay un patrón: la proporción que declara monto exacto baja con la escolaridad, de 69 a 55 por ciento. Los datos faltan de forma no aleatoria. Por eso el análisis principal usa a quienes declararon monto, pero cada resultado clave se contrasta con tres correcciones: imputar el rango, ponderar por no respuesta y usar solo asalariados.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limpieza es una cascada de reglas, cada una es una función con nombre, probada con datos sintéticos y registrada en una bitácora. Solo las reglas de cobertura eliminan filas; los faltantes codificados, la calidad del ingreso y los atípicos crean banderas, así que podemos cambiar una decisión y rehacer el análisis sin volver a limpiar. Un punto técnico: la ENOE no tiene nulos explícitos, un isna diría que todo está completo; los faltantes vienen como 99 en escolaridad o cero horas trabajadas. Al final, el pipeline verifica quince expectativas de calidad y se detiene si una crítica falla.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la ingeniería de datos y la justificación del modelo. Los microdatos entran a un pipeline en Python que extrae, limpia, transforma y valida, y carga a SQLite con esquema en estrella, con llaves primarias, foráneas y restricciones CHECK. Los datos de la ENOE son tabulares, así que para analizar el modelo relacional es el adecuado. Pero para servir la ficha de una entidad a un tablero conviene un modelo documental: un documento por entidad con los indicadores anidados, sin joins, con esquema flexible. SQLite es la fuente de verdad y MongoDB es una vista de lectura que se regenera. Aclaración honesta: verificamos que la agregación de Mongo reproduce la vista SQL, pero no cargamos a un servidor real porque no hay uno instalado; la carga completa se probó con mongomock, un simulador, y los documentos están listos para mongoimport.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ENOE es una encuesta por conglomerados y estratos: las personas de una misma unidad primaria se parecen entre sí. Si tratáramos los datos como una muestra aleatoria simple, los errores estándar saldrían demasiado pequeños. Medimos el efecto de diseño: 4.8 para la informalidad, es decir, los 190,187 ocupados valen como unas 40 mil observaciones independientes. Por eso usamos el bootstrap de Rao y Wu con mil réplicas: remuestrea unidades dentro de estratos. Probamos que reproduce la varianza de linealización de Taylor, y que los dominios conservan todas las unidades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Resultado central del objetivo uno. Con la ecuación de Mincer, controlando edad, sexo, entidad y tamaño de localidad, cada año adicional de escolaridad eleva el ingreso por hora 5.1 por ciento, con un intervalo de 5.0 a 5.3. No es lineal: terminar licenciatura o posgrado paga 92 por ciento más que no terminar la primaria. Las mujeres obtienen un rendimiento mayor, 5.9 contra 4.6 por ciento. Y es robusto: va de 4.9 a 5.7 por ciento en siete especificaciones, incluyendo imputar el ingreso faltante y ponderar por no respuesta.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objetivo uno comparamos estados de mayor y menor ingreso. Agrupamos las 32 entidades en cuartiles de ingreso mediano por hora —el agrupamiento se recalcula en cada réplica para no ignorar su incertidumbre— y comparamos el rendimiento medio del cuartil más rico con el del más pobre. La diferencia es prácticamente cero: 0.000 log-puntos, con p igual a 0.91. No hay evidencia de que estudiar rinda más o menos según la riqueza del estado. Lo que sí cambia entre estados es el nivel de ingreso. Y cada estado individual va de 3.7 por ciento en Nayarit a 9.1 en Ciudad de México, con intervalos amplios. Advertencia: son relaciones entre estados, no efectos causales individuales.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Métrica dos. Para cada entidad calculamos el Spearman ponderado entre años de escolaridad e ingreso por hora, con su intervalo por bootstrap. A la derecha de la gráfica está el lugar de cada estado con su propio intervalo, porque el ranking también es incierto. La Ciudad de México encabeza con 0.49 y su lugar es uno o dos con seguridad. Baja California Sur tiene el menor vínculo, 0.21. Pero los estados del centro del ranking tienen intervalos de lugar de quince o más posiciones: no se pueden distinguir. Un ranking defendible es el que reporta esa incertidumbre; por eso solo afirmamos los extremos.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Métrica uno. La brecha se define como uno menos el cociente del ingreso medio geométrico de las mujeres entre el de los hombres. Por hora es 3.7 por ciento, con intervalo de 2.3 a 5.0 y p menor a 0.001. Por nivel de instrucción va de 3.9 a 10.1 por ciento y las cuatro son significativas incluso con el ajuste de Holm; las pruebas clásicas de Welch y Mann-Whitney coinciden. El tamaño de efecto es pequeño, la d de Cohen va de 0.06 a 0.24. Pero por mes la brecha es de 26.9 por ciento. La diferencia viene de las horas: las mujeres trabajan 24 por ciento menos horas pagadas. En logaritmos la identidad es exacta: brecha mensual igual a brecha por hora más brecha de horas.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saber qué pasa con personas comparables fuimos agregando controles: la brecha sube de 3.7 a 8.2 por ciento. Primero sube porque las mujeres de la muestra tienen más escolaridad, lo que ocultaba parte de la brecha. El último modelo, con horas trabajadas, da 16 por ciento pero no se interpreta: hay un sesgo de división, porque el ingreso por hora es ingreso entre horas y un error en las horas crea una relación negativa mecánica. La descomposición de Oaxaca-Blinder, que está en el anexo, dice lo mismo: la parte explicada es negativa —las mujeres tienen mejores características— y la no explicada es de unos siete puntos.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brecha no está repartida parejo. Comparamos los percentiles del ingreso por hora de hombres y mujeres: en el percentil diez la brecha es de 8.2 por ciento y en el veinticinco de 10.4, ambas significativas. En la mediana baja a 2.1 por ciento y ya no es significativa, y en los percentiles setenta y cinco y noventa es nula o incluso favorece ligeramente a las mujeres. Es un patrón de piso pegajoso: la desventaja pesa más donde el salario es bajo —informalidad, servicio doméstico, comercio—, así que políticas como el salario mínimo y la formalización pueden incidir más en la brecha que las que apuntan a puestos directivos. Nota: las medianas de ingreso tienen redondeo en cifras exactas, por eso los intervalos son discretos.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tres. La informalidad laboral nacional es 55.0 por ciento, que coincide con la cifra oficial. El cartograma de mosaicos da la misma área a cada estado para que ninguno domine por su tamaño: va de 33 por ciento en Coahuila a 80 en Oaxaca. Por escolaridad, 87 por ciento entre quienes no terminaron la primaria contra 38 con medio superior o superior. Entre estados, el Spearman entre escolaridad promedio e informalidad es -0.86. A nivel individual, cada año de escolaridad reduce 3.9 puntos la probabilidad de informalidad, y ser mujer la aumenta 6.1 puntos a igual escolaridad, edad y lugar. Cuidado con la falacia ecológica: la relación entre estados no es un efecto individual.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los resultados. Tres mensajes. Uno: estudiar paga alrededor de cinco por ciento por año y casi se duplica el ingreso con licenciatura, y rinde parecido en todos los estados, así que ampliar el acceso y la permanencia rinde en todas las regiones. Dos: la desigualdad de género mensual es sobre todo de horas pagadas, no de salario por hora; las políticas de cuidados y la atención a los percentiles bajos son las palancas. Tres: la informalidad se concentra donde se estudia menos, sobre todo en el Sur. A la derecha, el estatus de las métricas del protocolo: las tres se cumplen. Y la advertencia que no hay que olvidar: son asociaciones, no causalidad.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importante ser honestos con los límites. Son asociaciones y no causalidad: el rendimiento de estudiar mezcla el efecto de la escolaridad con habilidad no observada. Solo vemos el ingreso de quien trabaja y lo declara, así que hay selección; la mitigamos con ponderación por no respuesta e imputación por rangos, pero no la eliminamos. El ingreso por hora se calcula con las horas de una sola semana. Es un solo trimestre. Y por estado tenemos entre mil novecientas y cinco mil novecientas observaciones, por eso reportamos intervalos. Dos aclaraciones técnicas: no cargamos los documentos a un servidor MongoDB real porque no hay uno instalado (se probó con un simulador, mongomock), y el significado literal de los códigos de rangos de salarios mínimos lo inferimos de su correspondencia exacta con otra variable. Con más tiempo: varios trimestres con el panel rotativo, corrección por selección de Heckman, un mapa geográfico real y estimaciones para áreas pequeñas.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Todo está reproducible: el cuaderno ejecutado, el tablero interactivo, el pipeline, las pruebas y la documentación están en la carpeta del proyecto. Abran el espacio para preguntas; la guía de defensa en la carpeta docs tiene las preguntas más probables con sus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Diapositivas de respaldo para responder preguntas: robustez de la brecha, descomposición de Oaxaca-Blinder, informalidad vs. escolaridad, el tablero y los diagnósticos del modelo.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Respaldo. Probamos la brecha bajo diez especificaciones. El signo es siempre positivo, pero el tamaño depende de a quién se incluya: de 0.7 por ciento si imputamos el grupo que solo dio rango —que sesga hacia cero por construcción, porque asigna el mismo ingreso a un hombre y a una mujer del mismo rango— a 4.6 sin ponderar. La estimación más robusta de personas comparables es 8.2 por ciento, sin horas. La brecha mensual, 26.9, es indiscutible.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Respaldo. Descomponemos la brecha por hora con la referencia agrupada de Neumark. La parte explicada es negativa: las características medibles de las mujeres, sobre todo su mayor escolaridad, favorecerían un ingreso por hora más alto. La parte no explicada es de unos siete puntos logarítmicos: si las mujeres fueran pagadas como los hombres con las mismas características, ganarían alrededor de siete por ciento más por hora. No prueba discriminación: incluye ocupación específica, experiencia real, negociación y selección. Con los coeficientes de hombres o mujeres como referencia la conclusión es la misma.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Respaldo. Cada punto es una entidad. El Spearman entre escolaridad promedio e informalidad es -0.86 y la pendiente es de -14.4 puntos porcentuales por año de escolaridad promedio. Es una relación entre estados, no un efecto individual; el efecto individual lo estimamos aparte con un logit ponderado: la razón de momios por año es 0.82.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Respaldo para la métrica tres. El tablero es un único archivo HTML que funciona sin internet. Lo alimenta la colección de entidades exportada para MongoDB. Tiene un selector de entidad y un selector de indicador: el mapa de mosaicos y el ranking cambian con el indicador, dos dispersiones, las brechas por nivel, la calidad del ingreso y una vista de tabla accesible con las 32 entidades. También muestra el documento JSON de la entidad elegida, para ver cómo se guarda y se consulta.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Respaldo. En el modelo con todos los controles hay heterocedasticidad —Breusch-Pagan rechaza— y colas algo pesadas, curtosis en exceso de 1.9. Por eso toda la inferencia usa errores estándar robustos de diseño y no supuestos de normalidad. No hay multicolinealidad, el VIF máximo es 1.7, ni observaciones influyentes: la distancia de Cook máxima es 0.0005, y el coeficiente de mujer casi no cambia si quitamos el 0.1 por ciento más influyente.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548640" y="1463040"/>
            <a:ext cx="11094415" cy="1188720"/>
          </a:xfrm>
        </p:spPr>
        <p:txBody>
          <a:bodyPr wrap="square" anchor="ctr" lIns="0" rIns="0" tIns="0" bIns="0"/>
          <a:lstStyle/>
          <a:p>
            <a:pPr algn="l"/>
            <a:r>
              <a:rPr sz="4800" b="1" i="0">
                <a:solidFill>
                  <a:schemeClr val="bg1"/>
                </a:solidFill>
              </a:rPr>
              <a:t>Radiografía socioeconómica de México</a:t>
            </a:r>
          </a:p>
        </p:txBody>
      </p:sp>
      <p:sp>
        <p:nvSpPr>
          <p:cNvPr id="3" name="Subtítulo"/>
          <p:cNvSpPr txBox="1"/>
          <p:nvPr/>
        </p:nvSpPr>
        <p:spPr>
          <a:xfrm>
            <a:off x="548640" y="2788920"/>
            <a:ext cx="9601200" cy="914400"/>
          </a:xfrm>
          <a:prstGeom prst="rect">
            <a:avLst/>
          </a:prstGeom>
          <a:noFill/>
        </p:spPr>
        <p:txBody>
          <a:bodyPr wrap="square" lIns="0" rIns="0" tIns="0" bIns="0" anchor="t">
            <a:spAutoFit/>
          </a:bodyPr>
          <a:lstStyle/>
          <a:p>
            <a:pPr algn="l">
              <a:spcAft>
                <a:spcPts val="600"/>
              </a:spcAft>
            </a:pPr>
            <a:r>
              <a:rPr sz="2800" b="0" i="0">
                <a:solidFill>
                  <a:srgbClr val="CADCFC"/>
                </a:solidFill>
              </a:rPr>
              <a:t>Escolaridad, ingreso y brecha de género</a:t>
            </a:r>
          </a:p>
          <a:p>
            <a:pPr algn="l">
              <a:spcAft>
                <a:spcPts val="600"/>
              </a:spcAft>
            </a:pPr>
            <a:r>
              <a:rPr sz="1800" b="0" i="0">
                <a:solidFill>
                  <a:schemeClr val="bg1"/>
                </a:solidFill>
              </a:rPr>
              <a:t>Encuesta Nacional de Ocupación y Empleo (ENOE), 4.º trimestre de 2025 · INEGI</a:t>
            </a:r>
          </a:p>
        </p:txBody>
      </p:sp>
      <p:sp>
        <p:nvSpPr>
          <p:cNvPr id="4" name="Equipo"/>
          <p:cNvSpPr txBox="1"/>
          <p:nvPr/>
        </p:nvSpPr>
        <p:spPr>
          <a:xfrm>
            <a:off x="548640" y="4069080"/>
            <a:ext cx="10515600" cy="1097280"/>
          </a:xfrm>
          <a:prstGeom prst="rect">
            <a:avLst/>
          </a:prstGeom>
          <a:noFill/>
        </p:spPr>
        <p:txBody>
          <a:bodyPr wrap="square" lIns="0" rIns="0" tIns="0" bIns="0" anchor="t">
            <a:spAutoFit/>
          </a:bodyPr>
          <a:lstStyle/>
          <a:p>
            <a:pPr algn="l">
              <a:spcAft>
                <a:spcPts val="600"/>
              </a:spcAft>
            </a:pPr>
            <a:r>
              <a:rPr sz="1800" b="1" i="0">
                <a:solidFill>
                  <a:schemeClr val="bg1"/>
                </a:solidFill>
              </a:rPr>
              <a:t>Equipo 1: </a:t>
            </a:r>
            <a:r>
              <a:rPr sz="1800" b="0" i="0">
                <a:solidFill>
                  <a:schemeClr val="bg1"/>
                </a:solidFill>
              </a:rPr>
              <a:t>Juan Evelio Culin Grajeda · Angel Yireh Garcia Jara · Luis Andre Gutierrez Zuñia</a:t>
            </a:r>
          </a:p>
          <a:p>
            <a:pPr algn="l">
              <a:spcAft>
                <a:spcPts val="600"/>
              </a:spcAft>
            </a:pPr>
            <a:r>
              <a:rPr sz="1400" b="0" i="0">
                <a:solidFill>
                  <a:srgbClr val="CADCFC"/>
                </a:solidFill>
              </a:rPr>
              <a:t>Proyecto Integrador de Ciencia de Datos · Ingeniería en Computación, 9.º semestre · UNE Plantel Centro · 18 de octubre de 2026</a:t>
            </a:r>
          </a:p>
        </p:txBody>
      </p:sp>
      <p:sp>
        <p:nvSpPr>
          <p:cNvPr id="5" name="Dato 1"/>
          <p:cNvSpPr/>
          <p:nvPr/>
        </p:nvSpPr>
        <p:spPr>
          <a:xfrm>
            <a:off x="5486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419,038</a:t>
            </a:r>
          </a:p>
          <a:p>
            <a:pPr algn="ctr">
              <a:spcAft>
                <a:spcPts val="0"/>
              </a:spcAft>
            </a:pPr>
            <a:r>
              <a:rPr sz="1300" b="0" i="0">
                <a:solidFill>
                  <a:srgbClr val="CADCFC"/>
                </a:solidFill>
              </a:rPr>
              <a:t>registros</a:t>
            </a:r>
          </a:p>
        </p:txBody>
      </p:sp>
      <p:sp>
        <p:nvSpPr>
          <p:cNvPr id="6" name="Dato 2"/>
          <p:cNvSpPr/>
          <p:nvPr/>
        </p:nvSpPr>
        <p:spPr>
          <a:xfrm>
            <a:off x="32918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190,187</a:t>
            </a:r>
          </a:p>
          <a:p>
            <a:pPr algn="ctr">
              <a:spcAft>
                <a:spcPts val="0"/>
              </a:spcAft>
            </a:pPr>
            <a:r>
              <a:rPr sz="1300" b="0" i="0">
                <a:solidFill>
                  <a:srgbClr val="CADCFC"/>
                </a:solidFill>
              </a:rPr>
              <a:t>ocupados de 15+</a:t>
            </a:r>
          </a:p>
        </p:txBody>
      </p:sp>
      <p:sp>
        <p:nvSpPr>
          <p:cNvPr id="7" name="Dato 3"/>
          <p:cNvSpPr/>
          <p:nvPr/>
        </p:nvSpPr>
        <p:spPr>
          <a:xfrm>
            <a:off x="60350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32</a:t>
            </a:r>
          </a:p>
          <a:p>
            <a:pPr algn="ctr">
              <a:spcAft>
                <a:spcPts val="0"/>
              </a:spcAft>
            </a:pPr>
            <a:r>
              <a:rPr sz="1300" b="0" i="0">
                <a:solidFill>
                  <a:srgbClr val="CADCFC"/>
                </a:solidFill>
              </a:rPr>
              <a:t>entidades</a:t>
            </a:r>
          </a:p>
        </p:txBody>
      </p:sp>
      <p:sp>
        <p:nvSpPr>
          <p:cNvPr id="8" name="Dato 4"/>
          <p:cNvSpPr/>
          <p:nvPr/>
        </p:nvSpPr>
        <p:spPr>
          <a:xfrm>
            <a:off x="8778240" y="5440680"/>
            <a:ext cx="2560320" cy="86868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2400" b="1" i="0">
                <a:solidFill>
                  <a:schemeClr val="bg1"/>
                </a:solidFill>
              </a:rPr>
              <a:t>1,000</a:t>
            </a:r>
          </a:p>
          <a:p>
            <a:pPr algn="ctr">
              <a:spcAft>
                <a:spcPts val="0"/>
              </a:spcAft>
            </a:pPr>
            <a:r>
              <a:rPr sz="1300" b="0" i="0">
                <a:solidFill>
                  <a:srgbClr val="CADCFC"/>
                </a:solidFill>
              </a:rPr>
              <a:t>réplicas bootstrap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pregunta: ¿cuánto rinde estudiar, y para quién?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a:t>
            </a:r>
          </a:p>
        </p:txBody>
      </p:sp>
      <p:sp>
        <p:nvSpPr>
          <p:cNvPr id="5" name="Pregunta de investigación"/>
          <p:cNvSpPr/>
          <p:nvPr/>
        </p:nvSpPr>
        <p:spPr>
          <a:xfrm>
            <a:off x="548640" y="1554480"/>
            <a:ext cx="5212080" cy="3383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regunta"/>
          <p:cNvSpPr txBox="1"/>
          <p:nvPr/>
        </p:nvSpPr>
        <p:spPr>
          <a:xfrm>
            <a:off x="822959" y="1737360"/>
            <a:ext cx="4663440" cy="3017520"/>
          </a:xfrm>
          <a:prstGeom prst="rect">
            <a:avLst/>
          </a:prstGeom>
          <a:noFill/>
        </p:spPr>
        <p:txBody>
          <a:bodyPr wrap="square" lIns="0" rIns="0" tIns="0" bIns="0" anchor="ctr">
            <a:spAutoFit/>
          </a:bodyPr>
          <a:lstStyle/>
          <a:p>
            <a:pPr algn="l">
              <a:spcAft>
                <a:spcPts val="0"/>
              </a:spcAft>
            </a:pPr>
            <a:r>
              <a:rPr sz="2200" b="1" i="0">
                <a:solidFill>
                  <a:schemeClr val="tx2"/>
                </a:solidFill>
              </a:rPr>
              <a:t>¿Cuánto aumenta el ingreso laboral por cada año adicional de escolaridad, cómo cambia esa relación entre entidades federativas y existe una brecha salarial significativa entre hombres y mujeres con la misma escolaridad?</a:t>
            </a:r>
          </a:p>
        </p:txBody>
      </p:sp>
      <p:sp>
        <p:nvSpPr>
          <p:cNvPr id="7" name="Objetivo 1"/>
          <p:cNvSpPr/>
          <p:nvPr/>
        </p:nvSpPr>
        <p:spPr>
          <a:xfrm>
            <a:off x="6035040" y="1554480"/>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Número 1"/>
          <p:cNvSpPr/>
          <p:nvPr/>
        </p:nvSpPr>
        <p:spPr>
          <a:xfrm>
            <a:off x="6217920" y="1755648"/>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1</a:t>
            </a:r>
          </a:p>
        </p:txBody>
      </p:sp>
      <p:sp>
        <p:nvSpPr>
          <p:cNvPr id="9" name="Objetivo 1 texto"/>
          <p:cNvSpPr txBox="1"/>
          <p:nvPr/>
        </p:nvSpPr>
        <p:spPr>
          <a:xfrm>
            <a:off x="7040880" y="1645920"/>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Estimar la correlación y el rendimiento de la escolaridad en cada una de las 32 entidades</a:t>
            </a:r>
          </a:p>
        </p:txBody>
      </p:sp>
      <p:sp>
        <p:nvSpPr>
          <p:cNvPr id="10" name="Objetivo 2"/>
          <p:cNvSpPr/>
          <p:nvPr/>
        </p:nvSpPr>
        <p:spPr>
          <a:xfrm>
            <a:off x="6035040" y="2724912"/>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úmero 2"/>
          <p:cNvSpPr/>
          <p:nvPr/>
        </p:nvSpPr>
        <p:spPr>
          <a:xfrm>
            <a:off x="6217920" y="2926080"/>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2</a:t>
            </a:r>
          </a:p>
        </p:txBody>
      </p:sp>
      <p:sp>
        <p:nvSpPr>
          <p:cNvPr id="12" name="Objetivo 2 texto"/>
          <p:cNvSpPr txBox="1"/>
          <p:nvPr/>
        </p:nvSpPr>
        <p:spPr>
          <a:xfrm>
            <a:off x="7040880" y="2816352"/>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Probar si hay brecha de ingreso por hora entre hombres y mujeres con el mismo nivel de instrucción</a:t>
            </a:r>
          </a:p>
        </p:txBody>
      </p:sp>
      <p:sp>
        <p:nvSpPr>
          <p:cNvPr id="13" name="Objetivo 3"/>
          <p:cNvSpPr/>
          <p:nvPr/>
        </p:nvSpPr>
        <p:spPr>
          <a:xfrm>
            <a:off x="6035040" y="3895344"/>
            <a:ext cx="5605272" cy="102412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Número 3"/>
          <p:cNvSpPr/>
          <p:nvPr/>
        </p:nvSpPr>
        <p:spPr>
          <a:xfrm>
            <a:off x="6217920" y="4096511"/>
            <a:ext cx="621792" cy="62179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1800" b="1" i="0">
                <a:solidFill>
                  <a:schemeClr val="bg1"/>
                </a:solidFill>
              </a:rPr>
              <a:t>3</a:t>
            </a:r>
          </a:p>
        </p:txBody>
      </p:sp>
      <p:sp>
        <p:nvSpPr>
          <p:cNvPr id="15" name="Objetivo 3 texto"/>
          <p:cNvSpPr txBox="1"/>
          <p:nvPr/>
        </p:nvSpPr>
        <p:spPr>
          <a:xfrm>
            <a:off x="7040880" y="3986783"/>
            <a:ext cx="4434840" cy="841248"/>
          </a:xfrm>
          <a:prstGeom prst="rect">
            <a:avLst/>
          </a:prstGeom>
          <a:noFill/>
        </p:spPr>
        <p:txBody>
          <a:bodyPr wrap="square" lIns="0" rIns="0" tIns="0" bIns="0" anchor="ctr">
            <a:spAutoFit/>
          </a:bodyPr>
          <a:lstStyle/>
          <a:p>
            <a:pPr algn="l">
              <a:spcAft>
                <a:spcPts val="0"/>
              </a:spcAft>
            </a:pPr>
            <a:r>
              <a:rPr sz="1600" b="0" i="0">
                <a:solidFill>
                  <a:schemeClr val="tx1"/>
                </a:solidFill>
              </a:rPr>
              <a:t>Identificar las entidades con más informalidad y su relación con la escolaridad</a:t>
            </a:r>
          </a:p>
        </p:txBody>
      </p:sp>
      <p:sp>
        <p:nvSpPr>
          <p:cNvPr id="16" name="Métrica M1"/>
          <p:cNvSpPr/>
          <p:nvPr/>
        </p:nvSpPr>
        <p:spPr>
          <a:xfrm>
            <a:off x="548640"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M1  </a:t>
            </a:r>
            <a:r>
              <a:rPr sz="1400" b="0" i="0">
                <a:solidFill>
                  <a:schemeClr val="bg1"/>
                </a:solidFill>
              </a:rPr>
              <a:t>Brecha por nivel con IC 95 % y prueba de hipótesis</a:t>
            </a:r>
          </a:p>
        </p:txBody>
      </p:sp>
      <p:sp>
        <p:nvSpPr>
          <p:cNvPr id="17" name="Métrica M2"/>
          <p:cNvSpPr/>
          <p:nvPr/>
        </p:nvSpPr>
        <p:spPr>
          <a:xfrm>
            <a:off x="4297679"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M2  </a:t>
            </a:r>
            <a:r>
              <a:rPr sz="1400" b="0" i="0">
                <a:solidFill>
                  <a:schemeClr val="bg1"/>
                </a:solidFill>
              </a:rPr>
              <a:t>Spearman de las 32 entidades con IC y ranking</a:t>
            </a:r>
          </a:p>
        </p:txBody>
      </p:sp>
      <p:sp>
        <p:nvSpPr>
          <p:cNvPr id="18" name="Métrica M3"/>
          <p:cNvSpPr/>
          <p:nvPr/>
        </p:nvSpPr>
        <p:spPr>
          <a:xfrm>
            <a:off x="8046719" y="5257800"/>
            <a:ext cx="3611880" cy="86868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spcAft>
                <a:spcPts val="200"/>
              </a:spcAft>
            </a:pPr>
            <a:r>
              <a:rPr sz="1800" b="1" i="0">
                <a:solidFill>
                  <a:schemeClr val="bg1"/>
                </a:solidFill>
              </a:rPr>
              <a:t>M3  </a:t>
            </a:r>
            <a:r>
              <a:rPr sz="1400" b="0" i="0">
                <a:solidFill>
                  <a:schemeClr val="bg1"/>
                </a:solidFill>
              </a:rPr>
              <a:t>Tablero con ≥ 4 gráficas sobre una base NoSQL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Un ciclo KDD completo sobre datos reales y masivos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3</a:t>
            </a:r>
          </a:p>
        </p:txBody>
      </p:sp>
      <p:sp>
        <p:nvSpPr>
          <p:cNvPr id="5" name="Fase 1"/>
          <p:cNvSpPr/>
          <p:nvPr/>
        </p:nvSpPr>
        <p:spPr>
          <a:xfrm>
            <a:off x="548640"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Selección</a:t>
            </a:r>
          </a:p>
          <a:p>
            <a:pPr algn="l">
              <a:spcAft>
                <a:spcPts val="0"/>
              </a:spcAft>
            </a:pPr>
            <a:r>
              <a:rPr sz="1200" b="0" i="0">
                <a:solidFill>
                  <a:srgbClr val="CADCFC"/>
                </a:solidFill>
              </a:rPr>
              <a:t>Fase 1 · Sem. 1</a:t>
            </a:r>
          </a:p>
        </p:txBody>
      </p:sp>
      <p:sp>
        <p:nvSpPr>
          <p:cNvPr id="6" name="Fase 1 detalle"/>
          <p:cNvSpPr txBox="1"/>
          <p:nvPr/>
        </p:nvSpPr>
        <p:spPr>
          <a:xfrm>
            <a:off x="548640"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ENOE 4T-2025; validación contra cifras del INEGI</a:t>
            </a:r>
          </a:p>
        </p:txBody>
      </p:sp>
      <p:sp>
        <p:nvSpPr>
          <p:cNvPr id="7" name="Fase 2"/>
          <p:cNvSpPr/>
          <p:nvPr/>
        </p:nvSpPr>
        <p:spPr>
          <a:xfrm>
            <a:off x="2789468"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Preprocesamiento</a:t>
            </a:r>
          </a:p>
          <a:p>
            <a:pPr algn="l">
              <a:spcAft>
                <a:spcPts val="0"/>
              </a:spcAft>
            </a:pPr>
            <a:r>
              <a:rPr sz="1200" b="0" i="0">
                <a:solidFill>
                  <a:srgbClr val="CADCFC"/>
                </a:solidFill>
              </a:rPr>
              <a:t>Fase 2 · Sem. 4</a:t>
            </a:r>
          </a:p>
        </p:txBody>
      </p:sp>
      <p:sp>
        <p:nvSpPr>
          <p:cNvPr id="8" name="Fase 2 detalle"/>
          <p:cNvSpPr txBox="1"/>
          <p:nvPr/>
        </p:nvSpPr>
        <p:spPr>
          <a:xfrm>
            <a:off x="2789468"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Faltantes codificados, calidad del ingreso, atípicos, 15 pruebas de datos</a:t>
            </a:r>
          </a:p>
        </p:txBody>
      </p:sp>
      <p:sp>
        <p:nvSpPr>
          <p:cNvPr id="9" name="Fase 3"/>
          <p:cNvSpPr/>
          <p:nvPr/>
        </p:nvSpPr>
        <p:spPr>
          <a:xfrm>
            <a:off x="5030297"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Transformación</a:t>
            </a:r>
          </a:p>
          <a:p>
            <a:pPr algn="l">
              <a:spcAft>
                <a:spcPts val="0"/>
              </a:spcAft>
            </a:pPr>
            <a:r>
              <a:rPr sz="1200" b="0" i="0">
                <a:solidFill>
                  <a:srgbClr val="CADCFC"/>
                </a:solidFill>
              </a:rPr>
              <a:t>Fase 3 · Sem. 4 · 6 · 7</a:t>
            </a:r>
          </a:p>
        </p:txBody>
      </p:sp>
      <p:sp>
        <p:nvSpPr>
          <p:cNvPr id="10" name="Fase 3 detalle"/>
          <p:cNvSpPr txBox="1"/>
          <p:nvPr/>
        </p:nvSpPr>
        <p:spPr>
          <a:xfrm>
            <a:off x="5030297"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Variables derivadas, ETL, SQLite y MongoDB</a:t>
            </a:r>
          </a:p>
        </p:txBody>
      </p:sp>
      <p:sp>
        <p:nvSpPr>
          <p:cNvPr id="11" name="Fase 4"/>
          <p:cNvSpPr/>
          <p:nvPr/>
        </p:nvSpPr>
        <p:spPr>
          <a:xfrm>
            <a:off x="7271125"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Minería</a:t>
            </a:r>
          </a:p>
          <a:p>
            <a:pPr algn="l">
              <a:spcAft>
                <a:spcPts val="0"/>
              </a:spcAft>
            </a:pPr>
            <a:r>
              <a:rPr sz="1200" b="0" i="0">
                <a:solidFill>
                  <a:srgbClr val="CADCFC"/>
                </a:solidFill>
              </a:rPr>
              <a:t>Fase 4 · Sem. 2 · 3 · 5</a:t>
            </a:r>
          </a:p>
        </p:txBody>
      </p:sp>
      <p:sp>
        <p:nvSpPr>
          <p:cNvPr id="12" name="Fase 4 detalle"/>
          <p:cNvSpPr txBox="1"/>
          <p:nvPr/>
        </p:nvSpPr>
        <p:spPr>
          <a:xfrm>
            <a:off x="7271125"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Diseño muestral complejo, regresión, Oaxaca-Blinder</a:t>
            </a:r>
          </a:p>
        </p:txBody>
      </p:sp>
      <p:sp>
        <p:nvSpPr>
          <p:cNvPr id="13" name="Fase 5"/>
          <p:cNvSpPr/>
          <p:nvPr/>
        </p:nvSpPr>
        <p:spPr>
          <a:xfrm>
            <a:off x="9511954" y="1600200"/>
            <a:ext cx="2131100" cy="9601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500" b="1" i="0">
                <a:solidFill>
                  <a:schemeClr val="bg1"/>
                </a:solidFill>
              </a:rPr>
              <a:t>Interpretación</a:t>
            </a:r>
          </a:p>
          <a:p>
            <a:pPr algn="l">
              <a:spcAft>
                <a:spcPts val="0"/>
              </a:spcAft>
            </a:pPr>
            <a:r>
              <a:rPr sz="1200" b="0" i="0">
                <a:solidFill>
                  <a:srgbClr val="CADCFC"/>
                </a:solidFill>
              </a:rPr>
              <a:t>Fase 5 · Sem. 5</a:t>
            </a:r>
          </a:p>
        </p:txBody>
      </p:sp>
      <p:sp>
        <p:nvSpPr>
          <p:cNvPr id="14" name="Fase 5 detalle"/>
          <p:cNvSpPr txBox="1"/>
          <p:nvPr/>
        </p:nvSpPr>
        <p:spPr>
          <a:xfrm>
            <a:off x="9511954" y="2697480"/>
            <a:ext cx="2039660" cy="1371600"/>
          </a:xfrm>
          <a:prstGeom prst="rect">
            <a:avLst/>
          </a:prstGeom>
          <a:noFill/>
        </p:spPr>
        <p:txBody>
          <a:bodyPr wrap="square" lIns="0" rIns="0" tIns="0" bIns="0" anchor="t">
            <a:spAutoFit/>
          </a:bodyPr>
          <a:lstStyle/>
          <a:p>
            <a:pPr algn="l">
              <a:spcAft>
                <a:spcPts val="0"/>
              </a:spcAft>
            </a:pPr>
            <a:r>
              <a:rPr sz="1500" b="0" i="0">
                <a:solidFill>
                  <a:schemeClr val="tx1"/>
                </a:solidFill>
              </a:rPr>
              <a:t>Hallazgos, recomendaciones y límites</a:t>
            </a:r>
          </a:p>
        </p:txBody>
      </p:sp>
      <p:sp>
        <p:nvSpPr>
          <p:cNvPr id="15" name="Dato 1"/>
          <p:cNvSpPr/>
          <p:nvPr/>
        </p:nvSpPr>
        <p:spPr>
          <a:xfrm>
            <a:off x="548640"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ato 1 texto"/>
          <p:cNvSpPr txBox="1"/>
          <p:nvPr/>
        </p:nvSpPr>
        <p:spPr>
          <a:xfrm>
            <a:off x="731520"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419,038</a:t>
            </a:r>
          </a:p>
          <a:p>
            <a:r>
              <a:rPr sz="1400" b="0" i="0">
                <a:solidFill>
                  <a:schemeClr val="tx1"/>
                </a:solidFill>
              </a:rPr>
              <a:t>registros de la tabla SDEMT</a:t>
            </a:r>
          </a:p>
        </p:txBody>
      </p:sp>
      <p:sp>
        <p:nvSpPr>
          <p:cNvPr id="17" name="Dato 2"/>
          <p:cNvSpPr/>
          <p:nvPr/>
        </p:nvSpPr>
        <p:spPr>
          <a:xfrm>
            <a:off x="3355848"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ato 2 texto"/>
          <p:cNvSpPr txBox="1"/>
          <p:nvPr/>
        </p:nvSpPr>
        <p:spPr>
          <a:xfrm>
            <a:off x="3538728"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111,958</a:t>
            </a:r>
          </a:p>
          <a:p>
            <a:r>
              <a:rPr sz="1400" b="0" i="0">
                <a:solidFill>
                  <a:schemeClr val="tx1"/>
                </a:solidFill>
              </a:rPr>
              <a:t>observaciones salariales</a:t>
            </a:r>
          </a:p>
        </p:txBody>
      </p:sp>
      <p:sp>
        <p:nvSpPr>
          <p:cNvPr id="19" name="Dato 3"/>
          <p:cNvSpPr/>
          <p:nvPr/>
        </p:nvSpPr>
        <p:spPr>
          <a:xfrm>
            <a:off x="6163055"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ato 3 texto"/>
          <p:cNvSpPr txBox="1"/>
          <p:nvPr/>
        </p:nvSpPr>
        <p:spPr>
          <a:xfrm>
            <a:off x="6345936"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21,194</a:t>
            </a:r>
          </a:p>
          <a:p>
            <a:r>
              <a:rPr sz="1400" b="0" i="0">
                <a:solidFill>
                  <a:schemeClr val="tx1"/>
                </a:solidFill>
              </a:rPr>
              <a:t>UPM en 713 estratos</a:t>
            </a:r>
          </a:p>
        </p:txBody>
      </p:sp>
      <p:sp>
        <p:nvSpPr>
          <p:cNvPr id="21" name="Dato 4"/>
          <p:cNvSpPr/>
          <p:nvPr/>
        </p:nvSpPr>
        <p:spPr>
          <a:xfrm>
            <a:off x="8970263" y="4434840"/>
            <a:ext cx="267919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ato 4 texto"/>
          <p:cNvSpPr txBox="1"/>
          <p:nvPr/>
        </p:nvSpPr>
        <p:spPr>
          <a:xfrm>
            <a:off x="9153143" y="4526279"/>
            <a:ext cx="2313432" cy="1234440"/>
          </a:xfrm>
          <a:prstGeom prst="rect">
            <a:avLst/>
          </a:prstGeom>
          <a:noFill/>
        </p:spPr>
        <p:txBody>
          <a:bodyPr wrap="square" lIns="0" rIns="0" tIns="0" bIns="0" anchor="ctr">
            <a:spAutoFit/>
          </a:bodyPr>
          <a:lstStyle/>
          <a:p>
            <a:pPr algn="l">
              <a:spcAft>
                <a:spcPts val="0"/>
              </a:spcAft>
            </a:pPr>
            <a:r>
              <a:rPr sz="3400" b="1" i="0">
                <a:solidFill>
                  <a:schemeClr val="tx2"/>
                </a:solidFill>
              </a:rPr>
              <a:t>7 de 7</a:t>
            </a:r>
          </a:p>
          <a:p>
            <a:r>
              <a:rPr sz="1400" b="0" i="0">
                <a:solidFill>
                  <a:schemeClr val="tx1"/>
                </a:solidFill>
              </a:rPr>
              <a:t>cifras oficiales reproducidas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Los filtros y ponderadores reproducen las cifras oficiales del INEGI</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4</a:t>
            </a:r>
          </a:p>
        </p:txBody>
      </p:sp>
      <p:graphicFrame>
        <p:nvGraphicFramePr>
          <p:cNvPr id="5" name="Table 4"/>
          <p:cNvGraphicFramePr>
            <a:graphicFrameLocks noGrp="1"/>
          </p:cNvGraphicFramePr>
          <p:nvPr/>
        </p:nvGraphicFramePr>
        <p:xfrm>
          <a:off x="548640" y="1600200"/>
          <a:ext cx="7406640" cy="3657600"/>
        </p:xfrm>
        <a:graphic>
          <a:graphicData uri="http://schemas.openxmlformats.org/drawingml/2006/table">
            <a:tbl>
              <a:tblPr firstRow="1" bandRow="1">
                <a:tableStyleId>{5C22544A-7EE6-4342-B048-85BDC9FD1C3A}</a:tableStyleId>
              </a:tblPr>
              <a:tblGrid>
                <a:gridCol w="3474720"/>
                <a:gridCol w="1371600"/>
                <a:gridCol w="1188720"/>
                <a:gridCol w="1371600"/>
              </a:tblGrid>
              <a:tr h="457200">
                <a:tc>
                  <a:txBody>
                    <a:bodyPr/>
                    <a:lstStyle/>
                    <a:p>
                      <a:pPr algn="l"/>
                      <a:r>
                        <a:rPr sz="1400" b="1" i="0">
                          <a:solidFill>
                            <a:schemeClr val="bg1"/>
                          </a:solidFill>
                        </a:rPr>
                        <a:t>Indicador</a:t>
                      </a:r>
                    </a:p>
                  </a:txBody>
                  <a:tcPr>
                    <a:solidFill>
                      <a:schemeClr val="tx2"/>
                    </a:solidFill>
                  </a:tcPr>
                </a:tc>
                <a:tc>
                  <a:txBody>
                    <a:bodyPr/>
                    <a:lstStyle/>
                    <a:p>
                      <a:pPr algn="ctr"/>
                      <a:r>
                        <a:rPr sz="1400" b="1" i="0">
                          <a:solidFill>
                            <a:schemeClr val="bg1"/>
                          </a:solidFill>
                        </a:rPr>
                        <a:t>Proyecto</a:t>
                      </a:r>
                    </a:p>
                  </a:txBody>
                  <a:tcPr>
                    <a:solidFill>
                      <a:schemeClr val="tx2"/>
                    </a:solidFill>
                  </a:tcPr>
                </a:tc>
                <a:tc>
                  <a:txBody>
                    <a:bodyPr/>
                    <a:lstStyle/>
                    <a:p>
                      <a:pPr algn="ctr"/>
                      <a:r>
                        <a:rPr sz="1400" b="1" i="0">
                          <a:solidFill>
                            <a:schemeClr val="bg1"/>
                          </a:solidFill>
                        </a:rPr>
                        <a:t>INEGI</a:t>
                      </a:r>
                    </a:p>
                  </a:txBody>
                  <a:tcPr>
                    <a:solidFill>
                      <a:schemeClr val="tx2"/>
                    </a:solidFill>
                  </a:tcPr>
                </a:tc>
                <a:tc>
                  <a:txBody>
                    <a:bodyPr/>
                    <a:lstStyle/>
                    <a:p>
                      <a:pPr algn="ctr"/>
                      <a:r>
                        <a:rPr sz="1400" b="1" i="0">
                          <a:solidFill>
                            <a:schemeClr val="bg1"/>
                          </a:solidFill>
                        </a:rPr>
                        <a:t>¿Coincide?</a:t>
                      </a:r>
                    </a:p>
                  </a:txBody>
                  <a:tcPr>
                    <a:solidFill>
                      <a:schemeClr val="tx2"/>
                    </a:solidFill>
                  </a:tcPr>
                </a:tc>
              </a:tr>
              <a:tr h="457200">
                <a:tc>
                  <a:txBody>
                    <a:bodyPr/>
                    <a:lstStyle/>
                    <a:p>
                      <a:pPr algn="l"/>
                      <a:r>
                        <a:rPr sz="1400" b="0" i="0">
                          <a:solidFill>
                            <a:schemeClr val="tx1"/>
                          </a:solidFill>
                        </a:rPr>
                        <a:t>PEA (millones)</a:t>
                      </a:r>
                    </a:p>
                  </a:txBody>
                  <a:tcPr anchor="ctr">
                    <a:solidFill>
                      <a:schemeClr val="bg1"/>
                    </a:solidFill>
                  </a:tcPr>
                </a:tc>
                <a:tc>
                  <a:txBody>
                    <a:bodyPr/>
                    <a:lstStyle/>
                    <a:p>
                      <a:pPr algn="ctr"/>
                      <a:r>
                        <a:rPr sz="1400" b="0" i="0">
                          <a:solidFill>
                            <a:schemeClr val="tx1"/>
                          </a:solidFill>
                        </a:rPr>
                        <a:t>61.35</a:t>
                      </a:r>
                    </a:p>
                  </a:txBody>
                  <a:tcPr anchor="ctr">
                    <a:solidFill>
                      <a:schemeClr val="bg1"/>
                    </a:solidFill>
                  </a:tcPr>
                </a:tc>
                <a:tc>
                  <a:txBody>
                    <a:bodyPr/>
                    <a:lstStyle/>
                    <a:p>
                      <a:pPr algn="ctr"/>
                      <a:r>
                        <a:rPr sz="1400" b="0" i="0">
                          <a:solidFill>
                            <a:schemeClr val="tx1"/>
                          </a:solidFill>
                        </a:rPr>
                        <a:t>61.3</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Tasa de participación (%)</a:t>
                      </a:r>
                    </a:p>
                  </a:txBody>
                  <a:tcPr anchor="ctr">
                    <a:solidFill>
                      <a:schemeClr val="bg2"/>
                    </a:solidFill>
                  </a:tcPr>
                </a:tc>
                <a:tc>
                  <a:txBody>
                    <a:bodyPr/>
                    <a:lstStyle/>
                    <a:p>
                      <a:pPr algn="ctr"/>
                      <a:r>
                        <a:rPr sz="1400" b="0" i="0">
                          <a:solidFill>
                            <a:schemeClr val="tx1"/>
                          </a:solidFill>
                        </a:rPr>
                        <a:t>59.28</a:t>
                      </a:r>
                    </a:p>
                  </a:txBody>
                  <a:tcPr anchor="ctr">
                    <a:solidFill>
                      <a:schemeClr val="bg2"/>
                    </a:solidFill>
                  </a:tcPr>
                </a:tc>
                <a:tc>
                  <a:txBody>
                    <a:bodyPr/>
                    <a:lstStyle/>
                    <a:p>
                      <a:pPr algn="ctr"/>
                      <a:r>
                        <a:rPr sz="1400" b="0" i="0">
                          <a:solidFill>
                            <a:schemeClr val="tx1"/>
                          </a:solidFill>
                        </a:rPr>
                        <a:t>59.3</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Ocupación informal (millones)</a:t>
                      </a:r>
                    </a:p>
                  </a:txBody>
                  <a:tcPr anchor="ctr">
                    <a:solidFill>
                      <a:schemeClr val="bg1"/>
                    </a:solidFill>
                  </a:tcPr>
                </a:tc>
                <a:tc>
                  <a:txBody>
                    <a:bodyPr/>
                    <a:lstStyle/>
                    <a:p>
                      <a:pPr algn="ctr"/>
                      <a:r>
                        <a:rPr sz="1400" b="0" i="0">
                          <a:solidFill>
                            <a:schemeClr val="tx1"/>
                          </a:solidFill>
                        </a:rPr>
                        <a:t>32.88</a:t>
                      </a:r>
                    </a:p>
                  </a:txBody>
                  <a:tcPr anchor="ctr">
                    <a:solidFill>
                      <a:schemeClr val="bg1"/>
                    </a:solidFill>
                  </a:tcPr>
                </a:tc>
                <a:tc>
                  <a:txBody>
                    <a:bodyPr/>
                    <a:lstStyle/>
                    <a:p>
                      <a:pPr algn="ctr"/>
                      <a:r>
                        <a:rPr sz="1400" b="0" i="0">
                          <a:solidFill>
                            <a:schemeClr val="tx1"/>
                          </a:solidFill>
                        </a:rPr>
                        <a:t>32.9</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TIL1 nacional (%)</a:t>
                      </a:r>
                    </a:p>
                  </a:txBody>
                  <a:tcPr anchor="ctr">
                    <a:solidFill>
                      <a:schemeClr val="bg2"/>
                    </a:solidFill>
                  </a:tcPr>
                </a:tc>
                <a:tc>
                  <a:txBody>
                    <a:bodyPr/>
                    <a:lstStyle/>
                    <a:p>
                      <a:pPr algn="ctr"/>
                      <a:r>
                        <a:rPr sz="1400" b="0" i="0">
                          <a:solidFill>
                            <a:schemeClr val="tx1"/>
                          </a:solidFill>
                        </a:rPr>
                        <a:t>55.00</a:t>
                      </a:r>
                    </a:p>
                  </a:txBody>
                  <a:tcPr anchor="ctr">
                    <a:solidFill>
                      <a:schemeClr val="bg2"/>
                    </a:solidFill>
                  </a:tcPr>
                </a:tc>
                <a:tc>
                  <a:txBody>
                    <a:bodyPr/>
                    <a:lstStyle/>
                    <a:p>
                      <a:pPr algn="ctr"/>
                      <a:r>
                        <a:rPr sz="1400" b="0" i="0">
                          <a:solidFill>
                            <a:schemeClr val="tx1"/>
                          </a:solidFill>
                        </a:rPr>
                        <a:t>55.0</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TIL1 Chiapas (%)</a:t>
                      </a:r>
                    </a:p>
                  </a:txBody>
                  <a:tcPr anchor="ctr">
                    <a:solidFill>
                      <a:schemeClr val="bg1"/>
                    </a:solidFill>
                  </a:tcPr>
                </a:tc>
                <a:tc>
                  <a:txBody>
                    <a:bodyPr/>
                    <a:lstStyle/>
                    <a:p>
                      <a:pPr algn="ctr"/>
                      <a:r>
                        <a:rPr sz="1400" b="0" i="0">
                          <a:solidFill>
                            <a:schemeClr val="tx1"/>
                          </a:solidFill>
                        </a:rPr>
                        <a:t>74.90</a:t>
                      </a:r>
                    </a:p>
                  </a:txBody>
                  <a:tcPr anchor="ctr">
                    <a:solidFill>
                      <a:schemeClr val="bg1"/>
                    </a:solidFill>
                  </a:tcPr>
                </a:tc>
                <a:tc>
                  <a:txBody>
                    <a:bodyPr/>
                    <a:lstStyle/>
                    <a:p>
                      <a:pPr algn="ctr"/>
                      <a:r>
                        <a:rPr sz="1400" b="0" i="0">
                          <a:solidFill>
                            <a:schemeClr val="tx1"/>
                          </a:solidFill>
                        </a:rPr>
                        <a:t>74.9</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r h="457200">
                <a:tc>
                  <a:txBody>
                    <a:bodyPr/>
                    <a:lstStyle/>
                    <a:p>
                      <a:pPr algn="l"/>
                      <a:r>
                        <a:rPr sz="1400" b="0" i="0">
                          <a:solidFill>
                            <a:schemeClr val="tx1"/>
                          </a:solidFill>
                        </a:rPr>
                        <a:t>TIL1 Chihuahua (%)</a:t>
                      </a:r>
                    </a:p>
                  </a:txBody>
                  <a:tcPr anchor="ctr">
                    <a:solidFill>
                      <a:schemeClr val="bg2"/>
                    </a:solidFill>
                  </a:tcPr>
                </a:tc>
                <a:tc>
                  <a:txBody>
                    <a:bodyPr/>
                    <a:lstStyle/>
                    <a:p>
                      <a:pPr algn="ctr"/>
                      <a:r>
                        <a:rPr sz="1400" b="0" i="0">
                          <a:solidFill>
                            <a:schemeClr val="tx1"/>
                          </a:solidFill>
                        </a:rPr>
                        <a:t>36.19</a:t>
                      </a:r>
                    </a:p>
                  </a:txBody>
                  <a:tcPr anchor="ctr">
                    <a:solidFill>
                      <a:schemeClr val="bg2"/>
                    </a:solidFill>
                  </a:tcPr>
                </a:tc>
                <a:tc>
                  <a:txBody>
                    <a:bodyPr/>
                    <a:lstStyle/>
                    <a:p>
                      <a:pPr algn="ctr"/>
                      <a:r>
                        <a:rPr sz="1400" b="0" i="0">
                          <a:solidFill>
                            <a:schemeClr val="tx1"/>
                          </a:solidFill>
                        </a:rPr>
                        <a:t>36.2</a:t>
                      </a:r>
                    </a:p>
                  </a:txBody>
                  <a:tcPr anchor="ctr">
                    <a:solidFill>
                      <a:schemeClr val="bg2"/>
                    </a:solidFill>
                  </a:tcPr>
                </a:tc>
                <a:tc>
                  <a:txBody>
                    <a:bodyPr/>
                    <a:lstStyle/>
                    <a:p>
                      <a:pPr algn="ctr"/>
                      <a:r>
                        <a:rPr sz="1400" b="1" i="0">
                          <a:solidFill>
                            <a:schemeClr val="tx1"/>
                          </a:solidFill>
                        </a:rPr>
                        <a:t>Sí</a:t>
                      </a:r>
                    </a:p>
                  </a:txBody>
                  <a:tcPr anchor="ctr">
                    <a:solidFill>
                      <a:schemeClr val="bg2"/>
                    </a:solidFill>
                  </a:tcPr>
                </a:tc>
              </a:tr>
              <a:tr h="457200">
                <a:tc>
                  <a:txBody>
                    <a:bodyPr/>
                    <a:lstStyle/>
                    <a:p>
                      <a:pPr algn="l"/>
                      <a:r>
                        <a:rPr sz="1400" b="0" i="0">
                          <a:solidFill>
                            <a:schemeClr val="tx1"/>
                          </a:solidFill>
                        </a:rPr>
                        <a:t>TIL1 Ciudad de México (%)</a:t>
                      </a:r>
                    </a:p>
                  </a:txBody>
                  <a:tcPr anchor="ctr">
                    <a:solidFill>
                      <a:schemeClr val="bg1"/>
                    </a:solidFill>
                  </a:tcPr>
                </a:tc>
                <a:tc>
                  <a:txBody>
                    <a:bodyPr/>
                    <a:lstStyle/>
                    <a:p>
                      <a:pPr algn="ctr"/>
                      <a:r>
                        <a:rPr sz="1400" b="0" i="0">
                          <a:solidFill>
                            <a:schemeClr val="tx1"/>
                          </a:solidFill>
                        </a:rPr>
                        <a:t>45.71</a:t>
                      </a:r>
                    </a:p>
                  </a:txBody>
                  <a:tcPr anchor="ctr">
                    <a:solidFill>
                      <a:schemeClr val="bg1"/>
                    </a:solidFill>
                  </a:tcPr>
                </a:tc>
                <a:tc>
                  <a:txBody>
                    <a:bodyPr/>
                    <a:lstStyle/>
                    <a:p>
                      <a:pPr algn="ctr"/>
                      <a:r>
                        <a:rPr sz="1400" b="0" i="0">
                          <a:solidFill>
                            <a:schemeClr val="tx1"/>
                          </a:solidFill>
                        </a:rPr>
                        <a:t>45.7</a:t>
                      </a:r>
                    </a:p>
                  </a:txBody>
                  <a:tcPr anchor="ctr">
                    <a:solidFill>
                      <a:schemeClr val="bg1"/>
                    </a:solidFill>
                  </a:tcPr>
                </a:tc>
                <a:tc>
                  <a:txBody>
                    <a:bodyPr/>
                    <a:lstStyle/>
                    <a:p>
                      <a:pPr algn="ctr"/>
                      <a:r>
                        <a:rPr sz="1400" b="1" i="0">
                          <a:solidFill>
                            <a:schemeClr val="tx1"/>
                          </a:solidFill>
                        </a:rPr>
                        <a:t>Sí</a:t>
                      </a:r>
                    </a:p>
                  </a:txBody>
                  <a:tcPr anchor="ctr">
                    <a:solidFill>
                      <a:schemeClr val="bg1"/>
                    </a:solidFill>
                  </a:tcPr>
                </a:tc>
              </a:tr>
            </a:tbl>
          </a:graphicData>
        </a:graphic>
      </p:graphicFrame>
      <p:sp>
        <p:nvSpPr>
          <p:cNvPr id="6" name="Validación"/>
          <p:cNvSpPr/>
          <p:nvPr/>
        </p:nvSpPr>
        <p:spPr>
          <a:xfrm>
            <a:off x="8412480" y="1600200"/>
            <a:ext cx="3227832" cy="1920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Validación texto"/>
          <p:cNvSpPr txBox="1"/>
          <p:nvPr/>
        </p:nvSpPr>
        <p:spPr>
          <a:xfrm>
            <a:off x="8595359" y="1691640"/>
            <a:ext cx="2862072" cy="1737360"/>
          </a:xfrm>
          <a:prstGeom prst="rect">
            <a:avLst/>
          </a:prstGeom>
          <a:noFill/>
        </p:spPr>
        <p:txBody>
          <a:bodyPr wrap="square" lIns="0" rIns="0" tIns="0" bIns="0" anchor="ctr">
            <a:spAutoFit/>
          </a:bodyPr>
          <a:lstStyle/>
          <a:p>
            <a:pPr algn="l">
              <a:spcAft>
                <a:spcPts val="0"/>
              </a:spcAft>
            </a:pPr>
            <a:r>
              <a:rPr sz="5400" b="1" i="0">
                <a:solidFill>
                  <a:schemeClr val="tx2"/>
                </a:solidFill>
              </a:rPr>
              <a:t>7 de 7</a:t>
            </a:r>
          </a:p>
          <a:p>
            <a:r>
              <a:rPr sz="1500" b="0" i="0">
                <a:solidFill>
                  <a:schemeClr val="tx1"/>
                </a:solidFill>
              </a:rPr>
              <a:t>cifras del INEGI reproducidas al redondear a su precisión</a:t>
            </a:r>
          </a:p>
        </p:txBody>
      </p:sp>
      <p:sp>
        <p:nvSpPr>
          <p:cNvPr id="8" name="Nota menores de 15"/>
          <p:cNvSpPr/>
          <p:nvPr/>
        </p:nvSpPr>
        <p:spPr>
          <a:xfrm>
            <a:off x="8412480" y="3703320"/>
            <a:ext cx="3227832" cy="18288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Nota menores de 15 texto"/>
          <p:cNvSpPr txBox="1"/>
          <p:nvPr/>
        </p:nvSpPr>
        <p:spPr>
          <a:xfrm>
            <a:off x="8595360" y="3840480"/>
            <a:ext cx="2862072" cy="1554480"/>
          </a:xfrm>
          <a:prstGeom prst="rect">
            <a:avLst/>
          </a:prstGeom>
          <a:noFill/>
        </p:spPr>
        <p:txBody>
          <a:bodyPr wrap="square" lIns="0" rIns="0" tIns="0" bIns="0" anchor="ctr">
            <a:spAutoFit/>
          </a:bodyPr>
          <a:lstStyle/>
          <a:p>
            <a:pPr algn="l">
              <a:spcAft>
                <a:spcPts val="0"/>
              </a:spcAft>
            </a:pPr>
            <a:r>
              <a:rPr sz="1500" b="1" i="0">
                <a:solidFill>
                  <a:schemeClr val="tx1"/>
                </a:solidFill>
              </a:rPr>
              <a:t>Por qué solo 15+: </a:t>
            </a:r>
            <a:r>
              <a:rPr sz="1500" b="0" i="0">
                <a:solidFill>
                  <a:schemeClr val="tx1"/>
                </a:solidFill>
              </a:rPr>
              <a:t>con los 1,078 menores de 15 años ocupados, el TIL1 sería 55.27 % y dejaría de coincidir con el oficial.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El «ingreso cero» esconde tres fenómenos distintos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5</a:t>
            </a:r>
          </a:p>
        </p:txBody>
      </p:sp>
      <p:pic>
        <p:nvPicPr>
          <p:cNvPr id="5" name="02_calidad_ingreso.png" descr="Barras apiladas por población (total, sexo y nivel de instrucción) con el porcentaje que declara monto exacto (A), solo rango (B), no recibe ingresos (C) o no especificó (D)"/>
          <p:cNvPicPr>
            <a:picLocks noChangeAspect="1"/>
          </p:cNvPicPr>
          <p:nvPr/>
        </p:nvPicPr>
        <p:blipFill>
          <a:blip r:embed="rId3"/>
          <a:stretch>
            <a:fillRect/>
          </a:stretch>
        </p:blipFill>
        <p:spPr>
          <a:xfrm>
            <a:off x="548640" y="2099690"/>
            <a:ext cx="7680960" cy="3344418"/>
          </a:xfrm>
          <a:prstGeom prst="rect">
            <a:avLst/>
          </a:prstGeom>
        </p:spPr>
      </p:pic>
      <p:sp>
        <p:nvSpPr>
          <p:cNvPr id="6" name="Grupo A"/>
          <p:cNvSpPr/>
          <p:nvPr/>
        </p:nvSpPr>
        <p:spPr>
          <a:xfrm>
            <a:off x="8503920" y="15087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Grupo A texto"/>
          <p:cNvSpPr txBox="1"/>
          <p:nvPr/>
        </p:nvSpPr>
        <p:spPr>
          <a:xfrm>
            <a:off x="8686800" y="16002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61 %</a:t>
            </a:r>
          </a:p>
          <a:p>
            <a:r>
              <a:rPr sz="1400" b="0" i="0">
                <a:solidFill>
                  <a:schemeClr val="tx1"/>
                </a:solidFill>
              </a:rPr>
              <a:t>declara el monto exacto</a:t>
            </a:r>
          </a:p>
        </p:txBody>
      </p:sp>
      <p:sp>
        <p:nvSpPr>
          <p:cNvPr id="8" name="Grupo B"/>
          <p:cNvSpPr/>
          <p:nvPr/>
        </p:nvSpPr>
        <p:spPr>
          <a:xfrm>
            <a:off x="8503920" y="28803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Grupo B texto"/>
          <p:cNvSpPr txBox="1"/>
          <p:nvPr/>
        </p:nvSpPr>
        <p:spPr>
          <a:xfrm>
            <a:off x="8686800" y="29718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22 %</a:t>
            </a:r>
          </a:p>
          <a:p>
            <a:r>
              <a:rPr sz="1400" b="0" i="0">
                <a:solidFill>
                  <a:schemeClr val="tx1"/>
                </a:solidFill>
              </a:rPr>
              <a:t>da solo un rango de salarios mínimos</a:t>
            </a:r>
          </a:p>
        </p:txBody>
      </p:sp>
      <p:sp>
        <p:nvSpPr>
          <p:cNvPr id="10" name="Grupo D"/>
          <p:cNvSpPr/>
          <p:nvPr/>
        </p:nvSpPr>
        <p:spPr>
          <a:xfrm>
            <a:off x="8503920" y="4251960"/>
            <a:ext cx="3136392" cy="12344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rupo D texto"/>
          <p:cNvSpPr txBox="1"/>
          <p:nvPr/>
        </p:nvSpPr>
        <p:spPr>
          <a:xfrm>
            <a:off x="8686800" y="4343400"/>
            <a:ext cx="2770632" cy="1051560"/>
          </a:xfrm>
          <a:prstGeom prst="rect">
            <a:avLst/>
          </a:prstGeom>
          <a:noFill/>
        </p:spPr>
        <p:txBody>
          <a:bodyPr wrap="square" lIns="0" rIns="0" tIns="0" bIns="0" anchor="ctr">
            <a:spAutoFit/>
          </a:bodyPr>
          <a:lstStyle/>
          <a:p>
            <a:pPr algn="l">
              <a:spcAft>
                <a:spcPts val="0"/>
              </a:spcAft>
            </a:pPr>
            <a:r>
              <a:rPr sz="3600" b="1" i="0">
                <a:solidFill>
                  <a:schemeClr val="tx2"/>
                </a:solidFill>
              </a:rPr>
              <a:t>13 %</a:t>
            </a:r>
          </a:p>
          <a:p>
            <a:r>
              <a:rPr sz="1400" b="0" i="0">
                <a:solidFill>
                  <a:schemeClr val="tx1"/>
                </a:solidFill>
              </a:rPr>
              <a:t>no especifica su ingreso</a:t>
            </a:r>
          </a:p>
        </p:txBody>
      </p:sp>
      <p:sp>
        <p:nvSpPr>
          <p:cNvPr id="12" name="Mensaje"/>
          <p:cNvSpPr txBox="1"/>
          <p:nvPr/>
        </p:nvSpPr>
        <p:spPr>
          <a:xfrm>
            <a:off x="8503920" y="5596128"/>
            <a:ext cx="3136392" cy="548640"/>
          </a:xfrm>
          <a:prstGeom prst="rect">
            <a:avLst/>
          </a:prstGeom>
          <a:noFill/>
        </p:spPr>
        <p:txBody>
          <a:bodyPr wrap="square" lIns="0" rIns="0" tIns="0" bIns="0" anchor="t">
            <a:spAutoFit/>
          </a:bodyPr>
          <a:lstStyle/>
          <a:p>
            <a:pPr algn="l">
              <a:spcAft>
                <a:spcPts val="0"/>
              </a:spcAft>
            </a:pPr>
            <a:r>
              <a:rPr sz="1300" b="1" i="0">
                <a:solidFill>
                  <a:schemeClr val="tx2"/>
                </a:solidFill>
              </a:rPr>
              <a:t>Más escolaridad, menos monto exacto (55 % vs. 69 %)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De 419 mil registros a 112 mil observaciones, paso a paso</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6</a:t>
            </a:r>
          </a:p>
        </p:txBody>
      </p:sp>
      <p:pic>
        <p:nvPicPr>
          <p:cNvPr id="5" name="01_embudo_datos.png" descr="Gráfica de barras del embudo de registros: de 419,038 registros a 111,958 observaciones salariales"/>
          <p:cNvPicPr>
            <a:picLocks noChangeAspect="1"/>
          </p:cNvPicPr>
          <p:nvPr/>
        </p:nvPicPr>
        <p:blipFill>
          <a:blip r:embed="rId3"/>
          <a:stretch>
            <a:fillRect/>
          </a:stretch>
        </p:blipFill>
        <p:spPr>
          <a:xfrm>
            <a:off x="548640" y="2026920"/>
            <a:ext cx="7315200" cy="3489960"/>
          </a:xfrm>
          <a:prstGeom prst="rect">
            <a:avLst/>
          </a:prstGeom>
        </p:spPr>
      </p:pic>
      <p:sp>
        <p:nvSpPr>
          <p:cNvPr id="6" name="Reglas"/>
          <p:cNvSpPr txBox="1"/>
          <p:nvPr/>
        </p:nvSpPr>
        <p:spPr>
          <a:xfrm>
            <a:off x="8183879" y="1600200"/>
            <a:ext cx="3456432" cy="4480560"/>
          </a:xfrm>
          <a:prstGeom prst="rect">
            <a:avLst/>
          </a:prstGeom>
          <a:noFill/>
        </p:spPr>
        <p:txBody>
          <a:bodyPr wrap="square" lIns="0" rIns="0" tIns="0" bIns="0" anchor="t">
            <a:spAutoFit/>
          </a:bodyPr>
          <a:lstStyle/>
          <a:p>
            <a:pPr algn="l" marL="256032" indent="-256032">
              <a:spcAft>
                <a:spcPts val="1000"/>
              </a:spcAft>
              <a:buChar char="•"/>
            </a:pPr>
            <a:r>
              <a:rPr sz="1600" b="0" i="0">
                <a:solidFill>
                  <a:schemeClr val="tx1"/>
                </a:solidFill>
              </a:rPr>
              <a:t>La cobertura elimina filas; todo lo demás crea banderas</a:t>
            </a:r>
          </a:p>
          <a:p>
            <a:pPr algn="l" marL="256032" indent="-256032">
              <a:spcAft>
                <a:spcPts val="1000"/>
              </a:spcAft>
              <a:buChar char="•"/>
            </a:pPr>
            <a:r>
              <a:rPr sz="1600" b="0" i="0">
                <a:solidFill>
                  <a:schemeClr val="tx1"/>
                </a:solidFill>
              </a:rPr>
              <a:t>610 escolaridades = 99 y 5,278 jornadas de 0 h recodificadas</a:t>
            </a:r>
          </a:p>
          <a:p>
            <a:pPr algn="l" marL="256032" indent="-256032">
              <a:spcAft>
                <a:spcPts val="1000"/>
              </a:spcAft>
              <a:buChar char="•"/>
            </a:pPr>
            <a:r>
              <a:rPr sz="1600" b="0" i="0">
                <a:solidFill>
                  <a:schemeClr val="tx1"/>
                </a:solidFill>
              </a:rPr>
              <a:t>1,133 ingresos por hora atípicos (P0.5–P99.5 por entidad)</a:t>
            </a:r>
          </a:p>
          <a:p>
            <a:pPr algn="l" marL="256032" indent="-256032">
              <a:spcAft>
                <a:spcPts val="1000"/>
              </a:spcAft>
              <a:buChar char="•"/>
            </a:pPr>
            <a:r>
              <a:rPr sz="1600" b="0" i="0">
                <a:solidFill>
                  <a:schemeClr val="tx1"/>
                </a:solidFill>
              </a:rPr>
              <a:t>15 de 15 expectativas de calidad cumplidas</a:t>
            </a:r>
          </a:p>
          <a:p>
            <a:pPr algn="l" marL="256032" indent="-256032">
              <a:spcAft>
                <a:spcPts val="1000"/>
              </a:spcAft>
              <a:buChar char="•"/>
            </a:pPr>
            <a:r>
              <a:rPr sz="1600" b="0" i="0">
                <a:solidFill>
                  <a:schemeClr val="tx1"/>
                </a:solidFill>
              </a:rPr>
              <a:t>ETL idempotente: 10 s, una sola semilla y SHA-256 de cada archivo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Arquitectura: SQLite para analizar, MongoDB para servir</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7</a:t>
            </a:r>
          </a:p>
        </p:txBody>
      </p:sp>
      <p:sp>
        <p:nvSpPr>
          <p:cNvPr id="5" name="Caja 1"/>
          <p:cNvSpPr/>
          <p:nvPr/>
        </p:nvSpPr>
        <p:spPr>
          <a:xfrm>
            <a:off x="548640" y="1600200"/>
            <a:ext cx="210312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Microdatos INEGI</a:t>
            </a:r>
          </a:p>
          <a:p>
            <a:pPr algn="ctr">
              <a:spcAft>
                <a:spcPts val="200"/>
              </a:spcAft>
            </a:pPr>
            <a:r>
              <a:rPr sz="1300" b="0" i="0">
                <a:solidFill>
                  <a:schemeClr val="tx1"/>
                </a:solidFill>
              </a:rPr>
              <a:t>SDEMT · COE2T</a:t>
            </a:r>
          </a:p>
        </p:txBody>
      </p:sp>
      <p:sp>
        <p:nvSpPr>
          <p:cNvPr id="6" name="Caja 2"/>
          <p:cNvSpPr/>
          <p:nvPr/>
        </p:nvSpPr>
        <p:spPr>
          <a:xfrm>
            <a:off x="3200400" y="1600200"/>
            <a:ext cx="2743200"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Pipeline ETL (Python)</a:t>
            </a:r>
          </a:p>
          <a:p>
            <a:pPr algn="ctr">
              <a:spcAft>
                <a:spcPts val="200"/>
              </a:spcAft>
            </a:pPr>
            <a:r>
              <a:rPr sz="1300" b="0" i="0">
                <a:solidFill>
                  <a:schemeClr val="tx1"/>
                </a:solidFill>
              </a:rPr>
              <a:t>extract · clean · transform · validate</a:t>
            </a:r>
          </a:p>
        </p:txBody>
      </p:sp>
      <p:sp>
        <p:nvSpPr>
          <p:cNvPr id="7" name="Caja 3"/>
          <p:cNvSpPr/>
          <p:nvPr/>
        </p:nvSpPr>
        <p:spPr>
          <a:xfrm>
            <a:off x="6492240" y="1600200"/>
            <a:ext cx="2468880" cy="118872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bg1"/>
                </a:solidFill>
              </a:rPr>
              <a:t>SQLite · esquema en estrella</a:t>
            </a:r>
          </a:p>
          <a:p>
            <a:pPr algn="ctr">
              <a:spcAft>
                <a:spcPts val="200"/>
              </a:spcAft>
            </a:pPr>
            <a:r>
              <a:rPr sz="1300" b="0" i="0">
                <a:solidFill>
                  <a:srgbClr val="CADCFC"/>
                </a:solidFill>
              </a:rPr>
              <a:t>PK · FK · CHECK · vistas · auditoría</a:t>
            </a:r>
          </a:p>
        </p:txBody>
      </p:sp>
      <p:sp>
        <p:nvSpPr>
          <p:cNvPr id="8" name="Caja 4"/>
          <p:cNvSpPr/>
          <p:nvPr/>
        </p:nvSpPr>
        <p:spPr>
          <a:xfrm>
            <a:off x="9509760" y="1600200"/>
            <a:ext cx="2130552"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Análisis estadístico</a:t>
            </a:r>
          </a:p>
          <a:p>
            <a:pPr algn="ctr">
              <a:spcAft>
                <a:spcPts val="200"/>
              </a:spcAft>
            </a:pPr>
            <a:r>
              <a:rPr sz="1300" b="0" i="0">
                <a:solidFill>
                  <a:schemeClr val="tx1"/>
                </a:solidFill>
              </a:rPr>
              <a:t>Rao-Wu · modelos · Oaxaca-Blinder</a:t>
            </a:r>
          </a:p>
        </p:txBody>
      </p:sp>
      <p:sp>
        <p:nvSpPr>
          <p:cNvPr id="9" name="Caja 5"/>
          <p:cNvSpPr/>
          <p:nvPr/>
        </p:nvSpPr>
        <p:spPr>
          <a:xfrm>
            <a:off x="6492240" y="3246120"/>
            <a:ext cx="2468880" cy="118872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bg1"/>
                </a:solidFill>
              </a:rPr>
              <a:t>MongoDB · documentos</a:t>
            </a:r>
          </a:p>
          <a:p>
            <a:pPr algn="ctr">
              <a:spcAft>
                <a:spcPts val="200"/>
              </a:spcAft>
            </a:pPr>
            <a:r>
              <a:rPr sz="1300" b="0" i="0">
                <a:solidFill>
                  <a:srgbClr val="CADCFC"/>
                </a:solidFill>
              </a:rPr>
              <a:t>entidades · personas · metadatos</a:t>
            </a:r>
          </a:p>
        </p:txBody>
      </p:sp>
      <p:sp>
        <p:nvSpPr>
          <p:cNvPr id="10" name="Caja 6"/>
          <p:cNvSpPr/>
          <p:nvPr/>
        </p:nvSpPr>
        <p:spPr>
          <a:xfrm>
            <a:off x="9509760" y="3246120"/>
            <a:ext cx="2130552" cy="1188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i="0">
                <a:solidFill>
                  <a:schemeClr val="tx2"/>
                </a:solidFill>
              </a:rPr>
              <a:t>Tablero interactivo</a:t>
            </a:r>
          </a:p>
          <a:p>
            <a:pPr algn="ctr">
              <a:spcAft>
                <a:spcPts val="200"/>
              </a:spcAft>
            </a:pPr>
            <a:r>
              <a:rPr sz="1300" b="0" i="0">
                <a:solidFill>
                  <a:schemeClr val="tx1"/>
                </a:solidFill>
              </a:rPr>
              <a:t>HTML · 6 gráficas · ficha por entidad</a:t>
            </a:r>
          </a:p>
        </p:txBody>
      </p:sp>
      <p:sp>
        <p:nvSpPr>
          <p:cNvPr id="11" name="Flecha"/>
          <p:cNvSpPr/>
          <p:nvPr/>
        </p:nvSpPr>
        <p:spPr>
          <a:xfrm>
            <a:off x="269748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lecha"/>
          <p:cNvSpPr/>
          <p:nvPr/>
        </p:nvSpPr>
        <p:spPr>
          <a:xfrm>
            <a:off x="598932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echa"/>
          <p:cNvSpPr/>
          <p:nvPr/>
        </p:nvSpPr>
        <p:spPr>
          <a:xfrm>
            <a:off x="9006840" y="201168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lecha"/>
          <p:cNvSpPr/>
          <p:nvPr/>
        </p:nvSpPr>
        <p:spPr>
          <a:xfrm>
            <a:off x="9006840" y="3657600"/>
            <a:ext cx="457200" cy="36576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echa abajo"/>
          <p:cNvSpPr/>
          <p:nvPr/>
        </p:nvSpPr>
        <p:spPr>
          <a:xfrm>
            <a:off x="7543800" y="2834640"/>
            <a:ext cx="365760" cy="384048"/>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ustificación 1"/>
          <p:cNvSpPr/>
          <p:nvPr/>
        </p:nvSpPr>
        <p:spPr>
          <a:xfrm>
            <a:off x="548640" y="4663440"/>
            <a:ext cx="54223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Justificación 1 texto"/>
          <p:cNvSpPr txBox="1"/>
          <p:nvPr/>
        </p:nvSpPr>
        <p:spPr>
          <a:xfrm>
            <a:off x="777240" y="4754880"/>
            <a:ext cx="4965192" cy="1280160"/>
          </a:xfrm>
          <a:prstGeom prst="rect">
            <a:avLst/>
          </a:prstGeom>
          <a:noFill/>
        </p:spPr>
        <p:txBody>
          <a:bodyPr wrap="square" lIns="0" rIns="0" tIns="0" bIns="0" anchor="ctr">
            <a:spAutoFit/>
          </a:bodyPr>
          <a:lstStyle/>
          <a:p>
            <a:pPr algn="l">
              <a:spcAft>
                <a:spcPts val="400"/>
              </a:spcAft>
            </a:pPr>
            <a:r>
              <a:rPr sz="1700" b="1" i="0">
                <a:solidFill>
                  <a:schemeClr val="tx2"/>
                </a:solidFill>
              </a:rPr>
              <a:t>Relacional (SQLite): analizar</a:t>
            </a:r>
          </a:p>
          <a:p>
            <a:pPr algn="l">
              <a:spcAft>
                <a:spcPts val="400"/>
              </a:spcAft>
            </a:pPr>
            <a:r>
              <a:rPr sz="1400" b="0" i="0">
                <a:solidFill>
                  <a:schemeClr val="tx1"/>
                </a:solidFill>
              </a:rPr>
              <a:t>Datos tabulares de esquema fijo · agregaciones ponderadas y JOIN · integridad por restricciones · fuente de verdad</a:t>
            </a:r>
          </a:p>
        </p:txBody>
      </p:sp>
      <p:sp>
        <p:nvSpPr>
          <p:cNvPr id="18" name="Justificación 2"/>
          <p:cNvSpPr/>
          <p:nvPr/>
        </p:nvSpPr>
        <p:spPr>
          <a:xfrm>
            <a:off x="6217920" y="4663440"/>
            <a:ext cx="5422392"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Justificación 2 texto"/>
          <p:cNvSpPr txBox="1"/>
          <p:nvPr/>
        </p:nvSpPr>
        <p:spPr>
          <a:xfrm>
            <a:off x="6446520" y="4754880"/>
            <a:ext cx="4965192" cy="1280160"/>
          </a:xfrm>
          <a:prstGeom prst="rect">
            <a:avLst/>
          </a:prstGeom>
          <a:noFill/>
        </p:spPr>
        <p:txBody>
          <a:bodyPr wrap="square" lIns="0" rIns="0" tIns="0" bIns="0" anchor="ctr">
            <a:spAutoFit/>
          </a:bodyPr>
          <a:lstStyle/>
          <a:p>
            <a:pPr algn="l">
              <a:spcAft>
                <a:spcPts val="400"/>
              </a:spcAft>
            </a:pPr>
            <a:r>
              <a:rPr sz="1700" b="1" i="0">
                <a:solidFill>
                  <a:schemeClr val="tx2"/>
                </a:solidFill>
              </a:rPr>
              <a:t>Documental (MongoDB): servir</a:t>
            </a:r>
          </a:p>
          <a:p>
            <a:pPr algn="l">
              <a:spcAft>
                <a:spcPts val="400"/>
              </a:spcAft>
            </a:pPr>
            <a:r>
              <a:rPr sz="1400" b="0" i="0">
                <a:solidFill>
                  <a:schemeClr val="tx1"/>
                </a:solidFill>
              </a:rPr>
              <a:t>Una ficha por entidad (embedding) · el esquema crece sin migraciones · lectura por clave · vista que se regenera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Ignorar el diseño muestral subestimaría el error a la mitad</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8</a:t>
            </a:r>
          </a:p>
        </p:txBody>
      </p:sp>
      <p:sp>
        <p:nvSpPr>
          <p:cNvPr id="5" name="Subtítulo de la gráfica"/>
          <p:cNvSpPr txBox="1"/>
          <p:nvPr/>
        </p:nvSpPr>
        <p:spPr>
          <a:xfrm>
            <a:off x="548640" y="1508760"/>
            <a:ext cx="6949440" cy="365760"/>
          </a:xfrm>
          <a:prstGeom prst="rect">
            <a:avLst/>
          </a:prstGeom>
          <a:noFill/>
        </p:spPr>
        <p:txBody>
          <a:bodyPr wrap="square" lIns="0" rIns="0" tIns="0" bIns="0" anchor="t">
            <a:spAutoFit/>
          </a:bodyPr>
          <a:lstStyle/>
          <a:p>
            <a:pPr algn="l">
              <a:spcAft>
                <a:spcPts val="0"/>
              </a:spcAft>
            </a:pPr>
            <a:r>
              <a:rPr sz="1600" b="1" i="0">
                <a:solidFill>
                  <a:schemeClr val="tx2"/>
                </a:solidFill>
              </a:rPr>
              <a:t>Error estándar de dos estimaciones clave</a:t>
            </a:r>
          </a:p>
        </p:txBody>
      </p:sp>
      <p:graphicFrame>
        <p:nvGraphicFramePr>
          <p:cNvPr id="6" name="Gráfica de errores estándar"/>
          <p:cNvGraphicFramePr>
            <a:graphicFrameLocks noGrp="1"/>
          </p:cNvGraphicFramePr>
          <p:nvPr/>
        </p:nvGraphicFramePr>
        <p:xfrm>
          <a:off x="548640" y="1920240"/>
          <a:ext cx="6949440" cy="4114800"/>
        </p:xfrm>
        <a:graphic>
          <a:graphicData uri="http://schemas.openxmlformats.org/drawingml/2006/chart">
            <c:chart xmlns:c="http://schemas.openxmlformats.org/drawingml/2006/chart" r:id="rId3"/>
          </a:graphicData>
        </a:graphic>
      </p:graphicFrame>
      <p:sp>
        <p:nvSpPr>
          <p:cNvPr id="7" name="Efecto de diseño"/>
          <p:cNvSpPr/>
          <p:nvPr/>
        </p:nvSpPr>
        <p:spPr>
          <a:xfrm>
            <a:off x="7863840" y="150876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fecto de diseño texto"/>
          <p:cNvSpPr txBox="1"/>
          <p:nvPr/>
        </p:nvSpPr>
        <p:spPr>
          <a:xfrm>
            <a:off x="8046719" y="160020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×4.8</a:t>
            </a:r>
          </a:p>
          <a:p>
            <a:r>
              <a:rPr sz="1400" b="0" i="0">
                <a:solidFill>
                  <a:schemeClr val="tx1"/>
                </a:solidFill>
              </a:rPr>
              <a:t>efecto de diseño en la informalidad</a:t>
            </a:r>
          </a:p>
        </p:txBody>
      </p:sp>
      <p:sp>
        <p:nvSpPr>
          <p:cNvPr id="9" name="Observaciones efectivas"/>
          <p:cNvSpPr/>
          <p:nvPr/>
        </p:nvSpPr>
        <p:spPr>
          <a:xfrm>
            <a:off x="7863840" y="301752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bservaciones efectivas texto"/>
          <p:cNvSpPr txBox="1"/>
          <p:nvPr/>
        </p:nvSpPr>
        <p:spPr>
          <a:xfrm>
            <a:off x="8046719" y="310896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40 mil</a:t>
            </a:r>
          </a:p>
          <a:p>
            <a:r>
              <a:rPr sz="1400" b="0" i="0">
                <a:solidFill>
                  <a:schemeClr val="tx1"/>
                </a:solidFill>
              </a:rPr>
              <a:t>observaciones efectivas de 190 mil</a:t>
            </a:r>
          </a:p>
        </p:txBody>
      </p:sp>
      <p:sp>
        <p:nvSpPr>
          <p:cNvPr id="11" name="Réplicas"/>
          <p:cNvSpPr/>
          <p:nvPr/>
        </p:nvSpPr>
        <p:spPr>
          <a:xfrm>
            <a:off x="7863840" y="4526280"/>
            <a:ext cx="37764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éplicas texto"/>
          <p:cNvSpPr txBox="1"/>
          <p:nvPr/>
        </p:nvSpPr>
        <p:spPr>
          <a:xfrm>
            <a:off x="8046719" y="4617720"/>
            <a:ext cx="3410712" cy="1188720"/>
          </a:xfrm>
          <a:prstGeom prst="rect">
            <a:avLst/>
          </a:prstGeom>
          <a:noFill/>
        </p:spPr>
        <p:txBody>
          <a:bodyPr wrap="square" lIns="0" rIns="0" tIns="0" bIns="0" anchor="ctr">
            <a:spAutoFit/>
          </a:bodyPr>
          <a:lstStyle/>
          <a:p>
            <a:pPr algn="l">
              <a:spcAft>
                <a:spcPts val="0"/>
              </a:spcAft>
            </a:pPr>
            <a:r>
              <a:rPr sz="3800" b="1" i="0">
                <a:solidFill>
                  <a:schemeClr val="tx2"/>
                </a:solidFill>
              </a:rPr>
              <a:t>1,000</a:t>
            </a:r>
          </a:p>
          <a:p>
            <a:r>
              <a:rPr sz="1400" b="0" i="0">
                <a:solidFill>
                  <a:schemeClr val="tx1"/>
                </a:solidFill>
              </a:rPr>
              <a:t>réplicas de Rao-Wu · 713 estratos · 21,194 UPM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Cada año de estudio eleva el ingreso por hora 5.1 %, y la licenciatura casi lo duplica</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9</a:t>
            </a:r>
          </a:p>
        </p:txBody>
      </p:sp>
      <p:sp>
        <p:nvSpPr>
          <p:cNvPr id="5" name="Subtítulo de la gráfica"/>
          <p:cNvSpPr txBox="1"/>
          <p:nvPr/>
        </p:nvSpPr>
        <p:spPr>
          <a:xfrm>
            <a:off x="548640" y="1508760"/>
            <a:ext cx="6949440" cy="365760"/>
          </a:xfrm>
          <a:prstGeom prst="rect">
            <a:avLst/>
          </a:prstGeom>
          <a:noFill/>
        </p:spPr>
        <p:txBody>
          <a:bodyPr wrap="square" lIns="0" rIns="0" tIns="0" bIns="0" anchor="t">
            <a:spAutoFit/>
          </a:bodyPr>
          <a:lstStyle/>
          <a:p>
            <a:pPr algn="l">
              <a:spcAft>
                <a:spcPts val="0"/>
              </a:spcAft>
            </a:pPr>
            <a:r>
              <a:rPr sz="1600" b="1" i="0">
                <a:solidFill>
                  <a:schemeClr val="tx2"/>
                </a:solidFill>
              </a:rPr>
              <a:t>Premio salarial frente a no terminar primaria (%, con IC en el cuaderno)</a:t>
            </a:r>
          </a:p>
        </p:txBody>
      </p:sp>
      <p:graphicFrame>
        <p:nvGraphicFramePr>
          <p:cNvPr id="6" name="Gráfica del premio por nivel"/>
          <p:cNvGraphicFramePr>
            <a:graphicFrameLocks noGrp="1"/>
          </p:cNvGraphicFramePr>
          <p:nvPr/>
        </p:nvGraphicFramePr>
        <p:xfrm>
          <a:off x="548640" y="1920240"/>
          <a:ext cx="6949440" cy="4114800"/>
        </p:xfrm>
        <a:graphic>
          <a:graphicData uri="http://schemas.openxmlformats.org/drawingml/2006/chart">
            <c:chart xmlns:c="http://schemas.openxmlformats.org/drawingml/2006/chart" r:id="rId3"/>
          </a:graphicData>
        </a:graphic>
      </p:graphicFrame>
      <p:sp>
        <p:nvSpPr>
          <p:cNvPr id="7" name="Rendimiento"/>
          <p:cNvSpPr/>
          <p:nvPr/>
        </p:nvSpPr>
        <p:spPr>
          <a:xfrm>
            <a:off x="7863840" y="1508760"/>
            <a:ext cx="3776472" cy="16002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ndimiento texto"/>
          <p:cNvSpPr txBox="1"/>
          <p:nvPr/>
        </p:nvSpPr>
        <p:spPr>
          <a:xfrm>
            <a:off x="8046719" y="1600200"/>
            <a:ext cx="3410712" cy="1417320"/>
          </a:xfrm>
          <a:prstGeom prst="rect">
            <a:avLst/>
          </a:prstGeom>
          <a:noFill/>
        </p:spPr>
        <p:txBody>
          <a:bodyPr wrap="square" lIns="0" rIns="0" tIns="0" bIns="0" anchor="ctr">
            <a:spAutoFit/>
          </a:bodyPr>
          <a:lstStyle/>
          <a:p>
            <a:pPr algn="l">
              <a:spcAft>
                <a:spcPts val="0"/>
              </a:spcAft>
            </a:pPr>
            <a:r>
              <a:rPr sz="4400" b="1" i="0">
                <a:solidFill>
                  <a:schemeClr val="tx2"/>
                </a:solidFill>
              </a:rPr>
              <a:t>+5.1 %</a:t>
            </a:r>
          </a:p>
          <a:p>
            <a:r>
              <a:rPr sz="1400" b="0" i="0">
                <a:solidFill>
                  <a:schemeClr val="tx1"/>
                </a:solidFill>
              </a:rPr>
              <a:t>por año de escolaridad (IC 95 %: 5.0 a 5.3)</a:t>
            </a:r>
          </a:p>
        </p:txBody>
      </p:sp>
      <p:sp>
        <p:nvSpPr>
          <p:cNvPr id="9" name="Detalles del rendimiento"/>
          <p:cNvSpPr/>
          <p:nvPr/>
        </p:nvSpPr>
        <p:spPr>
          <a:xfrm>
            <a:off x="7863840" y="3246120"/>
            <a:ext cx="3776472" cy="27889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etalles del rendimiento texto"/>
          <p:cNvSpPr txBox="1"/>
          <p:nvPr/>
        </p:nvSpPr>
        <p:spPr>
          <a:xfrm>
            <a:off x="8092440" y="3383280"/>
            <a:ext cx="3337560" cy="2514600"/>
          </a:xfrm>
          <a:prstGeom prst="rect">
            <a:avLst/>
          </a:prstGeom>
          <a:noFill/>
        </p:spPr>
        <p:txBody>
          <a:bodyPr wrap="square" lIns="0" rIns="0" tIns="0" bIns="0" anchor="ctr">
            <a:spAutoFit/>
          </a:bodyPr>
          <a:lstStyle/>
          <a:p>
            <a:pPr algn="l" marL="256032" indent="-256032">
              <a:spcAft>
                <a:spcPts val="1000"/>
              </a:spcAft>
              <a:buChar char="•"/>
            </a:pPr>
            <a:r>
              <a:rPr sz="1600" b="0" i="0">
                <a:solidFill>
                  <a:schemeClr val="tx1"/>
                </a:solidFill>
              </a:rPr>
              <a:t>Mujeres 5.9 % vs. hombres 4.6 % por año</a:t>
            </a:r>
          </a:p>
          <a:p>
            <a:pPr algn="l" marL="256032" indent="-256032">
              <a:spcAft>
                <a:spcPts val="1000"/>
              </a:spcAft>
              <a:buChar char="•"/>
            </a:pPr>
            <a:r>
              <a:rPr sz="1600" b="0" i="0">
                <a:solidFill>
                  <a:schemeClr val="tx1"/>
                </a:solidFill>
              </a:rPr>
              <a:t>Robusto: 4.9 %–5.7 % en 7 especificaciones</a:t>
            </a:r>
          </a:p>
          <a:p>
            <a:pPr algn="l" marL="256032" indent="-256032">
              <a:spcAft>
                <a:spcPts val="1000"/>
              </a:spcAft>
              <a:buChar char="•"/>
            </a:pPr>
            <a:r>
              <a:rPr sz="1600" b="0" i="0">
                <a:solidFill>
                  <a:schemeClr val="tx1"/>
                </a:solidFill>
              </a:rPr>
              <a:t>Spearman nacional ρ = 0.34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Estudiar rinde parecido en estados ricos y pobres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10</a:t>
            </a:r>
          </a:p>
        </p:txBody>
      </p:sp>
      <p:pic>
        <p:nvPicPr>
          <p:cNvPr id="5" name="05_retorno_estados.png" descr="Gráfica de puntos con intervalos de confianza del rendimiento por año de escolaridad en cada entidad, coloreados por cuartil de ingreso estatal"/>
          <p:cNvPicPr>
            <a:picLocks noChangeAspect="1"/>
          </p:cNvPicPr>
          <p:nvPr/>
        </p:nvPicPr>
        <p:blipFill>
          <a:blip r:embed="rId3"/>
          <a:stretch>
            <a:fillRect/>
          </a:stretch>
        </p:blipFill>
        <p:spPr>
          <a:xfrm>
            <a:off x="548640" y="1393545"/>
            <a:ext cx="6675120" cy="4939588"/>
          </a:xfrm>
          <a:prstGeom prst="rect">
            <a:avLst/>
          </a:prstGeom>
        </p:spPr>
      </p:pic>
      <p:sp>
        <p:nvSpPr>
          <p:cNvPr id="6" name="Q4 menos Q1"/>
          <p:cNvSpPr/>
          <p:nvPr/>
        </p:nvSpPr>
        <p:spPr>
          <a:xfrm>
            <a:off x="7498079" y="150876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Q4 menos Q1 texto"/>
          <p:cNvSpPr txBox="1"/>
          <p:nvPr/>
        </p:nvSpPr>
        <p:spPr>
          <a:xfrm>
            <a:off x="7680959" y="1600200"/>
            <a:ext cx="3776472" cy="1234440"/>
          </a:xfrm>
          <a:prstGeom prst="rect">
            <a:avLst/>
          </a:prstGeom>
          <a:noFill/>
        </p:spPr>
        <p:txBody>
          <a:bodyPr wrap="square" lIns="0" rIns="0" tIns="0" bIns="0" anchor="ctr">
            <a:spAutoFit/>
          </a:bodyPr>
          <a:lstStyle/>
          <a:p>
            <a:pPr algn="l">
              <a:spcAft>
                <a:spcPts val="0"/>
              </a:spcAft>
            </a:pPr>
            <a:r>
              <a:rPr sz="4000" b="1" i="0">
                <a:solidFill>
                  <a:schemeClr val="tx2"/>
                </a:solidFill>
              </a:rPr>
              <a:t>≈ 0</a:t>
            </a:r>
          </a:p>
          <a:p>
            <a:r>
              <a:rPr sz="1400" b="0" i="0">
                <a:solidFill>
                  <a:schemeClr val="tx1"/>
                </a:solidFill>
              </a:rPr>
              <a:t>diferencia de rendimiento entre estados ricos (Q4) y pobres (Q1): +0.000 log-puntos, p = 0.91</a:t>
            </a:r>
          </a:p>
        </p:txBody>
      </p:sp>
      <p:sp>
        <p:nvSpPr>
          <p:cNvPr id="8" name="Rango"/>
          <p:cNvSpPr/>
          <p:nvPr/>
        </p:nvSpPr>
        <p:spPr>
          <a:xfrm>
            <a:off x="7498079" y="306324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ango texto"/>
          <p:cNvSpPr txBox="1"/>
          <p:nvPr/>
        </p:nvSpPr>
        <p:spPr>
          <a:xfrm>
            <a:off x="7680959" y="3154680"/>
            <a:ext cx="3776472" cy="1234440"/>
          </a:xfrm>
          <a:prstGeom prst="rect">
            <a:avLst/>
          </a:prstGeom>
          <a:noFill/>
        </p:spPr>
        <p:txBody>
          <a:bodyPr wrap="square" lIns="0" rIns="0" tIns="0" bIns="0" anchor="ctr">
            <a:spAutoFit/>
          </a:bodyPr>
          <a:lstStyle/>
          <a:p>
            <a:pPr algn="l">
              <a:spcAft>
                <a:spcPts val="0"/>
              </a:spcAft>
            </a:pPr>
            <a:r>
              <a:rPr sz="3600" b="1" i="0">
                <a:solidFill>
                  <a:schemeClr val="tx2"/>
                </a:solidFill>
              </a:rPr>
              <a:t>3.7–9.1 %</a:t>
            </a:r>
          </a:p>
          <a:p>
            <a:r>
              <a:rPr sz="1400" b="0" i="0">
                <a:solidFill>
                  <a:schemeClr val="tx1"/>
                </a:solidFill>
              </a:rPr>
              <a:t>rango entre estados: de Nayarit a Ciudad de México</a:t>
            </a:r>
          </a:p>
        </p:txBody>
      </p:sp>
      <p:sp>
        <p:nvSpPr>
          <p:cNvPr id="10" name="Por sexo"/>
          <p:cNvSpPr/>
          <p:nvPr/>
        </p:nvSpPr>
        <p:spPr>
          <a:xfrm>
            <a:off x="7498079" y="4617720"/>
            <a:ext cx="414223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r sexo texto"/>
          <p:cNvSpPr txBox="1"/>
          <p:nvPr/>
        </p:nvSpPr>
        <p:spPr>
          <a:xfrm>
            <a:off x="7680959" y="4709159"/>
            <a:ext cx="3776472" cy="1234440"/>
          </a:xfrm>
          <a:prstGeom prst="rect">
            <a:avLst/>
          </a:prstGeom>
          <a:noFill/>
        </p:spPr>
        <p:txBody>
          <a:bodyPr wrap="square" lIns="0" rIns="0" tIns="0" bIns="0" anchor="ctr">
            <a:spAutoFit/>
          </a:bodyPr>
          <a:lstStyle/>
          <a:p>
            <a:pPr algn="l">
              <a:spcAft>
                <a:spcPts val="0"/>
              </a:spcAft>
            </a:pPr>
            <a:r>
              <a:rPr sz="3600" b="1" i="0">
                <a:solidFill>
                  <a:schemeClr val="tx2"/>
                </a:solidFill>
              </a:rPr>
              <a:t>5.9 vs. 4.6 %</a:t>
            </a:r>
          </a:p>
          <a:p>
            <a:r>
              <a:rPr sz="1400" b="0" i="0">
                <a:solidFill>
                  <a:schemeClr val="tx1"/>
                </a:solidFill>
              </a:rPr>
              <a:t>rendimiento por año de mujeres vs. hombres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Un ranking defendible distingue solo los extremos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11</a:t>
            </a:r>
          </a:p>
        </p:txBody>
      </p:sp>
      <p:pic>
        <p:nvPicPr>
          <p:cNvPr id="5" name="06_spearman_estados.png" descr="Gráfica de puntos con intervalos de confianza del Spearman por entidad y su lugar en el ranking con intervalo"/>
          <p:cNvPicPr>
            <a:picLocks noChangeAspect="1"/>
          </p:cNvPicPr>
          <p:nvPr/>
        </p:nvPicPr>
        <p:blipFill>
          <a:blip r:embed="rId3"/>
          <a:stretch>
            <a:fillRect/>
          </a:stretch>
        </p:blipFill>
        <p:spPr>
          <a:xfrm>
            <a:off x="656143" y="1371600"/>
            <a:ext cx="6734432" cy="4983480"/>
          </a:xfrm>
          <a:prstGeom prst="rect">
            <a:avLst/>
          </a:prstGeom>
        </p:spPr>
      </p:pic>
      <p:sp>
        <p:nvSpPr>
          <p:cNvPr id="6" name="Nacional"/>
          <p:cNvSpPr/>
          <p:nvPr/>
        </p:nvSpPr>
        <p:spPr>
          <a:xfrm>
            <a:off x="7772400" y="150876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acional texto"/>
          <p:cNvSpPr txBox="1"/>
          <p:nvPr/>
        </p:nvSpPr>
        <p:spPr>
          <a:xfrm>
            <a:off x="7955279" y="1600200"/>
            <a:ext cx="3502152" cy="1234440"/>
          </a:xfrm>
          <a:prstGeom prst="rect">
            <a:avLst/>
          </a:prstGeom>
          <a:noFill/>
        </p:spPr>
        <p:txBody>
          <a:bodyPr wrap="square" lIns="0" rIns="0" tIns="0" bIns="0" anchor="ctr">
            <a:spAutoFit/>
          </a:bodyPr>
          <a:lstStyle/>
          <a:p>
            <a:pPr algn="l">
              <a:spcAft>
                <a:spcPts val="0"/>
              </a:spcAft>
            </a:pPr>
            <a:r>
              <a:rPr sz="4000" b="1" i="0">
                <a:solidFill>
                  <a:schemeClr val="tx2"/>
                </a:solidFill>
              </a:rPr>
              <a:t>0.34</a:t>
            </a:r>
          </a:p>
          <a:p>
            <a:r>
              <a:rPr sz="1400" b="0" i="0">
                <a:solidFill>
                  <a:schemeClr val="tx1"/>
                </a:solidFill>
              </a:rPr>
              <a:t>Spearman nacional: asociación positiva y moderada</a:t>
            </a:r>
          </a:p>
        </p:txBody>
      </p:sp>
      <p:sp>
        <p:nvSpPr>
          <p:cNvPr id="8" name="Extremos"/>
          <p:cNvSpPr/>
          <p:nvPr/>
        </p:nvSpPr>
        <p:spPr>
          <a:xfrm>
            <a:off x="7772400" y="306324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xtremos texto"/>
          <p:cNvSpPr txBox="1"/>
          <p:nvPr/>
        </p:nvSpPr>
        <p:spPr>
          <a:xfrm>
            <a:off x="7955279" y="3154680"/>
            <a:ext cx="3502152" cy="1234440"/>
          </a:xfrm>
          <a:prstGeom prst="rect">
            <a:avLst/>
          </a:prstGeom>
          <a:noFill/>
        </p:spPr>
        <p:txBody>
          <a:bodyPr wrap="square" lIns="0" rIns="0" tIns="0" bIns="0" anchor="ctr">
            <a:spAutoFit/>
          </a:bodyPr>
          <a:lstStyle/>
          <a:p>
            <a:pPr algn="l">
              <a:spcAft>
                <a:spcPts val="0"/>
              </a:spcAft>
            </a:pPr>
            <a:r>
              <a:rPr sz="3400" b="1" i="0">
                <a:solidFill>
                  <a:schemeClr val="tx2"/>
                </a:solidFill>
              </a:rPr>
              <a:t>0.49 → 0.21</a:t>
            </a:r>
          </a:p>
          <a:p>
            <a:r>
              <a:rPr sz="1400" b="0" i="0">
                <a:solidFill>
                  <a:schemeClr val="tx1"/>
                </a:solidFill>
              </a:rPr>
              <a:t>de Ciudad de México (lugar 1–2) a Baja California Sur (23–32)</a:t>
            </a:r>
          </a:p>
        </p:txBody>
      </p:sp>
      <p:sp>
        <p:nvSpPr>
          <p:cNvPr id="10" name="Interpretación del ranking"/>
          <p:cNvSpPr/>
          <p:nvPr/>
        </p:nvSpPr>
        <p:spPr>
          <a:xfrm>
            <a:off x="7772400" y="4617720"/>
            <a:ext cx="3867912" cy="1417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terpretación del ranking texto"/>
          <p:cNvSpPr txBox="1"/>
          <p:nvPr/>
        </p:nvSpPr>
        <p:spPr>
          <a:xfrm>
            <a:off x="7955279" y="4709160"/>
            <a:ext cx="3520440" cy="1234440"/>
          </a:xfrm>
          <a:prstGeom prst="rect">
            <a:avLst/>
          </a:prstGeom>
          <a:noFill/>
        </p:spPr>
        <p:txBody>
          <a:bodyPr wrap="square" lIns="0" rIns="0" tIns="0" bIns="0" anchor="ctr">
            <a:spAutoFit/>
          </a:bodyPr>
          <a:lstStyle/>
          <a:p>
            <a:pPr algn="l">
              <a:spcAft>
                <a:spcPts val="0"/>
              </a:spcAft>
            </a:pPr>
            <a:r>
              <a:rPr sz="1500" b="1" i="0">
                <a:solidFill>
                  <a:schemeClr val="tx1"/>
                </a:solidFill>
              </a:rPr>
              <a:t>Los lugares centrales abarcan 15 o más posiciones: </a:t>
            </a:r>
            <a:r>
              <a:rPr sz="1500" b="0" i="0">
                <a:solidFill>
                  <a:schemeClr val="tx1"/>
                </a:solidFill>
              </a:rPr>
              <a:t>no son estadísticamente distinguibles.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Por hora la brecha es de 3.7 %; por mes, de 26.9 %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12</a:t>
            </a:r>
          </a:p>
        </p:txBody>
      </p:sp>
      <p:pic>
        <p:nvPicPr>
          <p:cNvPr id="5" name="09_brecha_por_nivel.png" descr="Dos paneles de barras con intervalos: brecha de género por hora y por mes, por nivel de instrucción y total"/>
          <p:cNvPicPr>
            <a:picLocks noChangeAspect="1"/>
          </p:cNvPicPr>
          <p:nvPr/>
        </p:nvPicPr>
        <p:blipFill>
          <a:blip r:embed="rId3"/>
          <a:stretch>
            <a:fillRect/>
          </a:stretch>
        </p:blipFill>
        <p:spPr>
          <a:xfrm>
            <a:off x="548640" y="1927891"/>
            <a:ext cx="7955279" cy="3230817"/>
          </a:xfrm>
          <a:prstGeom prst="rect">
            <a:avLst/>
          </a:prstGeom>
        </p:spPr>
      </p:pic>
      <p:sp>
        <p:nvSpPr>
          <p:cNvPr id="6" name="Definición de la brecha"/>
          <p:cNvSpPr txBox="1"/>
          <p:nvPr/>
        </p:nvSpPr>
        <p:spPr>
          <a:xfrm>
            <a:off x="548640" y="5715000"/>
            <a:ext cx="7955279" cy="548640"/>
          </a:xfrm>
          <a:prstGeom prst="rect">
            <a:avLst/>
          </a:prstGeom>
          <a:noFill/>
        </p:spPr>
        <p:txBody>
          <a:bodyPr wrap="square" lIns="0" rIns="0" tIns="0" bIns="0" anchor="t">
            <a:spAutoFit/>
          </a:bodyPr>
          <a:lstStyle/>
          <a:p>
            <a:pPr algn="l">
              <a:spcAft>
                <a:spcPts val="0"/>
              </a:spcAft>
            </a:pPr>
            <a:r>
              <a:rPr sz="1300" b="0" i="0">
                <a:solidFill>
                  <a:srgbClr val="5F6368"/>
                </a:solidFill>
              </a:rPr>
              <a:t>Brecha = 1 − (ingreso medio geométrico de las mujeres ÷ el de los hombres), con IC 95 %; misma escala en ambos paneles.</a:t>
            </a:r>
          </a:p>
        </p:txBody>
      </p:sp>
      <p:sp>
        <p:nvSpPr>
          <p:cNvPr id="7" name="Brecha por hora"/>
          <p:cNvSpPr/>
          <p:nvPr/>
        </p:nvSpPr>
        <p:spPr>
          <a:xfrm>
            <a:off x="8732520" y="150876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recha por hora texto"/>
          <p:cNvSpPr txBox="1"/>
          <p:nvPr/>
        </p:nvSpPr>
        <p:spPr>
          <a:xfrm>
            <a:off x="8915400" y="160020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3.7 %</a:t>
            </a:r>
          </a:p>
          <a:p>
            <a:r>
              <a:rPr sz="1400" b="0" i="0">
                <a:solidFill>
                  <a:schemeClr val="tx1"/>
                </a:solidFill>
              </a:rPr>
              <a:t>por hora (IC 2.3–5.0)</a:t>
            </a:r>
          </a:p>
        </p:txBody>
      </p:sp>
      <p:sp>
        <p:nvSpPr>
          <p:cNvPr id="9" name="Brecha mensual"/>
          <p:cNvSpPr/>
          <p:nvPr/>
        </p:nvSpPr>
        <p:spPr>
          <a:xfrm>
            <a:off x="8732520" y="301752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recha mensual texto"/>
          <p:cNvSpPr txBox="1"/>
          <p:nvPr/>
        </p:nvSpPr>
        <p:spPr>
          <a:xfrm>
            <a:off x="8915400" y="310896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26.9 %</a:t>
            </a:r>
          </a:p>
          <a:p>
            <a:r>
              <a:rPr sz="1400" b="0" i="0">
                <a:solidFill>
                  <a:schemeClr val="tx1"/>
                </a:solidFill>
              </a:rPr>
              <a:t>por mes</a:t>
            </a:r>
          </a:p>
        </p:txBody>
      </p:sp>
      <p:sp>
        <p:nvSpPr>
          <p:cNvPr id="11" name="Horas"/>
          <p:cNvSpPr/>
          <p:nvPr/>
        </p:nvSpPr>
        <p:spPr>
          <a:xfrm>
            <a:off x="8732520" y="452628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Horas texto"/>
          <p:cNvSpPr txBox="1"/>
          <p:nvPr/>
        </p:nvSpPr>
        <p:spPr>
          <a:xfrm>
            <a:off x="8915400" y="4617720"/>
            <a:ext cx="2542032" cy="1188720"/>
          </a:xfrm>
          <a:prstGeom prst="rect">
            <a:avLst/>
          </a:prstGeom>
          <a:noFill/>
        </p:spPr>
        <p:txBody>
          <a:bodyPr wrap="square" lIns="0" rIns="0" tIns="0" bIns="0" anchor="ctr">
            <a:spAutoFit/>
          </a:bodyPr>
          <a:lstStyle/>
          <a:p>
            <a:pPr algn="l">
              <a:spcAft>
                <a:spcPts val="0"/>
              </a:spcAft>
            </a:pPr>
            <a:r>
              <a:rPr sz="3600" b="1" i="0">
                <a:solidFill>
                  <a:schemeClr val="tx2"/>
                </a:solidFill>
              </a:rPr>
              <a:t>−24 %</a:t>
            </a:r>
          </a:p>
          <a:p>
            <a:r>
              <a:rPr sz="1400" b="0" i="0">
                <a:solidFill>
                  <a:schemeClr val="tx1"/>
                </a:solidFill>
              </a:rPr>
              <a:t>horas pagadas: 37.5 vs. 45.7 h por semana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Entre personas comparables, la brecha por hora ronda 8 %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13</a:t>
            </a:r>
          </a:p>
        </p:txBody>
      </p:sp>
      <p:pic>
        <p:nvPicPr>
          <p:cNvPr id="5" name="10_escalera_controles.png" descr="Gráfica de puntos con intervalos de la brecha por hora al agregar controles sucesivos"/>
          <p:cNvPicPr>
            <a:picLocks noChangeAspect="1"/>
          </p:cNvPicPr>
          <p:nvPr/>
        </p:nvPicPr>
        <p:blipFill>
          <a:blip r:embed="rId3"/>
          <a:stretch>
            <a:fillRect/>
          </a:stretch>
        </p:blipFill>
        <p:spPr>
          <a:xfrm>
            <a:off x="548640" y="1796994"/>
            <a:ext cx="7772400" cy="3446890"/>
          </a:xfrm>
          <a:prstGeom prst="rect">
            <a:avLst/>
          </a:prstGeom>
        </p:spPr>
      </p:pic>
      <p:sp>
        <p:nvSpPr>
          <p:cNvPr id="6" name="Lectura de la escalera"/>
          <p:cNvSpPr txBox="1"/>
          <p:nvPr/>
        </p:nvSpPr>
        <p:spPr>
          <a:xfrm>
            <a:off x="548640" y="5715000"/>
            <a:ext cx="7772400" cy="548640"/>
          </a:xfrm>
          <a:prstGeom prst="rect">
            <a:avLst/>
          </a:prstGeom>
          <a:noFill/>
        </p:spPr>
        <p:txBody>
          <a:bodyPr wrap="square" lIns="0" rIns="0" tIns="0" bIns="0" anchor="t">
            <a:spAutoFit/>
          </a:bodyPr>
          <a:lstStyle/>
          <a:p>
            <a:pPr algn="l">
              <a:spcAft>
                <a:spcPts val="0"/>
              </a:spcAft>
            </a:pPr>
            <a:r>
              <a:rPr sz="1300" b="0" i="0">
                <a:solidFill>
                  <a:srgbClr val="5F6368"/>
                </a:solidFill>
              </a:rPr>
              <a:t>Cada fila agrega controles al anterior; la última (horas) no se interpreta por el sesgo de división.</a:t>
            </a:r>
          </a:p>
        </p:txBody>
      </p:sp>
      <p:sp>
        <p:nvSpPr>
          <p:cNvPr id="7" name="Sin controles"/>
          <p:cNvSpPr/>
          <p:nvPr/>
        </p:nvSpPr>
        <p:spPr>
          <a:xfrm>
            <a:off x="8595360" y="150876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in controles texto"/>
          <p:cNvSpPr txBox="1"/>
          <p:nvPr/>
        </p:nvSpPr>
        <p:spPr>
          <a:xfrm>
            <a:off x="8778240" y="160020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3.7 %</a:t>
            </a:r>
          </a:p>
          <a:p>
            <a:r>
              <a:rPr sz="1400" b="0" i="0">
                <a:solidFill>
                  <a:schemeClr val="tx1"/>
                </a:solidFill>
              </a:rPr>
              <a:t>sin controles</a:t>
            </a:r>
          </a:p>
        </p:txBody>
      </p:sp>
      <p:sp>
        <p:nvSpPr>
          <p:cNvPr id="9" name="Ajustada"/>
          <p:cNvSpPr/>
          <p:nvPr/>
        </p:nvSpPr>
        <p:spPr>
          <a:xfrm>
            <a:off x="8595360" y="301752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Ajustada texto"/>
          <p:cNvSpPr txBox="1"/>
          <p:nvPr/>
        </p:nvSpPr>
        <p:spPr>
          <a:xfrm>
            <a:off x="8778240" y="310896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8.2 %</a:t>
            </a:r>
          </a:p>
          <a:p>
            <a:r>
              <a:rPr sz="1400" b="0" i="0">
                <a:solidFill>
                  <a:schemeClr val="tx1"/>
                </a:solidFill>
              </a:rPr>
              <a:t>con escolaridad, edad, lugar, empleo y rama</a:t>
            </a:r>
          </a:p>
        </p:txBody>
      </p:sp>
      <p:sp>
        <p:nvSpPr>
          <p:cNvPr id="11" name="No explicada"/>
          <p:cNvSpPr/>
          <p:nvPr/>
        </p:nvSpPr>
        <p:spPr>
          <a:xfrm>
            <a:off x="8595360" y="452628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o explicada texto"/>
          <p:cNvSpPr txBox="1"/>
          <p:nvPr/>
        </p:nvSpPr>
        <p:spPr>
          <a:xfrm>
            <a:off x="8778240" y="4617720"/>
            <a:ext cx="2679192" cy="1188720"/>
          </a:xfrm>
          <a:prstGeom prst="rect">
            <a:avLst/>
          </a:prstGeom>
          <a:noFill/>
        </p:spPr>
        <p:txBody>
          <a:bodyPr wrap="square" lIns="0" rIns="0" tIns="0" bIns="0" anchor="ctr">
            <a:spAutoFit/>
          </a:bodyPr>
          <a:lstStyle/>
          <a:p>
            <a:pPr algn="l">
              <a:spcAft>
                <a:spcPts val="0"/>
              </a:spcAft>
            </a:pPr>
            <a:r>
              <a:rPr sz="3200" b="1" i="0">
                <a:solidFill>
                  <a:schemeClr val="tx2"/>
                </a:solidFill>
              </a:rPr>
              <a:t>≈ 7 pts</a:t>
            </a:r>
          </a:p>
          <a:p>
            <a:r>
              <a:rPr sz="1400" b="0" i="0">
                <a:solidFill>
                  <a:schemeClr val="tx1"/>
                </a:solidFill>
              </a:rPr>
              <a:t>parte no explicada (Oaxaca-Blinder)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brecha se concentra en la parte baja de la distribución</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14</a:t>
            </a:r>
          </a:p>
        </p:txBody>
      </p:sp>
      <p:pic>
        <p:nvPicPr>
          <p:cNvPr id="5" name="12_brecha_cuantiles.png" descr="Gráfica de líneas con intervalo de la brecha de género en los percentiles 10 a 90 del ingreso por hora"/>
          <p:cNvPicPr>
            <a:picLocks noChangeAspect="1"/>
          </p:cNvPicPr>
          <p:nvPr/>
        </p:nvPicPr>
        <p:blipFill>
          <a:blip r:embed="rId3"/>
          <a:stretch>
            <a:fillRect/>
          </a:stretch>
        </p:blipFill>
        <p:spPr>
          <a:xfrm>
            <a:off x="548640" y="1903730"/>
            <a:ext cx="7772400" cy="3324860"/>
          </a:xfrm>
          <a:prstGeom prst="rect">
            <a:avLst/>
          </a:prstGeom>
        </p:spPr>
      </p:pic>
      <p:sp>
        <p:nvSpPr>
          <p:cNvPr id="6" name="Abajo"/>
          <p:cNvSpPr/>
          <p:nvPr/>
        </p:nvSpPr>
        <p:spPr>
          <a:xfrm>
            <a:off x="8595360" y="150876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Abajo texto"/>
          <p:cNvSpPr txBox="1"/>
          <p:nvPr/>
        </p:nvSpPr>
        <p:spPr>
          <a:xfrm>
            <a:off x="8778240" y="160020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8–10 %</a:t>
            </a:r>
          </a:p>
          <a:p>
            <a:r>
              <a:rPr sz="1400" b="0" i="0">
                <a:solidFill>
                  <a:schemeClr val="tx1"/>
                </a:solidFill>
              </a:rPr>
              <a:t>en el 10 %–25 % que menos gana</a:t>
            </a:r>
          </a:p>
        </p:txBody>
      </p:sp>
      <p:sp>
        <p:nvSpPr>
          <p:cNvPr id="8" name="Mediana"/>
          <p:cNvSpPr/>
          <p:nvPr/>
        </p:nvSpPr>
        <p:spPr>
          <a:xfrm>
            <a:off x="8595360" y="301752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Mediana texto"/>
          <p:cNvSpPr txBox="1"/>
          <p:nvPr/>
        </p:nvSpPr>
        <p:spPr>
          <a:xfrm>
            <a:off x="8778240" y="310896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2.1 %</a:t>
            </a:r>
          </a:p>
          <a:p>
            <a:r>
              <a:rPr sz="1400" b="0" i="0">
                <a:solidFill>
                  <a:schemeClr val="tx1"/>
                </a:solidFill>
              </a:rPr>
              <a:t>en la mediana (no significativa)</a:t>
            </a:r>
          </a:p>
        </p:txBody>
      </p:sp>
      <p:sp>
        <p:nvSpPr>
          <p:cNvPr id="10" name="Arriba"/>
          <p:cNvSpPr/>
          <p:nvPr/>
        </p:nvSpPr>
        <p:spPr>
          <a:xfrm>
            <a:off x="8595360" y="4526280"/>
            <a:ext cx="304495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rriba texto"/>
          <p:cNvSpPr txBox="1"/>
          <p:nvPr/>
        </p:nvSpPr>
        <p:spPr>
          <a:xfrm>
            <a:off x="8778240" y="4617720"/>
            <a:ext cx="2679192" cy="1188720"/>
          </a:xfrm>
          <a:prstGeom prst="rect">
            <a:avLst/>
          </a:prstGeom>
          <a:noFill/>
        </p:spPr>
        <p:txBody>
          <a:bodyPr wrap="square" lIns="0" rIns="0" tIns="0" bIns="0" anchor="ctr">
            <a:spAutoFit/>
          </a:bodyPr>
          <a:lstStyle/>
          <a:p>
            <a:pPr algn="l">
              <a:spcAft>
                <a:spcPts val="0"/>
              </a:spcAft>
            </a:pPr>
            <a:r>
              <a:rPr sz="3600" b="1" i="0">
                <a:solidFill>
                  <a:schemeClr val="tx2"/>
                </a:solidFill>
              </a:rPr>
              <a:t>≈ 0</a:t>
            </a:r>
          </a:p>
          <a:p>
            <a:r>
              <a:rPr sz="1400" b="0" i="0">
                <a:solidFill>
                  <a:schemeClr val="tx1"/>
                </a:solidFill>
              </a:rPr>
              <a:t>en el 25 % que más gana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informalidad cae con la escolaridad: de 87 % a 38 %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15</a:t>
            </a:r>
          </a:p>
        </p:txBody>
      </p:sp>
      <p:pic>
        <p:nvPicPr>
          <p:cNvPr id="5" name="14_mapa_informalidad.png" descr="Cartograma de mosaicos de México con la tasa de informalidad laboral de cada entidad en una escala de azules"/>
          <p:cNvPicPr>
            <a:picLocks noChangeAspect="1"/>
          </p:cNvPicPr>
          <p:nvPr/>
        </p:nvPicPr>
        <p:blipFill>
          <a:blip r:embed="rId3"/>
          <a:stretch>
            <a:fillRect/>
          </a:stretch>
        </p:blipFill>
        <p:spPr>
          <a:xfrm>
            <a:off x="548640" y="1780794"/>
            <a:ext cx="6949439" cy="3387851"/>
          </a:xfrm>
          <a:prstGeom prst="rect">
            <a:avLst/>
          </a:prstGeom>
        </p:spPr>
      </p:pic>
      <p:sp>
        <p:nvSpPr>
          <p:cNvPr id="6" name="Nacional"/>
          <p:cNvSpPr/>
          <p:nvPr/>
        </p:nvSpPr>
        <p:spPr>
          <a:xfrm>
            <a:off x="7772400" y="150876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acional texto"/>
          <p:cNvSpPr txBox="1"/>
          <p:nvPr/>
        </p:nvSpPr>
        <p:spPr>
          <a:xfrm>
            <a:off x="7955279" y="160020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55.0 %</a:t>
            </a:r>
          </a:p>
          <a:p>
            <a:r>
              <a:rPr sz="1300" b="0" i="0">
                <a:solidFill>
                  <a:schemeClr val="tx1"/>
                </a:solidFill>
              </a:rPr>
              <a:t>informalidad nacional (TIL1)</a:t>
            </a:r>
          </a:p>
        </p:txBody>
      </p:sp>
      <p:sp>
        <p:nvSpPr>
          <p:cNvPr id="8" name="Rango estatal"/>
          <p:cNvSpPr/>
          <p:nvPr/>
        </p:nvSpPr>
        <p:spPr>
          <a:xfrm>
            <a:off x="7772400" y="256032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ango estatal texto"/>
          <p:cNvSpPr txBox="1"/>
          <p:nvPr/>
        </p:nvSpPr>
        <p:spPr>
          <a:xfrm>
            <a:off x="7955279" y="265176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33 → 80 %</a:t>
            </a:r>
          </a:p>
          <a:p>
            <a:r>
              <a:rPr sz="1300" b="0" i="0">
                <a:solidFill>
                  <a:schemeClr val="tx1"/>
                </a:solidFill>
              </a:rPr>
              <a:t>de Coahuila a Oaxaca</a:t>
            </a:r>
          </a:p>
        </p:txBody>
      </p:sp>
      <p:sp>
        <p:nvSpPr>
          <p:cNvPr id="10" name="Por escolaridad"/>
          <p:cNvSpPr/>
          <p:nvPr/>
        </p:nvSpPr>
        <p:spPr>
          <a:xfrm>
            <a:off x="7772400" y="361188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r escolaridad texto"/>
          <p:cNvSpPr txBox="1"/>
          <p:nvPr/>
        </p:nvSpPr>
        <p:spPr>
          <a:xfrm>
            <a:off x="7955279" y="3703320"/>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87 → 38 %</a:t>
            </a:r>
          </a:p>
          <a:p>
            <a:r>
              <a:rPr sz="1300" b="0" i="0">
                <a:solidFill>
                  <a:schemeClr val="tx1"/>
                </a:solidFill>
              </a:rPr>
              <a:t>de primaria incompleta a media superior o más</a:t>
            </a:r>
          </a:p>
        </p:txBody>
      </p:sp>
      <p:sp>
        <p:nvSpPr>
          <p:cNvPr id="12" name="Efecto individual"/>
          <p:cNvSpPr/>
          <p:nvPr/>
        </p:nvSpPr>
        <p:spPr>
          <a:xfrm>
            <a:off x="7772400" y="4663440"/>
            <a:ext cx="3867912" cy="914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fecto individual texto"/>
          <p:cNvSpPr txBox="1"/>
          <p:nvPr/>
        </p:nvSpPr>
        <p:spPr>
          <a:xfrm>
            <a:off x="7955279" y="4754879"/>
            <a:ext cx="3502152" cy="731520"/>
          </a:xfrm>
          <a:prstGeom prst="rect">
            <a:avLst/>
          </a:prstGeom>
          <a:noFill/>
        </p:spPr>
        <p:txBody>
          <a:bodyPr wrap="square" lIns="0" rIns="0" tIns="0" bIns="0" anchor="ctr">
            <a:spAutoFit/>
          </a:bodyPr>
          <a:lstStyle/>
          <a:p>
            <a:pPr algn="l">
              <a:spcAft>
                <a:spcPts val="0"/>
              </a:spcAft>
            </a:pPr>
            <a:r>
              <a:rPr sz="3000" b="1" i="0">
                <a:solidFill>
                  <a:schemeClr val="tx2"/>
                </a:solidFill>
              </a:rPr>
              <a:t>-3.9 pp</a:t>
            </a:r>
          </a:p>
          <a:p>
            <a:r>
              <a:rPr sz="1300" b="0" i="0">
                <a:solidFill>
                  <a:schemeClr val="tx1"/>
                </a:solidFill>
              </a:rPr>
              <a:t>por cada año de escolaridad (individual)</a:t>
            </a:r>
          </a:p>
        </p:txBody>
      </p:sp>
      <p:sp>
        <p:nvSpPr>
          <p:cNvPr id="14" name="Lectura"/>
          <p:cNvSpPr txBox="1"/>
          <p:nvPr/>
        </p:nvSpPr>
        <p:spPr>
          <a:xfrm>
            <a:off x="548640" y="5577840"/>
            <a:ext cx="6949440" cy="731520"/>
          </a:xfrm>
          <a:prstGeom prst="rect">
            <a:avLst/>
          </a:prstGeom>
          <a:noFill/>
        </p:spPr>
        <p:txBody>
          <a:bodyPr wrap="square" lIns="0" rIns="0" tIns="0" bIns="0" anchor="t">
            <a:spAutoFit/>
          </a:bodyPr>
          <a:lstStyle/>
          <a:p>
            <a:pPr algn="l">
              <a:spcAft>
                <a:spcPts val="0"/>
              </a:spcAft>
            </a:pPr>
            <a:r>
              <a:rPr sz="1500" b="1" i="0">
                <a:solidFill>
                  <a:schemeClr val="tx2"/>
                </a:solidFill>
              </a:rPr>
              <a:t>Entre estados, Spearman = -0.86. </a:t>
            </a:r>
            <a:r>
              <a:rPr sz="1500" b="0" i="0">
                <a:solidFill>
                  <a:schemeClr val="tx1"/>
                </a:solidFill>
              </a:rPr>
              <a:t>TIL1 = ocupados en empleo informal ÷ ocupados de 15+ (definición del INEGI); las mujeres suman +6 puntos a igual escolaridad, edad y lugar.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Estudiar paga en todas partes; la brecha de género es de horas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16</a:t>
            </a:r>
          </a:p>
        </p:txBody>
      </p:sp>
      <p:sp>
        <p:nvSpPr>
          <p:cNvPr id="5" name="Qué encontramos"/>
          <p:cNvSpPr/>
          <p:nvPr/>
        </p:nvSpPr>
        <p:spPr>
          <a:xfrm>
            <a:off x="548640" y="1508760"/>
            <a:ext cx="5486400" cy="3657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Qué encontramos texto"/>
          <p:cNvSpPr txBox="1"/>
          <p:nvPr/>
        </p:nvSpPr>
        <p:spPr>
          <a:xfrm>
            <a:off x="777240" y="1627632"/>
            <a:ext cx="5029200" cy="3474720"/>
          </a:xfrm>
          <a:prstGeom prst="rect">
            <a:avLst/>
          </a:prstGeom>
          <a:noFill/>
        </p:spPr>
        <p:txBody>
          <a:bodyPr wrap="square" lIns="0" rIns="0" tIns="0" bIns="0" anchor="t">
            <a:spAutoFit/>
          </a:bodyPr>
          <a:lstStyle/>
          <a:p>
            <a:pPr algn="l">
              <a:spcAft>
                <a:spcPts val="1000"/>
              </a:spcAft>
            </a:pPr>
            <a:r>
              <a:rPr sz="2000" b="1" i="0">
                <a:solidFill>
                  <a:schemeClr val="tx2"/>
                </a:solidFill>
              </a:rPr>
              <a:t>Qué encontramos</a:t>
            </a:r>
          </a:p>
          <a:p>
            <a:pPr algn="l">
              <a:spcAft>
                <a:spcPts val="1000"/>
              </a:spcAft>
            </a:pPr>
            <a:r>
              <a:rPr sz="1800" b="0" i="0">
                <a:solidFill>
                  <a:schemeClr val="tx1"/>
                </a:solidFill>
              </a:rPr>
              <a:t>Estudiar rinde ≈ 5.1 % por año y la licenciatura casi duplica el ingreso</a:t>
            </a:r>
          </a:p>
          <a:p>
            <a:pPr algn="l">
              <a:spcAft>
                <a:spcPts val="1000"/>
              </a:spcAft>
            </a:pPr>
            <a:r>
              <a:rPr sz="1800" b="0" i="0">
                <a:solidFill>
                  <a:schemeClr val="tx1"/>
                </a:solidFill>
              </a:rPr>
              <a:t>El rendimiento es igual en estados ricos y pobres (p = 0.91)</a:t>
            </a:r>
          </a:p>
          <a:p>
            <a:pPr algn="l">
              <a:spcAft>
                <a:spcPts val="1000"/>
              </a:spcAft>
            </a:pPr>
            <a:r>
              <a:rPr sz="1800" b="0" i="0">
                <a:solidFill>
                  <a:schemeClr val="tx1"/>
                </a:solidFill>
              </a:rPr>
              <a:t>Brecha de 3.7 % por hora y 26.9 % por mes: es de horas</a:t>
            </a:r>
          </a:p>
          <a:p>
            <a:pPr algn="l">
              <a:spcAft>
                <a:spcPts val="1000"/>
              </a:spcAft>
            </a:pPr>
            <a:r>
              <a:rPr sz="1800" b="0" i="0">
                <a:solidFill>
                  <a:schemeClr val="tx1"/>
                </a:solidFill>
              </a:rPr>
              <a:t>Informalidad: 87 % → 38 % con la escolaridad</a:t>
            </a:r>
          </a:p>
        </p:txBody>
      </p:sp>
      <p:sp>
        <p:nvSpPr>
          <p:cNvPr id="7" name="Qué recomendamos"/>
          <p:cNvSpPr/>
          <p:nvPr/>
        </p:nvSpPr>
        <p:spPr>
          <a:xfrm>
            <a:off x="6263640" y="1508760"/>
            <a:ext cx="5376672" cy="3657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Qué recomendamos texto"/>
          <p:cNvSpPr txBox="1"/>
          <p:nvPr/>
        </p:nvSpPr>
        <p:spPr>
          <a:xfrm>
            <a:off x="6492240" y="1627632"/>
            <a:ext cx="4937760" cy="3474720"/>
          </a:xfrm>
          <a:prstGeom prst="rect">
            <a:avLst/>
          </a:prstGeom>
          <a:noFill/>
        </p:spPr>
        <p:txBody>
          <a:bodyPr wrap="square" lIns="0" rIns="0" tIns="0" bIns="0" anchor="t">
            <a:spAutoFit/>
          </a:bodyPr>
          <a:lstStyle/>
          <a:p>
            <a:pPr algn="l">
              <a:spcAft>
                <a:spcPts val="1000"/>
              </a:spcAft>
            </a:pPr>
            <a:r>
              <a:rPr sz="2000" b="1" i="0">
                <a:solidFill>
                  <a:schemeClr val="tx2"/>
                </a:solidFill>
              </a:rPr>
              <a:t>Qué recomendamos</a:t>
            </a:r>
          </a:p>
          <a:p>
            <a:pPr algn="l">
              <a:spcAft>
                <a:spcPts val="1000"/>
              </a:spcAft>
            </a:pPr>
            <a:r>
              <a:rPr sz="1800" b="0" i="0">
                <a:solidFill>
                  <a:schemeClr val="tx1"/>
                </a:solidFill>
              </a:rPr>
              <a:t>Ampliar acceso y permanencia escolar, sobre todo en el Sur (informalidad 69 %)</a:t>
            </a:r>
          </a:p>
          <a:p>
            <a:pPr algn="l">
              <a:spcAft>
                <a:spcPts val="1000"/>
              </a:spcAft>
            </a:pPr>
            <a:r>
              <a:rPr sz="1800" b="0" i="0">
                <a:solidFill>
                  <a:schemeClr val="tx1"/>
                </a:solidFill>
              </a:rPr>
              <a:t>Políticas de cuidados y horarios flexibles de tiempo completo para cerrar la brecha de horas</a:t>
            </a:r>
          </a:p>
          <a:p>
            <a:pPr algn="l">
              <a:spcAft>
                <a:spcPts val="1000"/>
              </a:spcAft>
            </a:pPr>
            <a:r>
              <a:rPr sz="1800" b="0" i="0">
                <a:solidFill>
                  <a:schemeClr val="tx1"/>
                </a:solidFill>
              </a:rPr>
              <a:t>Atender el «piso pegajoso»: salario mínimo y formalización en los percentiles bajos</a:t>
            </a:r>
          </a:p>
          <a:p>
            <a:pPr algn="l">
              <a:spcAft>
                <a:spcPts val="1000"/>
              </a:spcAft>
            </a:pPr>
            <a:r>
              <a:rPr sz="1800" b="0" i="0">
                <a:solidFill>
                  <a:schemeClr val="tx1"/>
                </a:solidFill>
              </a:rPr>
              <a:t>Publicar ingresos imputados por rango y corregir por no respuesta</a:t>
            </a:r>
          </a:p>
        </p:txBody>
      </p:sp>
      <p:sp>
        <p:nvSpPr>
          <p:cNvPr id="9" name="Métrica M1 cumplida"/>
          <p:cNvSpPr/>
          <p:nvPr/>
        </p:nvSpPr>
        <p:spPr>
          <a:xfrm>
            <a:off x="548640"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M1 ✓  </a:t>
            </a:r>
            <a:r>
              <a:rPr sz="1300" b="0" i="0">
                <a:solidFill>
                  <a:schemeClr val="bg1"/>
                </a:solidFill>
              </a:rPr>
              <a:t>Brecha por nivel con IC y prueba: cumplida</a:t>
            </a:r>
          </a:p>
        </p:txBody>
      </p:sp>
      <p:sp>
        <p:nvSpPr>
          <p:cNvPr id="10" name="Métrica M2 cumplida"/>
          <p:cNvSpPr/>
          <p:nvPr/>
        </p:nvSpPr>
        <p:spPr>
          <a:xfrm>
            <a:off x="4297679"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M2 ✓  </a:t>
            </a:r>
            <a:r>
              <a:rPr sz="1300" b="0" i="0">
                <a:solidFill>
                  <a:schemeClr val="bg1"/>
                </a:solidFill>
              </a:rPr>
              <a:t>Spearman de 32 entidades con IC y ranking: cumplida</a:t>
            </a:r>
          </a:p>
        </p:txBody>
      </p:sp>
      <p:sp>
        <p:nvSpPr>
          <p:cNvPr id="11" name="Métrica M3 cumplida"/>
          <p:cNvSpPr/>
          <p:nvPr/>
        </p:nvSpPr>
        <p:spPr>
          <a:xfrm>
            <a:off x="8046719" y="5394960"/>
            <a:ext cx="3611880" cy="77724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200"/>
              </a:spcAft>
            </a:pPr>
            <a:r>
              <a:rPr sz="1800" b="1" i="0">
                <a:solidFill>
                  <a:schemeClr val="bg1"/>
                </a:solidFill>
              </a:rPr>
              <a:t>M3 ✓  </a:t>
            </a:r>
            <a:r>
              <a:rPr sz="1300" b="0" i="0">
                <a:solidFill>
                  <a:schemeClr val="bg1"/>
                </a:solidFill>
              </a:rPr>
              <a:t>Tablero ≥ 4 gráficas sobre base NoSQL: cumplida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Qué no podemos afirmar, y qué haríamos después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17</a:t>
            </a:r>
          </a:p>
        </p:txBody>
      </p:sp>
      <p:sp>
        <p:nvSpPr>
          <p:cNvPr id="5" name="Límites"/>
          <p:cNvSpPr/>
          <p:nvPr/>
        </p:nvSpPr>
        <p:spPr>
          <a:xfrm>
            <a:off x="548640" y="1508760"/>
            <a:ext cx="5486400" cy="4617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Límites texto"/>
          <p:cNvSpPr txBox="1"/>
          <p:nvPr/>
        </p:nvSpPr>
        <p:spPr>
          <a:xfrm>
            <a:off x="777240" y="1645920"/>
            <a:ext cx="5029200" cy="4389120"/>
          </a:xfrm>
          <a:prstGeom prst="rect">
            <a:avLst/>
          </a:prstGeom>
          <a:noFill/>
        </p:spPr>
        <p:txBody>
          <a:bodyPr wrap="square" lIns="0" rIns="0" tIns="0" bIns="0" anchor="t">
            <a:spAutoFit/>
          </a:bodyPr>
          <a:lstStyle/>
          <a:p>
            <a:pPr algn="l">
              <a:spcAft>
                <a:spcPts val="1000"/>
              </a:spcAft>
            </a:pPr>
            <a:r>
              <a:rPr sz="2000" b="1" i="0">
                <a:solidFill>
                  <a:schemeClr val="tx2"/>
                </a:solidFill>
              </a:rPr>
              <a:t>Límites</a:t>
            </a:r>
          </a:p>
          <a:p>
            <a:pPr algn="l">
              <a:spcAft>
                <a:spcPts val="1000"/>
              </a:spcAft>
            </a:pPr>
            <a:r>
              <a:rPr sz="1800" b="0" i="0">
                <a:solidFill>
                  <a:schemeClr val="tx1"/>
                </a:solidFill>
              </a:rPr>
              <a:t>Asociación, no causalidad (habilidad no observada; falacia ecológica entre estados)</a:t>
            </a:r>
          </a:p>
          <a:p>
            <a:pPr algn="l">
              <a:spcAft>
                <a:spcPts val="1000"/>
              </a:spcAft>
            </a:pPr>
            <a:r>
              <a:rPr sz="1800" b="0" i="0">
                <a:solidFill>
                  <a:schemeClr val="tx1"/>
                </a:solidFill>
              </a:rPr>
              <a:t>Solo vemos el ingreso de quien trabaja y lo declara (selección)</a:t>
            </a:r>
          </a:p>
          <a:p>
            <a:pPr algn="l">
              <a:spcAft>
                <a:spcPts val="1000"/>
              </a:spcAft>
            </a:pPr>
            <a:r>
              <a:rPr sz="1800" b="0" i="0">
                <a:solidFill>
                  <a:schemeClr val="tx1"/>
                </a:solidFill>
              </a:rPr>
              <a:t>Ingreso autorreportado, con redondeo; horas de una sola semana</a:t>
            </a:r>
          </a:p>
          <a:p>
            <a:pPr algn="l">
              <a:spcAft>
                <a:spcPts val="1000"/>
              </a:spcAft>
            </a:pPr>
            <a:r>
              <a:rPr sz="1800" b="0" i="0">
                <a:solidFill>
                  <a:schemeClr val="tx1"/>
                </a:solidFill>
              </a:rPr>
              <a:t>Un trimestre; 1,900–5,900 observaciones por estado</a:t>
            </a:r>
          </a:p>
          <a:p>
            <a:pPr algn="l">
              <a:spcAft>
                <a:spcPts val="1000"/>
              </a:spcAft>
            </a:pPr>
            <a:r>
              <a:rPr sz="1800" b="0" i="0">
                <a:solidFill>
                  <a:schemeClr val="tx1"/>
                </a:solidFill>
              </a:rPr>
              <a:t>MongoDB: probado con mongomock; carga a servidor real pendiente</a:t>
            </a:r>
          </a:p>
        </p:txBody>
      </p:sp>
      <p:sp>
        <p:nvSpPr>
          <p:cNvPr id="7" name="Próximos pasos"/>
          <p:cNvSpPr/>
          <p:nvPr/>
        </p:nvSpPr>
        <p:spPr>
          <a:xfrm>
            <a:off x="6263640" y="1508760"/>
            <a:ext cx="5376672" cy="46177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róximos pasos texto"/>
          <p:cNvSpPr txBox="1"/>
          <p:nvPr/>
        </p:nvSpPr>
        <p:spPr>
          <a:xfrm>
            <a:off x="6492240" y="1645920"/>
            <a:ext cx="4937760" cy="4389120"/>
          </a:xfrm>
          <a:prstGeom prst="rect">
            <a:avLst/>
          </a:prstGeom>
          <a:noFill/>
        </p:spPr>
        <p:txBody>
          <a:bodyPr wrap="square" lIns="0" rIns="0" tIns="0" bIns="0" anchor="t">
            <a:spAutoFit/>
          </a:bodyPr>
          <a:lstStyle/>
          <a:p>
            <a:pPr algn="l">
              <a:spcAft>
                <a:spcPts val="1000"/>
              </a:spcAft>
            </a:pPr>
            <a:r>
              <a:rPr sz="2000" b="1" i="0">
                <a:solidFill>
                  <a:schemeClr val="tx2"/>
                </a:solidFill>
              </a:rPr>
              <a:t>Con más tiempo</a:t>
            </a:r>
          </a:p>
          <a:p>
            <a:pPr algn="l">
              <a:spcAft>
                <a:spcPts val="1000"/>
              </a:spcAft>
            </a:pPr>
            <a:r>
              <a:rPr sz="1800" b="0" i="0">
                <a:solidFill>
                  <a:schemeClr val="tx1"/>
                </a:solidFill>
              </a:rPr>
              <a:t>Varios trimestres (panel rotativo de la ENOE)</a:t>
            </a:r>
          </a:p>
          <a:p>
            <a:pPr algn="l">
              <a:spcAft>
                <a:spcPts val="1000"/>
              </a:spcAft>
            </a:pPr>
            <a:r>
              <a:rPr sz="1800" b="0" i="0">
                <a:solidFill>
                  <a:schemeClr val="tx1"/>
                </a:solidFill>
              </a:rPr>
              <a:t>Corrección de selección (Heckman) para la participación laboral</a:t>
            </a:r>
          </a:p>
          <a:p>
            <a:pPr algn="l">
              <a:spcAft>
                <a:spcPts val="1000"/>
              </a:spcAft>
            </a:pPr>
            <a:r>
              <a:rPr sz="1800" b="0" i="0">
                <a:solidFill>
                  <a:schemeClr val="tx1"/>
                </a:solidFill>
              </a:rPr>
              <a:t>Mapa geográfico real con el Marco Geoestadístico</a:t>
            </a:r>
          </a:p>
          <a:p>
            <a:pPr algn="l">
              <a:spcAft>
                <a:spcPts val="1000"/>
              </a:spcAft>
            </a:pPr>
            <a:r>
              <a:rPr sz="1800" b="0" i="0">
                <a:solidFill>
                  <a:schemeClr val="tx1"/>
                </a:solidFill>
              </a:rPr>
              <a:t>Estimaciones para áreas pequeñas (municipios)</a:t>
            </a:r>
          </a:p>
          <a:p>
            <a:pPr algn="l">
              <a:spcAft>
                <a:spcPts val="1000"/>
              </a:spcAft>
            </a:pPr>
            <a:r>
              <a:rPr sz="1800" b="0" i="0">
                <a:solidFill>
                  <a:schemeClr val="tx1"/>
                </a:solidFill>
              </a:rPr>
              <a:t>Contrastar los códigos de rangos con el cuestionario oficial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548640" y="1737360"/>
            <a:ext cx="11094415" cy="1188720"/>
          </a:xfrm>
        </p:spPr>
        <p:txBody>
          <a:bodyPr wrap="square" anchor="ctr" lIns="0" rIns="0" tIns="0" bIns="0"/>
          <a:lstStyle/>
          <a:p>
            <a:pPr algn="l"/>
            <a:r>
              <a:rPr sz="5400" b="1" i="0">
                <a:solidFill>
                  <a:schemeClr val="bg1"/>
                </a:solidFill>
              </a:rPr>
              <a:t>Gracias</a:t>
            </a:r>
          </a:p>
        </p:txBody>
      </p:sp>
      <p:sp>
        <p:nvSpPr>
          <p:cNvPr id="3" name="Preguntas"/>
          <p:cNvSpPr txBox="1"/>
          <p:nvPr/>
        </p:nvSpPr>
        <p:spPr>
          <a:xfrm>
            <a:off x="548640" y="3063240"/>
            <a:ext cx="10515600" cy="640080"/>
          </a:xfrm>
          <a:prstGeom prst="rect">
            <a:avLst/>
          </a:prstGeom>
          <a:noFill/>
        </p:spPr>
        <p:txBody>
          <a:bodyPr wrap="square" lIns="0" rIns="0" tIns="0" bIns="0" anchor="t">
            <a:spAutoFit/>
          </a:bodyPr>
          <a:lstStyle/>
          <a:p>
            <a:pPr algn="l">
              <a:spcAft>
                <a:spcPts val="0"/>
              </a:spcAft>
            </a:pPr>
            <a:r>
              <a:rPr sz="3000" b="0" i="0">
                <a:solidFill>
                  <a:srgbClr val="CADCFC"/>
                </a:solidFill>
              </a:rPr>
              <a:t>¿Preguntas?</a:t>
            </a:r>
          </a:p>
        </p:txBody>
      </p:sp>
      <p:sp>
        <p:nvSpPr>
          <p:cNvPr id="4" name="Dónde está todo"/>
          <p:cNvSpPr/>
          <p:nvPr/>
        </p:nvSpPr>
        <p:spPr>
          <a:xfrm>
            <a:off x="548640" y="4069080"/>
            <a:ext cx="11091672" cy="1737360"/>
          </a:xfrm>
          <a:prstGeom prst="roundRect">
            <a:avLst>
              <a:gd name="adj" fmla="val 6000"/>
            </a:avLst>
          </a:prstGeom>
          <a:solidFill>
            <a:srgbClr val="2B3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ónde está todo texto"/>
          <p:cNvSpPr txBox="1"/>
          <p:nvPr/>
        </p:nvSpPr>
        <p:spPr>
          <a:xfrm>
            <a:off x="822959" y="4206240"/>
            <a:ext cx="10515600" cy="1463040"/>
          </a:xfrm>
          <a:prstGeom prst="rect">
            <a:avLst/>
          </a:prstGeom>
          <a:noFill/>
        </p:spPr>
        <p:txBody>
          <a:bodyPr wrap="square" lIns="0" rIns="0" tIns="0" bIns="0" anchor="ctr">
            <a:spAutoFit/>
          </a:bodyPr>
          <a:lstStyle/>
          <a:p>
            <a:pPr algn="l">
              <a:spcAft>
                <a:spcPts val="800"/>
              </a:spcAft>
            </a:pPr>
            <a:r>
              <a:rPr sz="1600" b="1" i="0">
                <a:solidFill>
                  <a:schemeClr val="bg1"/>
                </a:solidFill>
              </a:rPr>
              <a:t>Carpeta Proyecto_ENOE: </a:t>
            </a:r>
            <a:r>
              <a:rPr sz="1600" b="0" i="0">
                <a:solidFill>
                  <a:schemeClr val="bg1"/>
                </a:solidFill>
              </a:rPr>
              <a:t>cuaderno (notebooks/) · tablero interactivo (tablero/) · código (src/ y scripts/) · documentación y guía de defensa (docs/) · pruebas (tests/)</a:t>
            </a:r>
          </a:p>
          <a:p>
            <a:pPr algn="l">
              <a:spcAft>
                <a:spcPts val="800"/>
              </a:spcAft>
            </a:pPr>
            <a:r>
              <a:rPr sz="1600" b="1" i="0">
                <a:solidFill>
                  <a:schemeClr val="bg1"/>
                </a:solidFill>
              </a:rPr>
              <a:t>Reproducir todo: </a:t>
            </a:r>
            <a:r>
              <a:rPr sz="1600" b="0" i="0">
                <a:solidFill>
                  <a:srgbClr val="CADCFC"/>
                </a:solidFill>
              </a:rPr>
              <a:t>python scripts/run_etl.py → run_analysis.py → make_figures.py → build_notebook.py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548640" y="2651760"/>
            <a:ext cx="11094415" cy="1188720"/>
          </a:xfrm>
        </p:spPr>
        <p:txBody>
          <a:bodyPr wrap="square" anchor="ctr" lIns="0" rIns="0" tIns="0" bIns="0"/>
          <a:lstStyle/>
          <a:p>
            <a:pPr algn="l"/>
            <a:r>
              <a:rPr sz="5400" b="1" i="0">
                <a:solidFill>
                  <a:schemeClr val="bg1"/>
                </a:solidFill>
              </a:rPr>
              <a:t>Anexos</a:t>
            </a:r>
          </a:p>
        </p:txBody>
      </p:sp>
      <p:sp>
        <p:nvSpPr>
          <p:cNvPr id="3" name="Contenido de anexos"/>
          <p:cNvSpPr txBox="1"/>
          <p:nvPr/>
        </p:nvSpPr>
        <p:spPr>
          <a:xfrm>
            <a:off x="548640" y="3840480"/>
            <a:ext cx="10515600" cy="914400"/>
          </a:xfrm>
          <a:prstGeom prst="rect">
            <a:avLst/>
          </a:prstGeom>
          <a:noFill/>
        </p:spPr>
        <p:txBody>
          <a:bodyPr wrap="square" lIns="0" rIns="0" tIns="0" bIns="0" anchor="t">
            <a:spAutoFit/>
          </a:bodyPr>
          <a:lstStyle/>
          <a:p>
            <a:pPr algn="l">
              <a:spcAft>
                <a:spcPts val="0"/>
              </a:spcAft>
            </a:pPr>
            <a:r>
              <a:rPr sz="2000" b="0" i="0">
                <a:solidFill>
                  <a:srgbClr val="CADCFC"/>
                </a:solidFill>
              </a:rPr>
              <a:t>Robustez de la brecha · Oaxaca-Blinder · Informalidad vs. escolaridad · Tablero interactivo · Diagnósticos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La brecha por hora es positiva en todas las muestras, pero su tamaño va de 0.7 % a 4.6 %</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20</a:t>
            </a:r>
          </a:p>
        </p:txBody>
      </p:sp>
      <p:pic>
        <p:nvPicPr>
          <p:cNvPr id="5" name="13_robustez_brecha.png" descr="Gráfica de puntos con intervalos de la brecha total bajo diez especificaciones"/>
          <p:cNvPicPr>
            <a:picLocks noChangeAspect="1"/>
          </p:cNvPicPr>
          <p:nvPr/>
        </p:nvPicPr>
        <p:blipFill>
          <a:blip r:embed="rId3"/>
          <a:stretch>
            <a:fillRect/>
          </a:stretch>
        </p:blipFill>
        <p:spPr>
          <a:xfrm>
            <a:off x="548640" y="2063400"/>
            <a:ext cx="7589520" cy="3462718"/>
          </a:xfrm>
          <a:prstGeom prst="rect">
            <a:avLst/>
          </a:prstGeom>
        </p:spPr>
      </p:pic>
      <p:sp>
        <p:nvSpPr>
          <p:cNvPr id="6" name="Lectura de la robustez"/>
          <p:cNvSpPr/>
          <p:nvPr/>
        </p:nvSpPr>
        <p:spPr>
          <a:xfrm>
            <a:off x="8321040" y="1508760"/>
            <a:ext cx="331927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Lectura de la robustez texto"/>
          <p:cNvSpPr txBox="1"/>
          <p:nvPr/>
        </p:nvSpPr>
        <p:spPr>
          <a:xfrm>
            <a:off x="8503920" y="1645920"/>
            <a:ext cx="2953512" cy="4297680"/>
          </a:xfrm>
          <a:prstGeom prst="rect">
            <a:avLst/>
          </a:prstGeom>
          <a:noFill/>
        </p:spPr>
        <p:txBody>
          <a:bodyPr wrap="square" lIns="0" rIns="0" tIns="0" bIns="0" anchor="ctr">
            <a:spAutoFit/>
          </a:bodyPr>
          <a:lstStyle/>
          <a:p>
            <a:pPr algn="l">
              <a:spcAft>
                <a:spcPts val="1200"/>
              </a:spcAft>
            </a:pPr>
            <a:r>
              <a:rPr sz="1500" b="1" i="0">
                <a:solidFill>
                  <a:schemeClr val="tx1"/>
                </a:solidFill>
              </a:rPr>
              <a:t>S3 sesga hacia cero: </a:t>
            </a:r>
            <a:r>
              <a:rPr sz="1500" b="0" i="0">
                <a:solidFill>
                  <a:schemeClr val="tx1"/>
                </a:solidFill>
              </a:rPr>
              <a:t>imputar el rango asigna el mismo ingreso a hombres y mujeres.</a:t>
            </a:r>
          </a:p>
          <a:p>
            <a:pPr algn="l">
              <a:spcAft>
                <a:spcPts val="1200"/>
              </a:spcAft>
            </a:pPr>
            <a:r>
              <a:rPr sz="1500" b="0" i="0">
                <a:solidFill>
                  <a:schemeClr val="tx1"/>
                </a:solidFill>
              </a:rPr>
              <a:t>S4 (IPW) la sube a </a:t>
            </a:r>
            <a:r>
              <a:rPr sz="1500" b="1" i="0">
                <a:solidFill>
                  <a:schemeClr val="tx1"/>
                </a:solidFill>
              </a:rPr>
              <a:t>4.5 %</a:t>
            </a:r>
            <a:r>
              <a:rPr sz="1500" b="0" i="0">
                <a:solidFill>
                  <a:schemeClr val="tx1"/>
                </a:solidFill>
              </a:rPr>
              <a:t>.</a:t>
            </a:r>
          </a:p>
          <a:p>
            <a:pPr algn="l">
              <a:spcAft>
                <a:spcPts val="1200"/>
              </a:spcAft>
            </a:pPr>
            <a:r>
              <a:rPr sz="1500" b="1" i="0">
                <a:solidFill>
                  <a:schemeClr val="tx1"/>
                </a:solidFill>
              </a:rPr>
              <a:t>Ajustada sin horas: </a:t>
            </a:r>
            <a:r>
              <a:rPr sz="1500" b="0" i="0">
                <a:solidFill>
                  <a:schemeClr val="tx1"/>
                </a:solidFill>
              </a:rPr>
              <a:t>8.2 %</a:t>
            </a:r>
            <a:r>
              <a:rPr sz="1500" b="0" i="0">
                <a:solidFill>
                  <a:schemeClr val="tx1"/>
                </a:solidFill>
              </a:rPr>
              <a:t>. Con horas hay sesgo de división.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Oaxaca-Blinder: las mujeres tienen mejores características, pero un residuo desfavorable</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21</a:t>
            </a:r>
          </a:p>
        </p:txBody>
      </p:sp>
      <p:pic>
        <p:nvPicPr>
          <p:cNvPr id="5" name="11_oaxaca_blinder.png" descr="Barras con intervalos de la descomposición de Oaxaca-Blinder: brecha total, parte explicada por componentes y parte no explicada"/>
          <p:cNvPicPr>
            <a:picLocks noChangeAspect="1"/>
          </p:cNvPicPr>
          <p:nvPr/>
        </p:nvPicPr>
        <p:blipFill>
          <a:blip r:embed="rId3"/>
          <a:stretch>
            <a:fillRect/>
          </a:stretch>
        </p:blipFill>
        <p:spPr>
          <a:xfrm>
            <a:off x="548640" y="2029073"/>
            <a:ext cx="7772400" cy="3531373"/>
          </a:xfrm>
          <a:prstGeom prst="rect">
            <a:avLst/>
          </a:prstGeom>
        </p:spPr>
      </p:pic>
      <p:sp>
        <p:nvSpPr>
          <p:cNvPr id="6" name="Lectura de Oaxaca"/>
          <p:cNvSpPr/>
          <p:nvPr/>
        </p:nvSpPr>
        <p:spPr>
          <a:xfrm>
            <a:off x="8503920" y="1508760"/>
            <a:ext cx="313639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Lectura de Oaxaca texto"/>
          <p:cNvSpPr txBox="1"/>
          <p:nvPr/>
        </p:nvSpPr>
        <p:spPr>
          <a:xfrm>
            <a:off x="8686800" y="1645920"/>
            <a:ext cx="2770632" cy="4297680"/>
          </a:xfrm>
          <a:prstGeom prst="rect">
            <a:avLst/>
          </a:prstGeom>
          <a:noFill/>
        </p:spPr>
        <p:txBody>
          <a:bodyPr wrap="square" lIns="0" rIns="0" tIns="0" bIns="0" anchor="ctr">
            <a:spAutoFit/>
          </a:bodyPr>
          <a:lstStyle/>
          <a:p>
            <a:pPr algn="l">
              <a:spcAft>
                <a:spcPts val="1200"/>
              </a:spcAft>
            </a:pPr>
            <a:r>
              <a:rPr sz="1500" b="1" i="0">
                <a:solidFill>
                  <a:schemeClr val="tx1"/>
                </a:solidFill>
              </a:rPr>
              <a:t>Explicada: </a:t>
            </a:r>
            <a:r>
              <a:rPr sz="1500" b="0" i="0">
                <a:solidFill>
                  <a:schemeClr val="tx1"/>
                </a:solidFill>
              </a:rPr>
              <a:t>negativa; la mayor escolaridad de las mujeres favorecería su ingreso.</a:t>
            </a:r>
          </a:p>
          <a:p>
            <a:pPr algn="l">
              <a:spcAft>
                <a:spcPts val="1200"/>
              </a:spcAft>
            </a:pPr>
            <a:r>
              <a:rPr sz="1500" b="1" i="0">
                <a:solidFill>
                  <a:schemeClr val="tx1"/>
                </a:solidFill>
              </a:rPr>
              <a:t>No explicada: </a:t>
            </a:r>
            <a:r>
              <a:rPr sz="1500" b="0" i="0">
                <a:solidFill>
                  <a:schemeClr val="tx1"/>
                </a:solidFill>
              </a:rPr>
              <a:t>≈ 7 puntos; no prueba discriminación.</a:t>
            </a:r>
          </a:p>
          <a:p>
            <a:pPr algn="l">
              <a:spcAft>
                <a:spcPts val="1200"/>
              </a:spcAft>
            </a:pPr>
            <a:r>
              <a:rPr sz="1500" b="0" i="0">
                <a:solidFill>
                  <a:schemeClr val="tx1"/>
                </a:solidFill>
              </a:rPr>
              <a:t>Con horas </a:t>
            </a:r>
            <a:r>
              <a:rPr sz="1500" b="0" i="0">
                <a:solidFill>
                  <a:schemeClr val="tx1"/>
                </a:solidFill>
              </a:rPr>
              <a:t>el residuo sube a 14 puntos por el sesgo de división.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Donde se estudia más hay menos informalidad (relación entre estados)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22</a:t>
            </a:r>
          </a:p>
        </p:txBody>
      </p:sp>
      <p:pic>
        <p:nvPicPr>
          <p:cNvPr id="5" name="15_informalidad_vs_escolaridad.png" descr="Dispersión de la escolaridad promedio contra la tasa de informalidad de las 32 entidades con su recta de ajuste"/>
          <p:cNvPicPr>
            <a:picLocks noChangeAspect="1"/>
          </p:cNvPicPr>
          <p:nvPr/>
        </p:nvPicPr>
        <p:blipFill>
          <a:blip r:embed="rId3"/>
          <a:stretch>
            <a:fillRect/>
          </a:stretch>
        </p:blipFill>
        <p:spPr>
          <a:xfrm>
            <a:off x="548640" y="1779320"/>
            <a:ext cx="7589520" cy="4030878"/>
          </a:xfrm>
          <a:prstGeom prst="rect">
            <a:avLst/>
          </a:prstGeom>
        </p:spPr>
      </p:pic>
      <p:sp>
        <p:nvSpPr>
          <p:cNvPr id="6" name="Spearman estatal"/>
          <p:cNvSpPr/>
          <p:nvPr/>
        </p:nvSpPr>
        <p:spPr>
          <a:xfrm>
            <a:off x="8321040" y="150876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pearman estatal texto"/>
          <p:cNvSpPr txBox="1"/>
          <p:nvPr/>
        </p:nvSpPr>
        <p:spPr>
          <a:xfrm>
            <a:off x="8503919" y="160020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-0.86</a:t>
            </a:r>
          </a:p>
          <a:p>
            <a:r>
              <a:rPr sz="1400" b="0" i="0">
                <a:solidFill>
                  <a:schemeClr val="tx1"/>
                </a:solidFill>
              </a:rPr>
              <a:t>Spearman entre estados</a:t>
            </a:r>
          </a:p>
        </p:txBody>
      </p:sp>
      <p:sp>
        <p:nvSpPr>
          <p:cNvPr id="8" name="Pendiente"/>
          <p:cNvSpPr/>
          <p:nvPr/>
        </p:nvSpPr>
        <p:spPr>
          <a:xfrm>
            <a:off x="8321040" y="301752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endiente texto"/>
          <p:cNvSpPr txBox="1"/>
          <p:nvPr/>
        </p:nvSpPr>
        <p:spPr>
          <a:xfrm>
            <a:off x="8503919" y="310896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-14.4</a:t>
            </a:r>
          </a:p>
          <a:p>
            <a:r>
              <a:rPr sz="1300" b="0" i="0">
                <a:solidFill>
                  <a:schemeClr val="tx1"/>
                </a:solidFill>
              </a:rPr>
              <a:t>puntos porcentuales por año de escolaridad promedio</a:t>
            </a:r>
          </a:p>
        </p:txBody>
      </p:sp>
      <p:sp>
        <p:nvSpPr>
          <p:cNvPr id="10" name="Razón de momios"/>
          <p:cNvSpPr/>
          <p:nvPr/>
        </p:nvSpPr>
        <p:spPr>
          <a:xfrm>
            <a:off x="8321040" y="4526280"/>
            <a:ext cx="331927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azón de momios texto"/>
          <p:cNvSpPr txBox="1"/>
          <p:nvPr/>
        </p:nvSpPr>
        <p:spPr>
          <a:xfrm>
            <a:off x="8503919" y="4617720"/>
            <a:ext cx="2953512" cy="1188720"/>
          </a:xfrm>
          <a:prstGeom prst="rect">
            <a:avLst/>
          </a:prstGeom>
          <a:noFill/>
        </p:spPr>
        <p:txBody>
          <a:bodyPr wrap="square" lIns="0" rIns="0" tIns="0" bIns="0" anchor="ctr">
            <a:spAutoFit/>
          </a:bodyPr>
          <a:lstStyle/>
          <a:p>
            <a:pPr algn="l">
              <a:spcAft>
                <a:spcPts val="0"/>
              </a:spcAft>
            </a:pPr>
            <a:r>
              <a:rPr sz="4000" b="1" i="0">
                <a:solidFill>
                  <a:schemeClr val="tx2"/>
                </a:solidFill>
              </a:rPr>
              <a:t>0.82</a:t>
            </a:r>
          </a:p>
          <a:p>
            <a:r>
              <a:rPr sz="1300" b="0" i="0">
                <a:solidFill>
                  <a:schemeClr val="tx1"/>
                </a:solidFill>
              </a:rPr>
              <a:t>razón de momios individual por año de escolaridad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Tablero interactivo: la ficha de cada entidad</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23</a:t>
            </a:r>
          </a:p>
        </p:txBody>
      </p:sp>
      <p:pic>
        <p:nvPicPr>
          <p:cNvPr id="5" name="tablero.jpg" descr="Captura del tablero interactivo con KPIs, mapa de mosaicos y ranking de las entidades"/>
          <p:cNvPicPr>
            <a:picLocks noChangeAspect="1"/>
          </p:cNvPicPr>
          <p:nvPr/>
        </p:nvPicPr>
        <p:blipFill>
          <a:blip r:embed="rId3"/>
          <a:stretch>
            <a:fillRect/>
          </a:stretch>
        </p:blipFill>
        <p:spPr>
          <a:xfrm>
            <a:off x="1209862" y="1463040"/>
            <a:ext cx="5444115" cy="4709160"/>
          </a:xfrm>
          <a:prstGeom prst="rect">
            <a:avLst/>
          </a:prstGeom>
        </p:spPr>
      </p:pic>
      <p:sp>
        <p:nvSpPr>
          <p:cNvPr id="6" name="Qué incluye el tablero"/>
          <p:cNvSpPr/>
          <p:nvPr/>
        </p:nvSpPr>
        <p:spPr>
          <a:xfrm>
            <a:off x="7772400" y="1508760"/>
            <a:ext cx="3867912"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Qué incluye el tablero texto"/>
          <p:cNvSpPr txBox="1"/>
          <p:nvPr/>
        </p:nvSpPr>
        <p:spPr>
          <a:xfrm>
            <a:off x="8001000" y="1645920"/>
            <a:ext cx="3429000" cy="4297680"/>
          </a:xfrm>
          <a:prstGeom prst="rect">
            <a:avLst/>
          </a:prstGeom>
          <a:noFill/>
        </p:spPr>
        <p:txBody>
          <a:bodyPr wrap="square" lIns="0" rIns="0" tIns="0" bIns="0" anchor="ctr">
            <a:spAutoFit/>
          </a:bodyPr>
          <a:lstStyle/>
          <a:p>
            <a:pPr algn="l">
              <a:spcAft>
                <a:spcPts val="800"/>
              </a:spcAft>
            </a:pPr>
            <a:r>
              <a:rPr sz="1800" b="1" i="0">
                <a:solidFill>
                  <a:schemeClr val="tx2"/>
                </a:solidFill>
              </a:rPr>
              <a:t>Qué incluye</a:t>
            </a:r>
          </a:p>
          <a:p>
            <a:pPr algn="l">
              <a:spcAft>
                <a:spcPts val="800"/>
              </a:spcAft>
            </a:pPr>
            <a:r>
              <a:rPr sz="1500" b="0" i="0">
                <a:solidFill>
                  <a:schemeClr val="tx1"/>
                </a:solidFill>
              </a:rPr>
              <a:t>Selector de entidad e indicador</a:t>
            </a:r>
          </a:p>
          <a:p>
            <a:pPr algn="l">
              <a:spcAft>
                <a:spcPts val="800"/>
              </a:spcAft>
            </a:pPr>
            <a:r>
              <a:rPr sz="1500" b="0" i="0">
                <a:solidFill>
                  <a:schemeClr val="tx1"/>
                </a:solidFill>
              </a:rPr>
              <a:t>Mapa de mosaicos y ranking con IC</a:t>
            </a:r>
          </a:p>
          <a:p>
            <a:pPr algn="l">
              <a:spcAft>
                <a:spcPts val="800"/>
              </a:spcAft>
            </a:pPr>
            <a:r>
              <a:rPr sz="1500" b="0" i="0">
                <a:solidFill>
                  <a:schemeClr val="tx1"/>
                </a:solidFill>
              </a:rPr>
              <a:t>Dos dispersiones y brechas por nivel</a:t>
            </a:r>
          </a:p>
          <a:p>
            <a:pPr algn="l">
              <a:spcAft>
                <a:spcPts val="800"/>
              </a:spcAft>
            </a:pPr>
            <a:r>
              <a:rPr sz="1500" b="0" i="0">
                <a:solidFill>
                  <a:schemeClr val="tx1"/>
                </a:solidFill>
              </a:rPr>
              <a:t>Calidad del ingreso por entidad</a:t>
            </a:r>
          </a:p>
          <a:p>
            <a:pPr algn="l">
              <a:spcAft>
                <a:spcPts val="800"/>
              </a:spcAft>
            </a:pPr>
            <a:r>
              <a:rPr sz="1500" b="0" i="0">
                <a:solidFill>
                  <a:schemeClr val="tx1"/>
                </a:solidFill>
              </a:rPr>
              <a:t>Tabla accesible y documento JSON de la entidad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347472"/>
            <a:ext cx="11094415" cy="1005840"/>
          </a:xfrm>
        </p:spPr>
        <p:txBody>
          <a:bodyPr wrap="square" anchor="ctr" lIns="0" rIns="0" tIns="0" bIns="0"/>
          <a:lstStyle/>
          <a:p>
            <a:pPr algn="l"/>
            <a:r>
              <a:rPr sz="3200" b="1" i="0">
                <a:solidFill>
                  <a:schemeClr val="tx2"/>
                </a:solidFill>
              </a:rPr>
              <a:t>Diagnóstico del modelo: varianza no constante y colas pesadas, por eso errores robustos</a:t>
            </a:r>
          </a:p>
        </p:txBody>
      </p:sp>
      <p:sp>
        <p:nvSpPr>
          <p:cNvPr id="3" name="Fuente"/>
          <p:cNvSpPr txBox="1"/>
          <p:nvPr/>
        </p:nvSpPr>
        <p:spPr>
          <a:xfrm>
            <a:off x="548640" y="6473952"/>
            <a:ext cx="8686800" cy="256032"/>
          </a:xfrm>
          <a:prstGeom prst="rect">
            <a:avLst/>
          </a:prstGeom>
          <a:noFill/>
        </p:spPr>
        <p:txBody>
          <a:bodyPr wrap="square" lIns="0" rIns="0" tIns="0" bIns="0" anchor="ctr">
            <a:spAutoFit/>
          </a:bodyPr>
          <a:lstStyle/>
          <a:p>
            <a:pPr algn="l">
              <a:spcAft>
                <a:spcPts val="0"/>
              </a:spcAft>
            </a:pPr>
            <a:r>
              <a:rPr sz="1000" b="0" i="0">
                <a:solidFill>
                  <a:srgbClr val="5F6368"/>
                </a:solidFill>
              </a:rPr>
              <a:t>Fuente: INEGI, ENOE 2025-T4 (SDEMT y COE2T) · cálculos del equipo</a:t>
            </a:r>
          </a:p>
        </p:txBody>
      </p:sp>
      <p:sp>
        <p:nvSpPr>
          <p:cNvPr id="4" name="Número de diapositiva"/>
          <p:cNvSpPr txBox="1"/>
          <p:nvPr/>
        </p:nvSpPr>
        <p:spPr>
          <a:xfrm>
            <a:off x="10728655" y="6473952"/>
            <a:ext cx="914400" cy="256032"/>
          </a:xfrm>
          <a:prstGeom prst="rect">
            <a:avLst/>
          </a:prstGeom>
          <a:noFill/>
        </p:spPr>
        <p:txBody>
          <a:bodyPr wrap="square" lIns="0" rIns="0" tIns="0" bIns="0" anchor="ctr">
            <a:spAutoFit/>
          </a:bodyPr>
          <a:lstStyle/>
          <a:p>
            <a:pPr algn="r">
              <a:spcAft>
                <a:spcPts val="0"/>
              </a:spcAft>
            </a:pPr>
            <a:r>
              <a:rPr sz="1000" b="0" i="0">
                <a:solidFill>
                  <a:srgbClr val="5F6368"/>
                </a:solidFill>
              </a:rPr>
              <a:t>24</a:t>
            </a:r>
          </a:p>
        </p:txBody>
      </p:sp>
      <p:pic>
        <p:nvPicPr>
          <p:cNvPr id="5" name="16_diagnosticos_modelo.png" descr="Gráficas de residuos contra ajustados y de cuantiles contra cuantiles normales del modelo con todos los controles"/>
          <p:cNvPicPr>
            <a:picLocks noChangeAspect="1"/>
          </p:cNvPicPr>
          <p:nvPr/>
        </p:nvPicPr>
        <p:blipFill>
          <a:blip r:embed="rId3"/>
          <a:stretch>
            <a:fillRect/>
          </a:stretch>
        </p:blipFill>
        <p:spPr>
          <a:xfrm>
            <a:off x="548640" y="2116931"/>
            <a:ext cx="7772400" cy="2898457"/>
          </a:xfrm>
          <a:prstGeom prst="rect">
            <a:avLst/>
          </a:prstGeom>
        </p:spPr>
      </p:pic>
      <p:sp>
        <p:nvSpPr>
          <p:cNvPr id="6" name="VIF"/>
          <p:cNvSpPr/>
          <p:nvPr/>
        </p:nvSpPr>
        <p:spPr>
          <a:xfrm>
            <a:off x="8503920" y="150876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VIF texto"/>
          <p:cNvSpPr txBox="1"/>
          <p:nvPr/>
        </p:nvSpPr>
        <p:spPr>
          <a:xfrm>
            <a:off x="8686800" y="1600200"/>
            <a:ext cx="2770632" cy="1097280"/>
          </a:xfrm>
          <a:prstGeom prst="rect">
            <a:avLst/>
          </a:prstGeom>
          <a:noFill/>
        </p:spPr>
        <p:txBody>
          <a:bodyPr wrap="square" lIns="0" rIns="0" tIns="0" bIns="0" anchor="ctr">
            <a:spAutoFit/>
          </a:bodyPr>
          <a:lstStyle/>
          <a:p>
            <a:pPr algn="l">
              <a:spcAft>
                <a:spcPts val="0"/>
              </a:spcAft>
            </a:pPr>
            <a:r>
              <a:rPr sz="3600" b="1" i="0">
                <a:solidFill>
                  <a:schemeClr val="tx2"/>
                </a:solidFill>
              </a:rPr>
              <a:t>1.7</a:t>
            </a:r>
          </a:p>
          <a:p>
            <a:r>
              <a:rPr sz="1300" b="0" i="0">
                <a:solidFill>
                  <a:schemeClr val="tx1"/>
                </a:solidFill>
              </a:rPr>
              <a:t>VIF máximo: sin multicolinealidad</a:t>
            </a:r>
          </a:p>
        </p:txBody>
      </p:sp>
      <p:sp>
        <p:nvSpPr>
          <p:cNvPr id="8" name="Cook"/>
          <p:cNvSpPr/>
          <p:nvPr/>
        </p:nvSpPr>
        <p:spPr>
          <a:xfrm>
            <a:off x="8503920" y="292608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ok texto"/>
          <p:cNvSpPr txBox="1"/>
          <p:nvPr/>
        </p:nvSpPr>
        <p:spPr>
          <a:xfrm>
            <a:off x="8686800" y="3017520"/>
            <a:ext cx="2770632" cy="1097280"/>
          </a:xfrm>
          <a:prstGeom prst="rect">
            <a:avLst/>
          </a:prstGeom>
          <a:noFill/>
        </p:spPr>
        <p:txBody>
          <a:bodyPr wrap="square" lIns="0" rIns="0" tIns="0" bIns="0" anchor="ctr">
            <a:spAutoFit/>
          </a:bodyPr>
          <a:lstStyle/>
          <a:p>
            <a:pPr algn="l">
              <a:spcAft>
                <a:spcPts val="0"/>
              </a:spcAft>
            </a:pPr>
            <a:r>
              <a:rPr sz="3000" b="1" i="0">
                <a:solidFill>
                  <a:schemeClr val="tx2"/>
                </a:solidFill>
              </a:rPr>
              <a:t>0.0005</a:t>
            </a:r>
          </a:p>
          <a:p>
            <a:r>
              <a:rPr sz="1300" b="0" i="0">
                <a:solidFill>
                  <a:schemeClr val="tx1"/>
                </a:solidFill>
              </a:rPr>
              <a:t>distancia de Cook máxima: sin influyentes</a:t>
            </a:r>
          </a:p>
        </p:txBody>
      </p:sp>
      <p:sp>
        <p:nvSpPr>
          <p:cNvPr id="10" name="Curtosis"/>
          <p:cNvSpPr/>
          <p:nvPr/>
        </p:nvSpPr>
        <p:spPr>
          <a:xfrm>
            <a:off x="8503920" y="4343400"/>
            <a:ext cx="3136392" cy="12801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urtosis texto"/>
          <p:cNvSpPr txBox="1"/>
          <p:nvPr/>
        </p:nvSpPr>
        <p:spPr>
          <a:xfrm>
            <a:off x="8686800" y="4434840"/>
            <a:ext cx="2770632" cy="1097280"/>
          </a:xfrm>
          <a:prstGeom prst="rect">
            <a:avLst/>
          </a:prstGeom>
          <a:noFill/>
        </p:spPr>
        <p:txBody>
          <a:bodyPr wrap="square" lIns="0" rIns="0" tIns="0" bIns="0" anchor="ctr">
            <a:spAutoFit/>
          </a:bodyPr>
          <a:lstStyle/>
          <a:p>
            <a:pPr algn="l">
              <a:spcAft>
                <a:spcPts val="0"/>
              </a:spcAft>
            </a:pPr>
            <a:r>
              <a:rPr sz="3600" b="1" i="0">
                <a:solidFill>
                  <a:schemeClr val="tx2"/>
                </a:solidFill>
              </a:rPr>
              <a:t>1.9</a:t>
            </a:r>
          </a:p>
          <a:p>
            <a:r>
              <a:rPr sz="1300" b="0" i="0">
                <a:solidFill>
                  <a:schemeClr val="tx1"/>
                </a:solidFill>
              </a:rPr>
              <a:t>curtosis en exceso de los residuos</a:t>
            </a:r>
          </a:p>
        </p:txBody>
      </p:sp>
    </p:spTree>
  </p:cSld>
  <p:clrMapOvr>
    <a:masterClrMapping/>
  </p:clrMapOvr>
</p:sld>
</file>

<file path=ppt/theme/theme1.xml><?xml version="1.0" encoding="utf-8"?>
<a:theme xmlns:a="http://schemas.openxmlformats.org/drawingml/2006/main" name="Proyecto ENOE">
  <a:themeElements>
    <a:clrScheme name="Proyecto ENOE">
      <a:dk1>
        <a:srgbClr val="1B1B1F"/>
      </a:dk1>
      <a:lt1>
        <a:srgbClr val="FFFFFF"/>
      </a:lt1>
      <a:dk2>
        <a:srgbClr val="1E2A6B"/>
      </a:dk2>
      <a:lt2>
        <a:srgbClr val="F3F5FB"/>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royecto ENO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Radiografía socioeconómica de México: escolaridad, ingreso y brecha de género</dc:title>
  <dc:subject>Proyecto Integrador de Ciencia de Datos · ENOE 2025-T4 (INEGI)</dc:subject>
  <dc:creator>Equipo 1: Juan Evelio Culin Grajeda, Angel Yireh Garcia Jara, Luis Andre Gutierrez Zuñia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