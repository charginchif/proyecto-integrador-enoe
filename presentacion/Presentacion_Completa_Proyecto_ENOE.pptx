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Apertura" id="{BA225555-B8BF-40F8-BF9F-6B3BE8A326EE}">
          <p14:sldIdLst>
            <p14:sldId id="256"/>
            <p14:sldId id="257"/>
            <p14:sldId id="258"/>
            <p14:sldId id="259"/>
            <p14:sldId id="260"/>
          </p14:sldIdLst>
        </p14:section>
        <p14:section name="B · Datos y diseño muestral" id="{32A623BE-A986-4E8E-8158-2729D37FE6B1}">
          <p14:sldIdLst>
            <p14:sldId id="261"/>
            <p14:sldId id="262"/>
            <p14:sldId id="263"/>
          </p14:sldIdLst>
        </p14:section>
        <p14:section name="C · Limpieza de datos" id="{48343C4E-3BDE-4050-8D94-E6735205E4D7}">
          <p14:sldIdLst>
            <p14:sldId id="264"/>
            <p14:sldId id="265"/>
            <p14:sldId id="266"/>
            <p14:sldId id="267"/>
            <p14:sldId id="268"/>
            <p14:sldId id="269"/>
            <p14:sldId id="270"/>
            <p14:sldId id="271"/>
          </p14:sldIdLst>
        </p14:section>
        <p14:section name="D · Ingeniería de datos" id="{0E2E319E-1853-4433-8F50-B662291D76DA}">
          <p14:sldIdLst>
            <p14:sldId id="272"/>
            <p14:sldId id="273"/>
            <p14:sldId id="274"/>
            <p14:sldId id="275"/>
            <p14:sldId id="276"/>
          </p14:sldIdLst>
        </p14:section>
        <p14:section name="E · Estadística explicada" id="{81BE180F-4816-40BF-AC58-4E53E2D52041}">
          <p14:sldIdLst>
            <p14:sldId id="277"/>
            <p14:sldId id="278"/>
            <p14:sldId id="279"/>
            <p14:sldId id="280"/>
            <p14:sldId id="281"/>
            <p14:sldId id="282"/>
          </p14:sldIdLst>
        </p14:section>
        <p14:section name="F1 · Escolaridad e ingreso" id="{34B691DB-D339-4C26-8082-FB57B66754EA}">
          <p14:sldIdLst>
            <p14:sldId id="283"/>
            <p14:sldId id="284"/>
            <p14:sldId id="285"/>
          </p14:sldIdLst>
        </p14:section>
        <p14:section name="F2 · Brecha de género" id="{505C7A0C-E14D-4213-A2EA-0978373CDE72}">
          <p14:sldIdLst>
            <p14:sldId id="286"/>
            <p14:sldId id="287"/>
            <p14:sldId id="288"/>
            <p14:sldId id="289"/>
            <p14:sldId id="290"/>
            <p14:sldId id="291"/>
            <p14:sldId id="292"/>
          </p14:sldIdLst>
        </p14:section>
        <p14:section name="F3 · Informalidad, tablero y diagnóstico" id="{ABFB0C4F-B3E7-459F-9A4E-F51422D48825}">
          <p14:sldIdLst>
            <p14:sldId id="293"/>
            <p14:sldId id="294"/>
            <p14:sldId id="295"/>
            <p14:sldId id="296"/>
          </p14:sldIdLst>
        </p14:section>
        <p14:section name="G · Cierre" id="{318EE239-CA67-4116-BC4D-AB151C2349CB}">
          <p14:sldIdLst>
            <p14:sldId id="297"/>
            <p14:sldId id="298"/>
            <p14:sldId id="299"/>
            <p14:sldId id="300"/>
          </p14:sldIdLst>
        </p14:section>
        <p14:section name="H · Respaldo" id="{DA3D4E3E-E7AD-4FCF-A5F1-D2D498D3474D}">
          <p14:sldIdLst>
            <p14:sldId id="301"/>
            <p14:sldId id="302"/>
            <p14:sldId id="3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Cambio en los momios (%)</c:v>
                </c:pt>
              </c:strCache>
            </c:strRef>
          </c:tx>
          <c:invertIfNegative val="0"/>
          <c:dPt>
            <c:idx val="0"/>
            <c:invertIfNegative val="0"/>
            <c:spPr>
              <a:solidFill>
                <a:schemeClr val="accent2"/>
              </a:solidFill>
            </c:spPr>
          </c:dPt>
          <c:dPt>
            <c:idx val="1"/>
            <c:invertIfNegative val="0"/>
            <c:spPr>
              <a:solidFill>
                <a:schemeClr val="accent2"/>
              </a:solidFill>
            </c:spPr>
          </c:dPt>
          <c:dPt>
            <c:idx val="2"/>
            <c:invertIfNegative val="0"/>
            <c:spPr>
              <a:solidFill>
                <a:schemeClr val="accent1"/>
              </a:solidFill>
            </c:spPr>
          </c:dPt>
          <c:dPt>
            <c:idx val="3"/>
            <c:invertIfNegative val="0"/>
            <c:spPr>
              <a:solidFill>
                <a:schemeClr val="accent2"/>
              </a:solidFill>
            </c:spPr>
          </c:dPt>
          <c:dPt>
            <c:idx val="4"/>
            <c:invertIfNegative val="0"/>
            <c:spPr>
              <a:solidFill>
                <a:schemeClr val="accent1"/>
              </a:solidFill>
            </c:spPr>
          </c:dPt>
          <c:cat>
            <c:strRef>
              <c:f>Sheet1!$A$2:$A$6</c:f>
              <c:strCache>
                <c:ptCount val="5"/>
                <c:pt idx="0">
                  <c:v>Cuenta propia</c:v>
                </c:pt>
                <c:pt idx="1">
                  <c:v>Empleador</c:v>
                </c:pt>
                <c:pt idx="2">
                  <c:v>Empleo informal</c:v>
                </c:pt>
                <c:pt idx="3">
                  <c:v>+1 año de escolaridad</c:v>
                </c:pt>
                <c:pt idx="4">
                  <c:v>Mujer</c:v>
                </c:pt>
              </c:strCache>
            </c:strRef>
          </c:cat>
          <c:val>
            <c:numRef>
              <c:f>Sheet1!$B$2:$B$6</c:f>
              <c:numCache>
                <c:formatCode>General</c:formatCode>
                <c:ptCount val="5"/>
                <c:pt idx="0">
                  <c:v>-36.81734261951277</c:v>
                </c:pt>
                <c:pt idx="1">
                  <c:v>-41.79040349602482</c:v>
                </c:pt>
                <c:pt idx="2">
                  <c:v>42.61584513620578</c:v>
                </c:pt>
                <c:pt idx="3">
                  <c:v>-6.5572162716346805</c:v>
                </c:pt>
                <c:pt idx="4">
                  <c:v>26.019719104107807</c:v>
                </c:pt>
              </c:numCache>
            </c:numRef>
          </c:val>
        </c:ser>
        <c:dLbls>
          <c:numFmt formatCode="+0&quot;%&quot;;&quot;−&quot;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C3C2B7"/>
            </a:solidFill>
          </a:ln>
        </c:spPr>
        <c:txPr>
          <a:bodyPr/>
          <a:lstStyle/>
          <a:p>
            <a:pPr>
              <a:defRPr sz="1400">
                <a:solidFill>
                  <a:srgbClr val="3C3F48"/>
                </a:solidFill>
              </a:defRPr>
            </a:pPr>
          </a:p>
        </c:txPr>
        <c:crossAx val="-2113994440"/>
        <c:crosses val="autoZero"/>
        <c:auto val="1"/>
        <c:lblAlgn val="ctr"/>
        <c:lblOffset val="100"/>
        <c:noMultiLvlLbl val="0"/>
      </c:catAx>
      <c:valAx>
        <c:axId val="-2113994440"/>
        <c:scaling/>
        <c:delete val="0"/>
        <c:axPos val="b"/>
        <c:majorGridlines>
          <c:spPr>
            <a:ln w="9525">
              <a:solidFill>
                <a:srgbClr val="E1E0D9"/>
              </a:solidFill>
            </a:ln>
          </c:spPr>
        </c:majorGridlines>
        <c:numFmt formatCode="+0&quot;%&quot;;&quot;−&quot;0&quot;%&quot;" sourceLinked="0"/>
        <c:majorTickMark val="out"/>
        <c:minorTickMark val="none"/>
        <c:tickLblPos val="nextTo"/>
        <c:spPr>
          <a:ln>
            <a:noFill/>
          </a:ln>
        </c:spPr>
        <c:txPr>
          <a:bodyPr/>
          <a:lstStyle/>
          <a:p>
            <a:pPr>
              <a:defRPr sz="1400">
                <a:solidFill>
                  <a:srgbClr val="5F6368"/>
                </a:solidFill>
              </a:defRPr>
            </a:pPr>
          </a:p>
        </c:txPr>
        <c:crossAx val="-2068027336"/>
        <c:crosses val="autoZero"/>
      </c:valAx>
    </c:plotArea>
    <c:dispBlanksAs val="gap"/>
  </c:chart>
  <c:txPr>
    <a:bodyPr/>
    <a:lstStyle/>
    <a:p>
      <a:pPr>
        <a:defRPr sz="1400">
          <a:solidFill>
            <a:schemeClr val="tx1"/>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Si fuera muestra aleatoria simple</c:v>
                </c:pt>
              </c:strCache>
            </c:strRef>
          </c:tx>
          <c:spPr>
            <a:solidFill>
              <a:srgbClr val="A9A8A0"/>
            </a:solidFill>
          </c:spPr>
          <c:cat>
            <c:strRef>
              <c:f>Sheet1!$A$2:$A$3</c:f>
              <c:strCache>
                <c:ptCount val="2"/>
                <c:pt idx="0">
                  <c:v>TIL1 nacional (puntos porcentuales)</c:v>
                </c:pt>
                <c:pt idx="1">
                  <c:v>Brecha por hora (puntos logarítmicos)</c:v>
                </c:pt>
              </c:strCache>
            </c:strRef>
          </c:cat>
          <c:val>
            <c:numRef>
              <c:f>Sheet1!$B$2:$B$3</c:f>
              <c:numCache>
                <c:formatCode>General</c:formatCode>
                <c:ptCount val="2"/>
                <c:pt idx="0">
                  <c:v>0.11407575785478</c:v>
                </c:pt>
                <c:pt idx="1">
                  <c:v>0.38262118000208</c:v>
                </c:pt>
              </c:numCache>
            </c:numRef>
          </c:val>
        </c:ser>
        <c:ser>
          <c:idx val="1"/>
          <c:order val="1"/>
          <c:tx>
            <c:strRef>
              <c:f>Sheet1!$C$1</c:f>
              <c:strCache>
                <c:ptCount val="1"/>
                <c:pt idx="0">
                  <c:v>Con el diseño complejo (Rao-Wu)</c:v>
                </c:pt>
              </c:strCache>
            </c:strRef>
          </c:tx>
          <c:spPr>
            <a:solidFill>
              <a:schemeClr val="accent1"/>
            </a:solidFill>
          </c:spPr>
          <c:cat>
            <c:strRef>
              <c:f>Sheet1!$A$2:$A$3</c:f>
              <c:strCache>
                <c:ptCount val="2"/>
                <c:pt idx="0">
                  <c:v>TIL1 nacional (puntos porcentuales)</c:v>
                </c:pt>
                <c:pt idx="1">
                  <c:v>Brecha por hora (puntos logarítmicos)</c:v>
                </c:pt>
              </c:strCache>
            </c:strRef>
          </c:cat>
          <c:val>
            <c:numRef>
              <c:f>Sheet1!$C$2:$C$3</c:f>
              <c:numCache>
                <c:formatCode>General</c:formatCode>
                <c:ptCount val="2"/>
                <c:pt idx="0">
                  <c:v>0.24966899602424003</c:v>
                </c:pt>
                <c:pt idx="1">
                  <c:v>0.67187132859477</c:v>
                </c:pt>
              </c:numCache>
            </c:numRef>
          </c:val>
        </c:ser>
        <c:dLbls>
          <c:numFmt formatCode="0.00" sourceLinked="0"/>
          <c:txPr>
            <a:bodyPr/>
            <a:lstStyle/>
            <a:p>
              <a:pPr>
                <a:defRPr sz="1400"/>
              </a:pPr>
            </a:p>
          </c:txPr>
          <c:dLblPos val="outEnd"/>
          <c:showLegendKey val="0"/>
          <c:showVal val="1"/>
          <c:showCatName val="0"/>
          <c:showSerName val="0"/>
          <c:showPercent val="0"/>
          <c:showBubbleSize val="0"/>
          <c:showLeaderLines val="1"/>
        </c:dLbls>
        <c:gapWidth val="90"/>
        <c:overlap val="-10"/>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1400">
                <a:solidFill>
                  <a:srgbClr val="3C3F48"/>
                </a:solidFill>
              </a:defRPr>
            </a:pPr>
          </a:p>
        </c:txPr>
        <c:crossAx val="-2113994440"/>
        <c:crosses val="autoZero"/>
        <c:auto val="1"/>
        <c:lblAlgn val="ctr"/>
        <c:lblOffset val="100"/>
        <c:noMultiLvlLbl val="0"/>
      </c:catAx>
      <c:valAx>
        <c:axId val="-2113994440"/>
        <c:scaling/>
        <c:delete val="0"/>
        <c:axPos val="l"/>
        <c:majorGridlines>
          <c:spPr>
            <a:ln w="9525">
              <a:solidFill>
                <a:srgbClr val="E1E0D9"/>
              </a:solidFill>
            </a:ln>
          </c:spPr>
        </c:majorGridlines>
        <c:numFmt formatCode="0.0" sourceLinked="0"/>
        <c:majorTickMark val="out"/>
        <c:minorTickMark val="none"/>
        <c:tickLblPos val="nextTo"/>
        <c:spPr>
          <a:ln>
            <a:noFill/>
          </a:ln>
        </c:spPr>
        <c:txPr>
          <a:bodyPr/>
          <a:lstStyle/>
          <a:p>
            <a:pPr>
              <a:defRPr sz="1400">
                <a:solidFill>
                  <a:srgbClr val="5F6368"/>
                </a:solidFill>
              </a:defRPr>
            </a:pPr>
          </a:p>
        </c:txPr>
        <c:crossAx val="-2068027336"/>
        <c:crosses val="autoZero"/>
      </c:valAx>
    </c:plotArea>
    <c:legend>
      <c:legendPos val="b"/>
      <c:overlay val="0"/>
      <c:txPr>
        <a:bodyPr/>
        <a:lstStyle/>
        <a:p>
          <a:pPr>
            <a:defRPr sz="1400"/>
          </a:pPr>
        </a:p>
      </c:txPr>
    </c:legend>
    <c:dispBlanksAs val="gap"/>
  </c:chart>
  <c:txPr>
    <a:bodyPr/>
    <a:lstStyle/>
    <a:p>
      <a:pPr>
        <a:defRPr sz="1400">
          <a:solidFill>
            <a:schemeClr val="tx1"/>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Premio salarial (%)</c:v>
                </c:pt>
              </c:strCache>
            </c:strRef>
          </c:tx>
          <c:spPr>
            <a:solidFill>
              <a:schemeClr val="accent1"/>
            </a:solidFill>
          </c:spPr>
          <c:cat>
            <c:strRef>
              <c:f>Sheet1!$A$2:$A$5</c:f>
              <c:strCache>
                <c:ptCount val="4"/>
                <c:pt idx="0">
                  <c:v>Primaria completa</c:v>
                </c:pt>
                <c:pt idx="1">
                  <c:v>Secundaria completa</c:v>
                </c:pt>
                <c:pt idx="2">
                  <c:v>Media superior</c:v>
                </c:pt>
                <c:pt idx="3">
                  <c:v>Licenciatura o posgrado</c:v>
                </c:pt>
              </c:strCache>
            </c:strRef>
          </c:cat>
          <c:val>
            <c:numRef>
              <c:f>Sheet1!$B$2:$B$5</c:f>
              <c:numCache>
                <c:formatCode>General</c:formatCode>
                <c:ptCount val="4"/>
                <c:pt idx="0">
                  <c:v>6.902584509779164</c:v>
                </c:pt>
                <c:pt idx="1">
                  <c:v>15.78122864748519</c:v>
                </c:pt>
                <c:pt idx="2">
                  <c:v>28.40260133692274</c:v>
                </c:pt>
                <c:pt idx="3">
                  <c:v>92.4289248258464</c:v>
                </c:pt>
              </c:numCache>
            </c:numRef>
          </c:val>
        </c:ser>
        <c:dLbls>
          <c:numFmt formatCode="0&quot;%&quot;" sourceLinked="0"/>
          <c:txPr>
            <a:bodyPr/>
            <a:lstStyle/>
            <a:p>
              <a:pPr>
                <a:defRPr sz="16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1400">
                <a:solidFill>
                  <a:srgbClr val="3C3F48"/>
                </a:solidFill>
              </a:defRPr>
            </a:pPr>
          </a:p>
        </c:txPr>
        <c:crossAx val="-2113994440"/>
        <c:crosses val="autoZero"/>
        <c:auto val="1"/>
        <c:lblAlgn val="ctr"/>
        <c:lblOffset val="100"/>
        <c:noMultiLvlLbl val="0"/>
      </c:catAx>
      <c:valAx>
        <c:axId val="-2113994440"/>
        <c:scaling/>
        <c:delete val="0"/>
        <c:axPos val="l"/>
        <c:majorGridlines>
          <c:spPr>
            <a:ln w="9525">
              <a:solidFill>
                <a:srgbClr val="E1E0D9"/>
              </a:solidFill>
            </a:ln>
          </c:spPr>
        </c:majorGridlines>
        <c:numFmt formatCode="0&quot;%&quot;" sourceLinked="0"/>
        <c:majorTickMark val="out"/>
        <c:minorTickMark val="none"/>
        <c:tickLblPos val="nextTo"/>
        <c:spPr>
          <a:ln>
            <a:noFill/>
          </a:ln>
        </c:spPr>
        <c:txPr>
          <a:bodyPr/>
          <a:lstStyle/>
          <a:p>
            <a:pPr>
              <a:defRPr sz="1400">
                <a:solidFill>
                  <a:srgbClr val="5F6368"/>
                </a:solidFill>
              </a:defRPr>
            </a:pPr>
          </a:p>
        </c:txPr>
        <c:crossAx val="-2068027336"/>
        <c:crosses val="autoZero"/>
      </c:valAx>
    </c:plotArea>
    <c:dispBlanksAs val="gap"/>
  </c:chart>
  <c:txPr>
    <a:bodyPr/>
    <a:lstStyle/>
    <a:p>
      <a:pPr>
        <a:defRPr sz="1400">
          <a:solidFill>
            <a:schemeClr val="tx1"/>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Apertura · presenta Juan Evelio]</a:t>
            </a:r>
          </a:p>
          <a:p>
            <a:r>
              <a:t>Presentación del equipo. El proyecto responde a una pregunta simple —¿cuánto rinde estudiar y para quién?— con un ciclo KDD completo sobre la ENOE 2025-T4 del INEGI: 190,187 ocupados, 32 entidades, limpieza documentada, dos almacenes de datos, estadística con el diseño muestral de la encuesta y un tablero. Pidan a cada integrante que se presente y diga qué parte explicará.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Apertura · presenta Juan Evelio]</a:t>
            </a:r>
          </a:p>
          <a:p>
            <a:r>
              <a:t>Esta es la pregunta del protocolo. Tiene tres partes que corresponden a los tres objetivos: el rendimiento de un año de escolaridad por entidad, la brecha de género con la misma escolaridad y la informalidad. Las tres métricas de éxito del protocolo son: M1, brecha por nivel de instrucción con intervalo y prueba; M2, Spearman por entidad con intervalo y ranking; M3, un tablero con al menos cuatro visualizaciones sobre una base NoSQL. Al final de la presentación regresamos a ellas para ver si se cumplieron.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Apertura · presenta Juan Evelio]</a:t>
            </a:r>
          </a:p>
          <a:p>
            <a:r>
              <a:t>Esta presentación tiene dos versiones. La ruta corta son las 18 diapositivas con la marca de estrella, unos dieciocho minutos: portada, pregunta, ciclo KDD, validación, ingreso cero, embudo, arquitectura, diseño muestral, los cinco resultados principales, informalidad, conclusiones, límites y cierre. La ruta completa explica además cada concepto y cada decisión: qué es la encuesta, cómo se limpió, cómo se guardó, cómo se calcula cada estadístico y cómo se lee. El reparto de la exposición está en la tabla: Juan Evelio abre y cierra, Angel Yireh presenta la limpieza, la ingeniería de datos y la brecha de género, y Luis Andre presenta la estadística y los demás resultados.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Apertura · presenta Juan Evelio]</a:t>
            </a:r>
          </a:p>
          <a:p>
            <a:r>
              <a:t>El contexto de la pregunta. La educación se considera la principal vía de movilidad social, pero el mercado laboral mexicano combina una informalidad muy alta con diferencias persistentes entre regiones y entre mujeres y hombres. En el cuarto trimestre de 2025 hay 59.8 millones de personas ocupadas y 55 de cada cien están en un empleo informal. Saber cuánto paga un año de estudio, si ese pago es parejo en el país y si mujeres y hombres con la misma preparación reciben lo mismo orienta decisiones de política educativa, laboral y de igualdad. La fuente es la ENOE del INEGI, la principal encuesta del mercado laboral, con microdatos públicos.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Apertura · presenta Juan Evelio]</a:t>
            </a:r>
          </a:p>
          <a:p>
            <a:r>
              <a:t>El ciclo KDD estructura todo el trabajo y cada fase corresponde a semanas del curso. Selección: elegimos la ENOE y la validamos contra cifras oficiales. Preprocesamiento: la ENOE no tiene celdas vacías, los faltantes vienen codificados, y encontramos que el ingreso cero esconde tres fenómenos. Transformación: variables, un ETL y dos almacenes. Minería: estadística con el diseño muestral, regresión y descomposición. Interpretación: hallazgos y límites. Abajo, el tamaño de los datos.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 Datos y diseño muestral · presenta Juan Evelio]</a:t>
            </a:r>
          </a:p>
          <a:p>
            <a:r>
              <a:t>La Encuesta Nacional de Ocupación y Empleo es una encuesta continua del INEGI: cada trimestre se entrevista a cientos de miles de personas en viviendas de todo el país. Cada vivienda se entrevista hasta cinco veces consecutivas, que es el panel rotativo. El INEGI publica los microdatos en cinco tablas; nosotros usamos dos. SDEMT trae una fila por persona, 419,038 en este trimestre y 115 columnas, de las que leemos 35: sociodemográficas, laborales, el ponderador y el diseño muestral. COE2T trae el detalle de cómo se captó el ingreso, que nos permite entender qué significa el ingreso cero. Las unimos con una llave de once campos que verificamos que es única; la unión es uno a uno y el proceso se detiene si una persona ocupada no encuentra pareja.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 Datos y diseño muestral · presenta Juan Evelio]</a:t>
            </a:r>
          </a:p>
          <a:p>
            <a:r>
              <a:t>La ENOE no es una muestra aleatoria simple: sería carísimo recorrer el país. Es un diseño bietápico, estratificado y por conglomerados. Primero se agrupan áreas parecidas en estratos, hay 724; luego se sortean unidades primarias de muestreo, 21,194 en este trimestre, que son conjuntos de viviendas; dentro se eligen viviendas y personas. Cada persona trae un factor de expansión, fac_tri, que indica a cuántas personas de la población representa: la suma es 131 millones, la población del país, y la de los ocupados de 15 años y más es 59.8 millones. Por eso todo está ponderado. Y como las personas de una misma unidad se parecen entre sí, el efecto de diseño es 4.8: los 190 mil ocupados valen como unos 40 mil independientes.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 Datos y diseño muestral · presenta Juan Evelio]</a:t>
            </a:r>
          </a:p>
          <a:p>
            <a:r>
              <a:t>Antes de analizar nada comprobamos que estamos leyendo bien los datos. Con la base oficial —ocupados de 15 años y más, entrevista completa, residentes habituales, ponderador fac_tri— reproducimos siete cifras que publicó el INEGI para este trimestre: la PEA, la tasa de participación, la ocupación informal, la tasa de informalidad nacional y la de tres estados. Un detalle: si hubiéramos incluido a los 1,078 menores de 15 años que trabajan, la informalidad subiría a 55.27 % y ya no coincidiría. Esto valida los códigos de clase, informalidad y los factores de expansión.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La limpieza empieza por definir a quién estudiamos. Partimos de 419,038 registros de la tabla SDEMT y aplicamos cinco reglas de cobertura, una por una, cada una registrada en una bitácora con cuántos registros quedaban antes y después. Primero, entrevista completa. Segundo, residente habitual: se excluyen los nuevos residentes, que no traen sexo ni edad. Tercero, 15 años o más con edad especificada; esto es lo que hace coincidir el proyecto con la definición oficial. Cuarto, personas ocupadas. Quinto, ponderador positivo: es una verificación y no excluye a nadie. El resultado son 190,187 personas ocupadas, el universo de estudio. El principio rector es marcar y no borrar: solo la cobertura elimina filas; los faltantes, la calidad del ingreso y los atípicos crean banderas.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La ENOE no tiene celdas vacías. Un isna diría que todo está completo. Pero los datos desconocidos vienen codificados: 99 años de escolaridad significa que no se especificó, cero horas trabajadas significa que la persona está ocupada pero ausente esa semana, más de 112 horas semanales es una jornada imposible. Si tratáramos el 99 como un número real, los promedios saldrían absurdos. Por eso cada código se convierte explícitamente en faltante y se registra. Son pocos casos: 610 escolaridades, 5,278 jornadas de cero horas, 41 jornadas imposibles y 479 niveles no especificados. El caso importante no es este sino el ingreso, que sigue.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Este es el hallazgo de calidad de datos más importante. El archivo trae ingreso cero para el 36 por ciento de los registros, y la lectura ingenua es que no reciben ingresos. Falso. Ponderado, solo 61 por ciento declara el monto exacto; 22 por ciento da únicamente un rango de salarios mínimos, 13 por ciento no especifica y apenas 4 por ciento realmente no recibe ingresos. Y hay un patrón: la proporción que declara monto exacto baja con la escolaridad, de 69 a 55 por ciento. Los datos faltan de forma no aleatoria. Por eso el análisis principal usa a quienes declararon monto, pero cada resultado clave se contrasta con tres correcciones: imputar el rango, ponderar por no respuesta y usar solo asalariados.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Una vez entendido el ingreso cero surge la pregunta de si quienes declaran el monto exacto son un subconjunto aleatorio. No lo son. Con una regresión logística de la probabilidad de declarar el monto exacto, cada año de escolaridad reduce 6.6 por ciento los momios, y la proporción baja de 69 a 55 por ciento del nivel más bajo al más alto. Los empleadores y los trabajadores por cuenta propia declaran menos, y las mujeres más. Las pruebas ji cuadrada confirman la asociación con la posición en la ocupación, V de Cramér 0.52, y con la informalidad, 0.22. La consecuencia es que la muestra salarial subrepresenta a los más escolarizados. Por eso cada resultado clave se contrasta con imputación por rangos, ponderación inversa y solo asalariados.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A las personas del grupo B, que solo dieron un rango de salarios mínimos, les asignamos un valor plausible para aprovechar su información en el análisis de sensibilidad. Calculamos la mediana ponderada de ingreso entre salario mínimo de quienes sí declararon un monto exacto dentro del mismo rango y la multiplicamos por el salario mínimo de la persona. No usamos el punto medio porque dentro del rango hay más personas cerca del límite inferior. Ejemplo: alguien de la zona general que dijo entre dos y tres salarios mínimos recibe 2.39 por 8,364 pesos, es decir 20,000 pesos al mes. Advertencia: asignar el mismo valor a todos los hombres y mujeres de un rango comprime las diferencias entre ellos y sesga la brecha hacia cero por construcción; por eso solo se usa como sensibilidad, con una muestra ampliada de 145,529 personas.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El ingreso por hora tiene una cola larga: la mayoría gana poco y unos pocos ganan muchísimo. Su asimetría es 3.1. Con el logaritmo natural la distribución se vuelve casi simétrica, asimetría 0.06. Además, una diferencia de logaritmos es, aproximadamente, una diferencia porcentual: logaritmo de 110 menos logaritmo de 100 es 0.095, casi diez por ciento. Para que unas pocas observaciones no dominen, excluimos el 0.5 por ciento más bajo y el 0.5 por ciento más alto del ingreso por hora dentro de cada entidad: 1,133 observaciones, uno por ciento. El corte es por entidad para no eliminar sistemáticamente a las entidades ricas o pobres. Probamos que sin recorte la brecha es 3.6 por ciento en lugar de 3.7.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La limpieza es una cascada de reglas, cada una es una función con nombre, probada con datos sintéticos y registrada en una bitácora. Solo las reglas de cobertura eliminan filas; los faltantes codificados, la calidad del ingreso y los atípicos crean banderas, así que podemos cambiar una decisión y rehacer el análisis sin volver a limpiar. Un punto técnico: la ENOE no tiene nulos explícitos, un isna diría que todo está completo; los faltantes vienen como 99 en escolaridad o cero horas trabajadas. Al final, el pipeline verifica quince expectativas de calidad y se detiene si una crítica falla.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Limpieza de datos · presenta Angel Yireh]</a:t>
            </a:r>
          </a:p>
          <a:p>
            <a:r>
              <a:t>Después de limpiar y transformar, el pipeline verifica quince expectativas sobre la base resultante. Son afirmaciones que deben ser verdaderas si los datos están bien: que la llave de persona es única, que están las 32 entidades, que las edades están entre 15 y 98, que los ponderadores son positivos, que el ingreso por hora que recalculamos coincide con el del INEGI, que el rango de ingreso de la tabla COE2T reproduce el de SDEMT, entre otras. Catorce son críticas: si una falla, el proceso se detiene con un error en lugar de continuar con datos dudosos. Es el equivalente de las pruebas unitarias pero aplicadas a los datos. Las quince se cumplen.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 Ingeniería de datos · presenta Angel Yireh]</a:t>
            </a:r>
          </a:p>
          <a:p>
            <a:r>
              <a:t>Aquí está la ingeniería de datos y la justificación del modelo. Los microdatos entran a un pipeline en Python que extrae, limpia, transforma y valida, y carga a SQLite con esquema en estrella, con llaves primarias, foráneas y restricciones CHECK. Los datos de la ENOE son tabulares, así que para analizar el modelo relacional es el adecuado. Pero para servir la ficha de una entidad a un tablero conviene un modelo documental: un documento por entidad con los indicadores anidados, sin joins, con esquema flexible. SQLite es la fuente de verdad y MongoDB es una vista de lectura que se regenera. Aclaración honesta: verificamos que la agregación de Mongo reproduce la vista SQL, pero no cargamos a un servidor real porque no hay uno instalado; los documentos están listos para mongoimport.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 Ingeniería de datos · presenta Angel Yireh]</a:t>
            </a:r>
          </a:p>
          <a:p>
            <a:r>
              <a:t>El modelo relacional que elegimos es un esquema en estrella. En el centro, la tabla de hechos con una fila por persona ocupada: 190,187 filas y 36 columnas. Alrededor, diez dimensiones pequeñas: entidad, sexo, nivel de instrucción, posición en la ocupación, rama, tamaño de localidad, rangos de ingreso, grupo de ingreso y las unidades primarias de muestreo. Ventajas: no repetimos textos largos en ciento noventa mil filas, un cambio en una descripción se hace en un solo lugar y las consultas son rápidas y legibles. Y el propio motor hace cumplir la calidad: llaves primarias, llaves foráneas y restricciones CHECK, como que el ponderador sea positivo o que la edad esté entre 15 y 98. Al cargar verificamos integrity_check igual a ok y cero violaciones de llave foránea.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 Ingeniería de datos · presenta Angel Yireh]</a:t>
            </a:r>
          </a:p>
          <a:p>
            <a:r>
              <a:t>Para mostrar por qué usamos dos modelos, la misma pregunta en los dos lenguajes: la tasa de informalidad ponderada por entidad. En SQL es una agregación con JOIN y GROUP BY; la ponderación se expresa directamente con la suma de fac_tri por informal. En MongoDB es un pipeline de agregación con group y project. Verificamos que el resultado de MongoDB, calculado con la misma lógica sobre los documentos exportados, reproduce la vista SQL con una diferencia máxima de cero punto cero cero cinco puntos porcentuales, el redondeo del SQL. Donde el modelo documental brilla es en servir la ficha completa de una entidad: una sola lectura por clave, sin JOIN. Aclaración honesta: no cargamos a un servidor MongoDB real porque no hay uno instalado; los documentos están listos para mongoimport.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 Ingeniería de datos · presenta Angel Yireh]</a:t>
            </a:r>
          </a:p>
          <a:p>
            <a:r>
              <a:t>Un resultado científico solo vale si otra persona puede obtenerlo. Todo el proyecto se reproduce con una sola orden, run_all, que encadena diez pasos: el ETL, el análisis, las figuras, la base documental, el tablero, el cuaderno, las dos presentaciones, el informe en Word y las pruebas. Toma entre seis y diez minutos. Hay una única semilla, veinte millones doscientos cincuenta y un mil doscientos treinta y uno, para todo lo aleatorio; ejecutamos dos veces y los treinta archivos de resultados son idénticos. La base se recrea desde cero, así que correr el proceso dos veces no duplica datos. La tabla etl_run guarda las versiones de las bibliotecas, los parámetros y la huella SHA-256 de cada archivo de origen. Y hay treinta y cuatro pruebas automáticas: de limpieza, de estadística de encuestas, de modelos y una de integración con los datos reales.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 Ingeniería de datos · presenta Angel Yireh]</a:t>
            </a:r>
          </a:p>
          <a:p>
            <a:r>
              <a:t>El código está organizado como un paquete de Python, src enoe, con una responsabilidad por módulo, y scripts que lo ejecutan. Config concentra todos los parámetros y catálogos: ninguna decisión está escondida en el código. Extract lee los archivos y calcula las huellas. Clean aplica las reglas y las quince expectativas. Transform une las tablas, crea variables e imputa. Validacion compara con el INEGI. Load_sqlite y load_mongo cargan a los dos almacenes. Survey es la estadística de encuestas escrita desde cero: Rao-Wu, Taylor, Spearman ponderado, regresión y logit con diseño, Holm. Estimadores, modelos y analisis ejecutan todo el análisis, y viz genera las diecisiete figuras de datos y los ocho diagramas. Cada módulo tiene su docstring y sus pruebas.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 Estadística explicada · presenta Luis Andre]</a:t>
            </a:r>
          </a:p>
          <a:p>
            <a:r>
              <a:t>La ENOE es una encuesta por conglomerados y estratos: las personas de una misma unidad primaria se parecen entre sí. Si tratáramos los datos como una muestra aleatoria simple, los errores estándar saldrían demasiado pequeños. Medimos el efecto de diseño: 4.8 para la informalidad, es decir, los 190,187 ocupados valen como unas 40 mil observaciones independientes. Por eso usamos el bootstrap de Rao y Wu con mil réplicas: remuestrea unidades dentro de estratos. Probamos que reproduce la varianza de linealización de Taylor, y que los dominios conservan todas las unidades del diseño.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 Estadística explicada · presenta Luis Andre]</a:t>
            </a:r>
          </a:p>
          <a:p>
            <a:r>
              <a:t>Para medir la incertidumbre hay que saber cuánto cambiaría el resultado si repitiéramos la encuesta. No se puede repetir, pero se puede simular: el bootstrap remuestrea los propios datos. Como la ENOE es por conglomerados, no se remuestrean personas sino unidades primarias completas, respetando los estratos. El método de Rao y Wu lo hace así: en cada estrato con n unidades se sortean n menos uno con reemplazo, y los ponderadores se multiplican por n entre n menos uno por el número de veces que salió su unidad. El ejemplo del diagrama es un estrato de cuatro unidades. Se repite mil veces con la misma semilla; la desviación estándar de las estimaciones replicadas es el error estándar, y los percentiles 2.5 y 97.5 son el intervalo de confianza. Verificamos con pruebas que la varianza bootstrap coincide con la de linealización de Taylor, dentro de ocho por ciento.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 Estadística explicada · presenta Luis Andre]</a:t>
            </a:r>
          </a:p>
          <a:p>
            <a:r>
              <a:t>Como trabajamos con una muestra, toda diferencia podría deberse al azar. El valor p es la probabilidad de observar una diferencia tan grande si en realidad no hubiera brecha; si es menor que cinco por ciento decimos que la diferencia es estadísticamente significativa. El intervalo de confianza del 95 por ciento es un rango de valores plausibles: si el estudio se repitiera muchas veces, el 95 por ciento de los intervalos construidos así contendría el valor verdadero. La regla práctica: si el intervalo no incluye el cero, hay una diferencia demostrable. Tres casos reales de este proyecto: la brecha por hora total, 3.7 por ciento, no incluye el cero; la brecha en la mediana, 2.1 por ciento, toca el cero, p igual a 0.11, evidencia débil; la brecha en la región Sur, 1.1 por ciento, incluye el cero, p igual a 0.53, no se puede afirmar.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 Estadística explicada · presenta Luis Andre]</a:t>
            </a:r>
          </a:p>
          <a:p>
            <a:r>
              <a:t>La correlación de Spearman mide si dos variables suben juntas, sin importar la forma exacta de la relación ni los valores extremos. Se reemplaza cada valor por su lugar, su rango, y se calcula la correlación de Pearson entre los rangos. Los empates reciben el rango medio. En este proyecto cada persona cuenta tantas veces como su factor de expansión: son rangos medios ponderados. El ejemplo del diagrama usa seis personas ilustrativas, y al pasar a rangos la correlación sale 0.93. Va de menos uno a más uno; como referencia, 0.1 es débil, 0.3 moderada y 0.5 fuerte. La correlación nacional entre escolaridad e ingreso por hora es 0.34, moderada; por entidad va de 0.21 a 0.49.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 Estadística explicada · presenta Luis Andre]</a:t>
            </a:r>
          </a:p>
          <a:p>
            <a:r>
              <a:t>La ecuación de Mincer es el modelo clásico de la economía laboral para medir el rendimiento de la educación: se explica el logaritmo del ingreso por hora con los años de escolaridad, la edad y la edad al cuadrado, el sexo y efectos de entidad y localidad. El coeficiente beta de escolaridad mide el aumento del logaritmo del ingreso por cada año de estudio; el aumento porcentual es cien por e elevado a beta menos uno. Con beta igual a 0.0501, un año más se asocia con 5.1 por ciento más ingreso por hora y dos años, con 10.5 por ciento. La tabla muestra cómo cambia al agregar controles: al agregar la posición en la ocupación y la informalidad baja a 3.8 por ciento, porque una parte del beneficio de estudiar actúa a través de conseguir un mejor empleo; por eso ese modelo no es el resultado principal.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 Estadística explicada · presenta Luis Andre]</a:t>
            </a:r>
          </a:p>
          <a:p>
            <a:r>
              <a:t>La brecha se define como uno menos el cociente del ingreso medio geométrico de las mujeres entre el de los hombres. Con los datos: los hombres ganan 52.53 pesos por hora y las mujeres 50.60; uno menos el cociente es 3.7 por ciento. Con 112 mil observaciones casi toda diferencia es significativa, por eso medimos también el tamaño del efecto con la d de Cohen: la diferencia de medias entre la desviación estándar; 0.2 es pequeño, 0.5 mediano y 0.8 grande. La nuestra va de 0.06 a 0.24, un efecto pequeño. Y como hacemos cuatro pruebas, una por nivel de instrucción, aplicamos la corrección de Holm, que ordena los valores p y los compara con umbrales cada vez menos exigentes para controlar el error de todo el conjunto. Las cuatro siguen siendo significativas.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 Escolaridad e ingreso · presenta Luis Andre]</a:t>
            </a:r>
          </a:p>
          <a:p>
            <a:r>
              <a:t>Resultado central del objetivo uno. Con la ecuación de Mincer, controlando edad, sexo, entidad y tamaño de localidad, cada año adicional de escolaridad eleva el ingreso por hora 5.1 por ciento, con un intervalo de 5.0 a 5.3. No es lineal: terminar licenciatura o posgrado paga 92 por ciento más que no terminar la primaria. Las mujeres obtienen un rendimiento mayor, 5.9 contra 4.6 por ciento. Y es robusto: va de 4.9 a 5.7 por ciento en siete especificaciones, incluyendo imputar el ingreso faltante y ponderar por no respuesta.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 Escolaridad e ingreso · presenta Luis Andre]</a:t>
            </a:r>
          </a:p>
          <a:p>
            <a:r>
              <a:t>Para el objetivo uno comparamos estados de mayor y menor ingreso. Agrupamos las 32 entidades en cuartiles de ingreso mediano por hora —el agrupamiento se recalcula en cada réplica para no ignorar su incertidumbre— y comparamos el rendimiento medio del cuartil más rico con el del más pobre. La diferencia es prácticamente cero: 0.000 log-puntos, con p igual a 0.91. No hay evidencia de que estudiar rinda más o menos según la riqueza del estado. Lo que sí cambia entre estados es el nivel de ingreso. Y cada estado individual va de 3.7 por ciento en Nayarit a 9.1 en Ciudad de México, con intervalos amplios. Advertencia: son relaciones entre estados, no efectos causales individuales.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 Escolaridad e ingreso · presenta Luis Andre]</a:t>
            </a:r>
          </a:p>
          <a:p>
            <a:r>
              <a:t>Métrica dos. Para cada entidad calculamos el Spearman ponderado entre años de escolaridad e ingreso por hora, con su intervalo por bootstrap. A la derecha de la gráfica está el lugar de cada estado con su propio intervalo, porque el ranking también es incierto. La Ciudad de México encabeza con 0.49 y su lugar es uno o dos con seguridad. Baja California Sur tiene el menor vínculo, 0.21. Pero los estados del centro del ranking tienen intervalos de lugar de quince o más posiciones: no se pueden distinguir. Un ranking defendible es el que reporta esa incertidumbre; por eso solo afirmamos los extremos.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Brecha de género · presenta Angel Yireh]</a:t>
            </a:r>
          </a:p>
          <a:p>
            <a:r>
              <a:t>Métrica uno. La brecha se define como uno menos el cociente del ingreso medio geométrico de las mujeres entre el de los hombres. Por hora es 3.7 por ciento, con intervalo de 2.3 a 5.0 y p menor a 0.001. Por nivel de instrucción va de 3.9 a 10.1 por ciento y las cuatro son significativas incluso con el ajuste de Holm; las pruebas clásicas de Welch y Mann-Whitney coinciden. El tamaño de efecto es pequeño, la d de Cohen va de 0.06 a 0.24. Pero por mes la brecha es de 26.9 por ciento. La diferencia viene de las horas: las mujeres trabajan 24 por ciento menos horas pagadas. En logaritmos la identidad es exacta: brecha mensual igual a brecha por hora más brecha de horas.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Brecha de género · presenta Angel Yireh]</a:t>
            </a:r>
          </a:p>
          <a:p>
            <a:r>
              <a:t>Para saber qué pasa con personas comparables fuimos agregando controles: la brecha sube de 3.7 a 8.2 por ciento. Primero sube porque las mujeres de la muestra tienen más escolaridad, lo que ocultaba parte de la brecha. El último modelo, con horas trabajadas, da 16 por ciento pero no se interpreta: hay un sesgo de división, porque el ingreso por hora es ingreso entre horas y un error en las horas crea una relación negativa mecánica. La descomposición de Oaxaca-Blinder, que está en el anexo, dice lo mismo: la parte explicada es negativa —las mujeres tienen mejores características— y la no explicada es de unos siete puntos.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Brecha de género · presenta Angel Yireh]</a:t>
            </a:r>
          </a:p>
          <a:p>
            <a:r>
              <a:t>La descomposición de Oaxaca-Blinder separa la brecha en dos partes. La parte explicada es la que se debe a que mujeres y hombres difieren en sus características medidas: escolaridad, edad, lugar de residencia, tipo de empleo y rama. La parte no explicada es la que queda cuando se comparan personas con las mismas características: a iguales características, se les paga distinto. Con nuestros datos la brecha total es 3.8 puntos logarítmicos; la parte explicada es -3.2, negativa, porque las mujeres tienen más escolaridad y viven en lugares de mayor ingreso, lo que favorecería su ingreso; y la no explicada es 6.9. Es decir: si las mujeres fueran pagadas como los hombres con sus mismas características, ganarían más que ellos. Importante: la parte no explicada no prueba discriminación, incluye todo lo que no medimos, como la ocupación específica, la experiencia real y la negociación.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Brecha de género · presenta Angel Yireh]</a:t>
            </a:r>
          </a:p>
          <a:p>
            <a:r>
              <a:t>Descomponemos la brecha por hora con la referencia agrupada de Neumark. La parte explicada es negativa: las características medibles de las mujeres, sobre todo su mayor escolaridad, favorecerían un ingreso por hora más alto. La parte no explicada es de unos siete puntos logarítmicos: si las mujeres fueran pagadas como los hombres con las mismas características, ganarían alrededor de siete por ciento más por hora. No prueba discriminación: incluye ocupación específica, experiencia real, negociación y selección. Con los coeficientes de hombres o mujeres como referencia la conclusión es la misma.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Brecha de género · presenta Angel Yireh]</a:t>
            </a:r>
          </a:p>
          <a:p>
            <a:r>
              <a:t>La brecha no está repartida parejo. Comparamos los percentiles del ingreso por hora de hombres y mujeres: en el percentil diez la brecha es de 8.2 por ciento y en el veinticinco de 10.4, ambas significativas. En la mediana baja a 2.1 por ciento y ya no es significativa, y en los percentiles setenta y cinco y noventa es nula o incluso favorece ligeramente a las mujeres. Es un patrón de piso pegajoso: la desventaja pesa más donde el salario es bajo —informalidad, servicio doméstico, comercio—, así que políticas como el salario mínimo y la formalización pueden incidir más en la brecha que las que apuntan a puestos directivos. Nota: las medianas de ingreso tienen redondeo en cifras exactas, por eso los intervalos son discretos.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Brecha de género · presenta Angel Yireh]</a:t>
            </a:r>
          </a:p>
          <a:p>
            <a:r>
              <a:t>Para ver dónde se concentra la brecha la calculamos dentro de subgrupos: informalidad, posición en la ocupación, región, tamaño de localidad, edad y nivel de instrucción detallado. Los puntos rellenos son las categorías significativas tras la corrección de Holm dentro de cada dimensión. La brecha es de 4.3 por ciento entre trabajadores informales, significativa, y de 1.2 entre formales, no significativa: la desigualdad se concentra en el empleo informal. Por región va de 1.1 en el Sur, no significativa, a 5.9 en el Centro-Norte. Por edad es significativa de los 15 a los 64 años, con un máximo de 6.0 entre los 45 y 54. Con intervalos tan amplios en algunos subgrupos hay que evitar conclusiones fuertes sobre diferencias pequeñas entre ellos.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Brecha de género · presenta Angel Yireh]</a:t>
            </a:r>
          </a:p>
          <a:p>
            <a:r>
              <a:t>Probamos la brecha bajo diez especificaciones. El signo es siempre positivo, pero el tamaño depende de a quién se incluya: de 0.7 por ciento si imputamos el grupo que solo dio rango —que sesga hacia cero por construcción, porque asigna el mismo ingreso a un hombre y a una mujer del mismo rango— a 4.6 sin ponderar. La estimación más robusta de personas comparables es 8.2 por ciento, sin horas. La brecha mensual, 26.9, es indiscutible.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Informalidad, tablero y diagnóstico · presenta Luis Andre]</a:t>
            </a:r>
          </a:p>
          <a:p>
            <a:r>
              <a:t>Objetivo tres. La informalidad laboral nacional es 55.0 por ciento, que coincide con la cifra oficial. El cartograma de mosaicos da la misma área a cada estado para que ninguno domine por su tamaño: va de 33 por ciento en Coahuila a 80 en Oaxaca. Por escolaridad, 87 por ciento entre quienes no terminaron la primaria contra 38 con medio superior o superior. Entre estados, el Spearman entre escolaridad promedio e informalidad es -0.86. A nivel individual, cada año de escolaridad reduce 3.9 puntos la probabilidad de informalidad, y ser mujer la aumenta 6.1 puntos a igual escolaridad, edad y lugar. Cuidado con la falacia ecológica: la relación entre estados no es un efecto individual.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Informalidad, tablero y diagnóstico · presenta Luis Andre]</a:t>
            </a:r>
          </a:p>
          <a:p>
            <a:r>
              <a:t>Cada punto es una entidad. El Spearman entre escolaridad promedio e informalidad es -0.86 y la pendiente es de -14.4 puntos porcentuales por año de escolaridad promedio. Es una relación entre estados, no un efecto individual; el efecto individual lo estimamos aparte con un logit ponderado: la razón de momios por año es 0.82.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Informalidad, tablero y diagnóstico · presenta Luis Andre]</a:t>
            </a:r>
          </a:p>
          <a:p>
            <a:r>
              <a:t>Métrica tres. El tablero es un único archivo HTML que funciona sin internet. Lo alimenta la colección de entidades exportada para MongoDB. Tiene un selector de entidad y un selector de indicador: el mapa de mosaicos y el ranking cambian con el indicador, dos dispersiones, las brechas por nivel, la calidad del ingreso y una vista de tabla accesible con las 32 entidades. También muestra el documento JSON de la entidad elegida, para ver cómo se guarda y se consulta.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Informalidad, tablero y diagnóstico · presenta Luis Andre]</a:t>
            </a:r>
          </a:p>
          <a:p>
            <a:r>
              <a:t>En el modelo con todos los controles hay heterocedasticidad —Breusch-Pagan rechaza— y colas algo pesadas, curtosis en exceso de 1.9. Por eso toda la inferencia usa errores estándar robustos de diseño y no supuestos de normalidad. No hay multicolinealidad, el VIF máximo es 1.7, ni observaciones influyentes: la distancia de Cook máxima es 0.0005, y el coeficiente de mujer casi no cambia si quitamos el 0.1 por ciento más influyente.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 · Cierre · presenta Juan Evelio]</a:t>
            </a:r>
          </a:p>
          <a:p>
            <a:r>
              <a:t>Cierre de los resultados. Tres mensajes. Uno: estudiar paga alrededor de cinco por ciento por año y casi se duplica el ingreso con licenciatura, y rinde parecido en todos los estados, así que ampliar el acceso y la permanencia rinde en todas las regiones. Dos: la desigualdad de género mensual es sobre todo de horas pagadas, no de salario por hora; las políticas de cuidados y la atención a los percentiles bajos son las palancas. Tres: la informalidad se concentra donde se estudia menos, sobre todo en el Sur. A la derecha, el estatus de las métricas del protocolo: las tres se cumplen. Y la advertencia que no hay que olvidar: son asociaciones, no causalidad.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 · Cierre · presenta Juan Evelio]</a:t>
            </a:r>
          </a:p>
          <a:p>
            <a:r>
              <a:t>Regresamos a las tres métricas que fijó el protocolo. M1: la brecha salarial por nivel de instrucción con intervalo de confianza y prueba de hipótesis; la tabla de resultados tiene la brecha por hora y por mes en los cuatro niveles, con intervalos de Rao-Wu y valores p ajustados con Holm. M2: la correlación de Spearman de las 32 entidades con intervalo por bootstrap y un ranking defendible; reportamos el intervalo del lugar de cada entidad y declaramos que el ranking solo distingue los extremos. M3: un tablero con al menos cuatro visualizaciones interpretables, alimentado por un pipeline que carga a una base NoSQL; el tablero tiene seis visualizaciones y la ficha de cada entidad. La salvedad honesta de M3: la carga a un servidor MongoDB real no se ejecutó; los documentos y la agregación equivalente sí están verificados.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 · Cierre · presenta Juan Evelio]</a:t>
            </a:r>
          </a:p>
          <a:p>
            <a:r>
              <a:t>Es importante ser honestos con los límites. Son asociaciones y no causalidad: el rendimiento de estudiar mezcla el efecto de la escolaridad con habilidad no observada. Solo vemos el ingreso de quien trabaja y lo declara, así que hay selección; la mitigamos con ponderación por no respuesta e imputación por rangos, pero no la eliminamos. El ingreso por hora se calcula con las horas de una sola semana. Es un solo trimestre. Y por estado tenemos entre mil novecientas y cinco mil novecientas observaciones, por eso reportamos intervalos. Dos aclaraciones técnicas: no cargamos los documentos a un servidor MongoDB real porque no hay uno instalado, y el significado literal de los códigos de rangos de salarios mínimos lo inferimos de su correspondencia exacta con otra variable. Con más tiempo: varios trimestres con el panel rotativo, corrección por selección de Heckman, un mapa geográfico real y estimaciones para áreas pequeñas.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 · Cierre · presenta Juan Evelio]</a:t>
            </a:r>
          </a:p>
          <a:p>
            <a:r>
              <a:t>Cierre. Todo está reproducible: el cuaderno ejecutado, el tablero interactivo, el pipeline, las pruebas y la documentación están en la carpeta del proyecto. Abran el espacio para preguntas; la guía de defensa en la carpeta docs tiene las preguntas más probables con sus respuestas.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 · Respaldo]</a:t>
            </a:r>
          </a:p>
          <a:p>
            <a:r>
              <a:t>Glosario 1: ENOE, factor de expansión, estrato y UPM, efecto de diseño, bootstrap de Rao-Wu, intervalo de confianza, valor p y Holm.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 · Respaldo]</a:t>
            </a:r>
          </a:p>
          <a:p>
            <a:r>
              <a:t>Glosario 2: Spearman, logaritmo natural, ecuación de Mincer, brecha salarial, d de Cohen, Oaxaca-Blinder, IPW y TIL1.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 · Respaldo]</a:t>
            </a:r>
          </a:p>
          <a:p>
            <a:r>
              <a:t>Respaldo para la sesión de preguntas. Seis de las preguntas más probables con una respuesta corta. ¿Es causal? No: son asociaciones. ¿Por qué ponderan y usan Rao-Wu? Porque la encuesta es por conglomerados y los errores normales serían demasiado pequeños. ¿Hay brecha de género? Sí, pero depende de qué se mide. ¿Por qué no interpretan el modelo con horas? Por el sesgo de división. ¿Cargaron a MongoDB real? No, y lo decimos con claridad. ¿Qué limita los resultados? Un trimestre, ingreso autorreportado, selección y pocas observaciones por estado. La guía de defensa en la carpeta docs y el anexo D del informe tienen muchas respuestas más.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chart" Target="../charts/char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2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548640" y="1463040"/>
            <a:ext cx="11094415" cy="1188720"/>
          </a:xfrm>
        </p:spPr>
        <p:txBody>
          <a:bodyPr wrap="square" anchor="ctr" lIns="0" rIns="0" tIns="0" bIns="0"/>
          <a:lstStyle/>
          <a:p>
            <a:pPr algn="l"/>
            <a:r>
              <a:rPr sz="4800" b="1" i="0">
                <a:solidFill>
                  <a:schemeClr val="bg1"/>
                </a:solidFill>
              </a:rPr>
              <a:t>Radiografía socioeconómica de México</a:t>
            </a:r>
          </a:p>
        </p:txBody>
      </p:sp>
      <p:sp>
        <p:nvSpPr>
          <p:cNvPr id="3" name="Subtítulo"/>
          <p:cNvSpPr txBox="1"/>
          <p:nvPr/>
        </p:nvSpPr>
        <p:spPr>
          <a:xfrm>
            <a:off x="548640" y="2788920"/>
            <a:ext cx="9601200" cy="914400"/>
          </a:xfrm>
          <a:prstGeom prst="rect">
            <a:avLst/>
          </a:prstGeom>
          <a:noFill/>
        </p:spPr>
        <p:txBody>
          <a:bodyPr wrap="square" lIns="0" rIns="0" tIns="0" bIns="0" anchor="t">
            <a:spAutoFit/>
          </a:bodyPr>
          <a:lstStyle/>
          <a:p>
            <a:pPr algn="l">
              <a:spcAft>
                <a:spcPts val="600"/>
              </a:spcAft>
            </a:pPr>
            <a:r>
              <a:rPr sz="2800" b="0" i="0">
                <a:solidFill>
                  <a:srgbClr val="CADCFC"/>
                </a:solidFill>
              </a:rPr>
              <a:t>Escolaridad, ingreso y brecha de género</a:t>
            </a:r>
          </a:p>
          <a:p>
            <a:pPr algn="l">
              <a:spcAft>
                <a:spcPts val="600"/>
              </a:spcAft>
            </a:pPr>
            <a:r>
              <a:rPr sz="1800" b="0" i="0">
                <a:solidFill>
                  <a:schemeClr val="bg1"/>
                </a:solidFill>
              </a:rPr>
              <a:t>Encuesta Nacional de Ocupación y Empleo (ENOE), 4.º trimestre de 2025 · INEGI</a:t>
            </a:r>
          </a:p>
        </p:txBody>
      </p:sp>
      <p:sp>
        <p:nvSpPr>
          <p:cNvPr id="4" name="Equipo"/>
          <p:cNvSpPr txBox="1"/>
          <p:nvPr/>
        </p:nvSpPr>
        <p:spPr>
          <a:xfrm>
            <a:off x="548640" y="4069080"/>
            <a:ext cx="10515600" cy="1097280"/>
          </a:xfrm>
          <a:prstGeom prst="rect">
            <a:avLst/>
          </a:prstGeom>
          <a:noFill/>
        </p:spPr>
        <p:txBody>
          <a:bodyPr wrap="square" lIns="0" rIns="0" tIns="0" bIns="0" anchor="t">
            <a:spAutoFit/>
          </a:bodyPr>
          <a:lstStyle/>
          <a:p>
            <a:pPr algn="l">
              <a:spcAft>
                <a:spcPts val="600"/>
              </a:spcAft>
            </a:pPr>
            <a:r>
              <a:rPr sz="1800" b="1" i="0">
                <a:solidFill>
                  <a:schemeClr val="bg1"/>
                </a:solidFill>
              </a:rPr>
              <a:t>Equipo 1: </a:t>
            </a:r>
            <a:r>
              <a:rPr sz="1800" b="0" i="0">
                <a:solidFill>
                  <a:schemeClr val="bg1"/>
                </a:solidFill>
              </a:rPr>
              <a:t>Juan Evelio Culin Grajeda · Angel Yireh Garcia Jara · Luis Andre Gutierrez Zuñia</a:t>
            </a:r>
          </a:p>
          <a:p>
            <a:pPr algn="l">
              <a:spcAft>
                <a:spcPts val="600"/>
              </a:spcAft>
            </a:pPr>
            <a:r>
              <a:rPr sz="1400" b="0" i="0">
                <a:solidFill>
                  <a:srgbClr val="CADCFC"/>
                </a:solidFill>
              </a:rPr>
              <a:t>Proyecto Integrador de Ciencia de Datos · Ingeniería en Computación, 9.º semestre · UNE Plantel Centro · 18 de octubre de 2026</a:t>
            </a:r>
          </a:p>
        </p:txBody>
      </p:sp>
      <p:sp>
        <p:nvSpPr>
          <p:cNvPr id="5" name="Dato 1"/>
          <p:cNvSpPr/>
          <p:nvPr/>
        </p:nvSpPr>
        <p:spPr>
          <a:xfrm>
            <a:off x="5486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419,038</a:t>
            </a:r>
          </a:p>
          <a:p>
            <a:pPr algn="ctr">
              <a:spcAft>
                <a:spcPts val="0"/>
              </a:spcAft>
            </a:pPr>
            <a:r>
              <a:rPr sz="1300" b="0" i="0">
                <a:solidFill>
                  <a:srgbClr val="CADCFC"/>
                </a:solidFill>
              </a:rPr>
              <a:t>registros</a:t>
            </a:r>
          </a:p>
        </p:txBody>
      </p:sp>
      <p:sp>
        <p:nvSpPr>
          <p:cNvPr id="6" name="Dato 2"/>
          <p:cNvSpPr/>
          <p:nvPr/>
        </p:nvSpPr>
        <p:spPr>
          <a:xfrm>
            <a:off x="32918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190,187</a:t>
            </a:r>
          </a:p>
          <a:p>
            <a:pPr algn="ctr">
              <a:spcAft>
                <a:spcPts val="0"/>
              </a:spcAft>
            </a:pPr>
            <a:r>
              <a:rPr sz="1300" b="0" i="0">
                <a:solidFill>
                  <a:srgbClr val="CADCFC"/>
                </a:solidFill>
              </a:rPr>
              <a:t>ocupados de 15+</a:t>
            </a:r>
          </a:p>
        </p:txBody>
      </p:sp>
      <p:sp>
        <p:nvSpPr>
          <p:cNvPr id="7" name="Dato 3"/>
          <p:cNvSpPr/>
          <p:nvPr/>
        </p:nvSpPr>
        <p:spPr>
          <a:xfrm>
            <a:off x="60350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32</a:t>
            </a:r>
          </a:p>
          <a:p>
            <a:pPr algn="ctr">
              <a:spcAft>
                <a:spcPts val="0"/>
              </a:spcAft>
            </a:pPr>
            <a:r>
              <a:rPr sz="1300" b="0" i="0">
                <a:solidFill>
                  <a:srgbClr val="CADCFC"/>
                </a:solidFill>
              </a:rPr>
              <a:t>entidades</a:t>
            </a:r>
          </a:p>
        </p:txBody>
      </p:sp>
      <p:sp>
        <p:nvSpPr>
          <p:cNvPr id="8" name="Dato 4"/>
          <p:cNvSpPr/>
          <p:nvPr/>
        </p:nvSpPr>
        <p:spPr>
          <a:xfrm>
            <a:off x="87782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1,000</a:t>
            </a:r>
          </a:p>
          <a:p>
            <a:pPr algn="ctr">
              <a:spcAft>
                <a:spcPts val="0"/>
              </a:spcAft>
            </a:pPr>
            <a:r>
              <a:rPr sz="1300" b="0" i="0">
                <a:solidFill>
                  <a:srgbClr val="CADCFC"/>
                </a:solidFill>
              </a:rPr>
              <a:t>réplicas bootstrap</a:t>
            </a:r>
          </a:p>
        </p:txBody>
      </p:sp>
      <p:sp>
        <p:nvSpPr>
          <p:cNvPr id="9"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pregunta: ¿cuánto rinde estudiar, y para quién?</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A · APERTURA  ·  JUAN EVELIO</a:t>
            </a:r>
          </a:p>
        </p:txBody>
      </p:sp>
      <p:sp>
        <p:nvSpPr>
          <p:cNvPr id="6" name="Pregunta de investigación"/>
          <p:cNvSpPr/>
          <p:nvPr/>
        </p:nvSpPr>
        <p:spPr>
          <a:xfrm>
            <a:off x="548640" y="1554480"/>
            <a:ext cx="5212080" cy="3383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egunta"/>
          <p:cNvSpPr txBox="1"/>
          <p:nvPr/>
        </p:nvSpPr>
        <p:spPr>
          <a:xfrm>
            <a:off x="822959" y="1737360"/>
            <a:ext cx="4663440" cy="3017520"/>
          </a:xfrm>
          <a:prstGeom prst="rect">
            <a:avLst/>
          </a:prstGeom>
          <a:noFill/>
        </p:spPr>
        <p:txBody>
          <a:bodyPr wrap="square" lIns="0" rIns="0" tIns="0" bIns="0" anchor="ctr">
            <a:spAutoFit/>
          </a:bodyPr>
          <a:lstStyle/>
          <a:p>
            <a:pPr algn="l">
              <a:spcAft>
                <a:spcPts val="0"/>
              </a:spcAft>
            </a:pPr>
            <a:r>
              <a:rPr sz="2200" b="1" i="0">
                <a:solidFill>
                  <a:schemeClr val="tx2"/>
                </a:solidFill>
              </a:rPr>
              <a:t>¿Cuánto aumenta el ingreso laboral por cada año adicional de escolaridad, cómo cambia esa relación entre entidades federativas y existe una brecha salarial significativa entre hombres y mujeres con la misma escolaridad?</a:t>
            </a:r>
          </a:p>
        </p:txBody>
      </p:sp>
      <p:sp>
        <p:nvSpPr>
          <p:cNvPr id="8" name="Objetivo 1"/>
          <p:cNvSpPr/>
          <p:nvPr/>
        </p:nvSpPr>
        <p:spPr>
          <a:xfrm>
            <a:off x="6035040" y="1554480"/>
            <a:ext cx="5605272" cy="102412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Número 1"/>
          <p:cNvSpPr/>
          <p:nvPr/>
        </p:nvSpPr>
        <p:spPr>
          <a:xfrm>
            <a:off x="6217920" y="1755648"/>
            <a:ext cx="621792" cy="62179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1</a:t>
            </a:r>
          </a:p>
        </p:txBody>
      </p:sp>
      <p:sp>
        <p:nvSpPr>
          <p:cNvPr id="10" name="Objetivo 1 texto"/>
          <p:cNvSpPr txBox="1"/>
          <p:nvPr/>
        </p:nvSpPr>
        <p:spPr>
          <a:xfrm>
            <a:off x="7040880" y="1645920"/>
            <a:ext cx="4434840" cy="841248"/>
          </a:xfrm>
          <a:prstGeom prst="rect">
            <a:avLst/>
          </a:prstGeom>
          <a:noFill/>
        </p:spPr>
        <p:txBody>
          <a:bodyPr wrap="square" lIns="0" rIns="0" tIns="0" bIns="0" anchor="ctr">
            <a:spAutoFit/>
          </a:bodyPr>
          <a:lstStyle/>
          <a:p>
            <a:pPr algn="l">
              <a:spcAft>
                <a:spcPts val="0"/>
              </a:spcAft>
            </a:pPr>
            <a:r>
              <a:rPr sz="1600" b="0" i="0">
                <a:solidFill>
                  <a:schemeClr val="tx1"/>
                </a:solidFill>
              </a:rPr>
              <a:t>Estimar la correlación y el rendimiento de la escolaridad en cada una de las 32 entidades</a:t>
            </a:r>
          </a:p>
        </p:txBody>
      </p:sp>
      <p:sp>
        <p:nvSpPr>
          <p:cNvPr id="11" name="Objetivo 2"/>
          <p:cNvSpPr/>
          <p:nvPr/>
        </p:nvSpPr>
        <p:spPr>
          <a:xfrm>
            <a:off x="6035040" y="2724912"/>
            <a:ext cx="5605272" cy="102412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úmero 2"/>
          <p:cNvSpPr/>
          <p:nvPr/>
        </p:nvSpPr>
        <p:spPr>
          <a:xfrm>
            <a:off x="6217920" y="2926080"/>
            <a:ext cx="621792" cy="62179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2</a:t>
            </a:r>
          </a:p>
        </p:txBody>
      </p:sp>
      <p:sp>
        <p:nvSpPr>
          <p:cNvPr id="13" name="Objetivo 2 texto"/>
          <p:cNvSpPr txBox="1"/>
          <p:nvPr/>
        </p:nvSpPr>
        <p:spPr>
          <a:xfrm>
            <a:off x="7040880" y="2816352"/>
            <a:ext cx="4434840" cy="841248"/>
          </a:xfrm>
          <a:prstGeom prst="rect">
            <a:avLst/>
          </a:prstGeom>
          <a:noFill/>
        </p:spPr>
        <p:txBody>
          <a:bodyPr wrap="square" lIns="0" rIns="0" tIns="0" bIns="0" anchor="ctr">
            <a:spAutoFit/>
          </a:bodyPr>
          <a:lstStyle/>
          <a:p>
            <a:pPr algn="l">
              <a:spcAft>
                <a:spcPts val="0"/>
              </a:spcAft>
            </a:pPr>
            <a:r>
              <a:rPr sz="1600" b="0" i="0">
                <a:solidFill>
                  <a:schemeClr val="tx1"/>
                </a:solidFill>
              </a:rPr>
              <a:t>Probar si hay brecha de ingreso por hora entre hombres y mujeres con el mismo nivel de instrucción</a:t>
            </a:r>
          </a:p>
        </p:txBody>
      </p:sp>
      <p:sp>
        <p:nvSpPr>
          <p:cNvPr id="14" name="Objetivo 3"/>
          <p:cNvSpPr/>
          <p:nvPr/>
        </p:nvSpPr>
        <p:spPr>
          <a:xfrm>
            <a:off x="6035040" y="3895344"/>
            <a:ext cx="5605272" cy="102412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Número 3"/>
          <p:cNvSpPr/>
          <p:nvPr/>
        </p:nvSpPr>
        <p:spPr>
          <a:xfrm>
            <a:off x="6217920" y="4096511"/>
            <a:ext cx="621792" cy="62179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3</a:t>
            </a:r>
          </a:p>
        </p:txBody>
      </p:sp>
      <p:sp>
        <p:nvSpPr>
          <p:cNvPr id="16" name="Objetivo 3 texto"/>
          <p:cNvSpPr txBox="1"/>
          <p:nvPr/>
        </p:nvSpPr>
        <p:spPr>
          <a:xfrm>
            <a:off x="7040880" y="3986783"/>
            <a:ext cx="4434840" cy="841248"/>
          </a:xfrm>
          <a:prstGeom prst="rect">
            <a:avLst/>
          </a:prstGeom>
          <a:noFill/>
        </p:spPr>
        <p:txBody>
          <a:bodyPr wrap="square" lIns="0" rIns="0" tIns="0" bIns="0" anchor="ctr">
            <a:spAutoFit/>
          </a:bodyPr>
          <a:lstStyle/>
          <a:p>
            <a:pPr algn="l">
              <a:spcAft>
                <a:spcPts val="0"/>
              </a:spcAft>
            </a:pPr>
            <a:r>
              <a:rPr sz="1600" b="0" i="0">
                <a:solidFill>
                  <a:schemeClr val="tx1"/>
                </a:solidFill>
              </a:rPr>
              <a:t>Identificar las entidades con más informalidad y su relación con la escolaridad</a:t>
            </a:r>
          </a:p>
        </p:txBody>
      </p:sp>
      <p:sp>
        <p:nvSpPr>
          <p:cNvPr id="17" name="Métrica M1"/>
          <p:cNvSpPr/>
          <p:nvPr/>
        </p:nvSpPr>
        <p:spPr>
          <a:xfrm>
            <a:off x="548640" y="5257800"/>
            <a:ext cx="3611880" cy="86868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spcAft>
                <a:spcPts val="200"/>
              </a:spcAft>
            </a:pPr>
            <a:r>
              <a:rPr sz="1800" b="1" i="0">
                <a:solidFill>
                  <a:schemeClr val="bg1"/>
                </a:solidFill>
              </a:rPr>
              <a:t>M1  </a:t>
            </a:r>
            <a:r>
              <a:rPr sz="1400" b="0" i="0">
                <a:solidFill>
                  <a:schemeClr val="bg1"/>
                </a:solidFill>
              </a:rPr>
              <a:t>Brecha por nivel con IC 95 % y prueba de hipótesis</a:t>
            </a:r>
          </a:p>
        </p:txBody>
      </p:sp>
      <p:sp>
        <p:nvSpPr>
          <p:cNvPr id="18" name="Métrica M2"/>
          <p:cNvSpPr/>
          <p:nvPr/>
        </p:nvSpPr>
        <p:spPr>
          <a:xfrm>
            <a:off x="4297679" y="5257800"/>
            <a:ext cx="3611880" cy="86868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spcAft>
                <a:spcPts val="200"/>
              </a:spcAft>
            </a:pPr>
            <a:r>
              <a:rPr sz="1800" b="1" i="0">
                <a:solidFill>
                  <a:schemeClr val="bg1"/>
                </a:solidFill>
              </a:rPr>
              <a:t>M2  </a:t>
            </a:r>
            <a:r>
              <a:rPr sz="1400" b="0" i="0">
                <a:solidFill>
                  <a:schemeClr val="bg1"/>
                </a:solidFill>
              </a:rPr>
              <a:t>Spearman de las 32 entidades con IC y ranking</a:t>
            </a:r>
          </a:p>
        </p:txBody>
      </p:sp>
      <p:sp>
        <p:nvSpPr>
          <p:cNvPr id="19" name="Métrica M3"/>
          <p:cNvSpPr/>
          <p:nvPr/>
        </p:nvSpPr>
        <p:spPr>
          <a:xfrm>
            <a:off x="8046719" y="5257800"/>
            <a:ext cx="3611880" cy="86868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spcAft>
                <a:spcPts val="200"/>
              </a:spcAft>
            </a:pPr>
            <a:r>
              <a:rPr sz="1800" b="1" i="0">
                <a:solidFill>
                  <a:schemeClr val="bg1"/>
                </a:solidFill>
              </a:rPr>
              <a:t>M3  </a:t>
            </a:r>
            <a:r>
              <a:rPr sz="1400" b="0" i="0">
                <a:solidFill>
                  <a:schemeClr val="bg1"/>
                </a:solidFill>
              </a:rPr>
              <a:t>Tablero con ≥ 4 gráficas sobre una base NoSQL</a:t>
            </a:r>
          </a:p>
        </p:txBody>
      </p:sp>
      <p:sp>
        <p:nvSpPr>
          <p:cNvPr id="20"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Qué vamos a ver: nueve bloques y dos rutas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A · APERTURA  ·  JUAN EVELIO</a:t>
            </a:r>
          </a:p>
        </p:txBody>
      </p:sp>
      <p:sp>
        <p:nvSpPr>
          <p:cNvPr id="6" name="Agenda"/>
          <p:cNvSpPr/>
          <p:nvPr/>
        </p:nvSpPr>
        <p:spPr>
          <a:xfrm>
            <a:off x="548640" y="1481328"/>
            <a:ext cx="7452360" cy="4754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oque A"/>
          <p:cNvSpPr/>
          <p:nvPr/>
        </p:nvSpPr>
        <p:spPr>
          <a:xfrm>
            <a:off x="713232" y="1591056"/>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300" b="1" i="0">
                <a:solidFill>
                  <a:schemeClr val="bg1"/>
                </a:solidFill>
              </a:rPr>
              <a:t>A</a:t>
            </a:r>
          </a:p>
        </p:txBody>
      </p:sp>
      <p:sp>
        <p:nvSpPr>
          <p:cNvPr id="8" name="Bloque A texto"/>
          <p:cNvSpPr txBox="1"/>
          <p:nvPr/>
        </p:nvSpPr>
        <p:spPr>
          <a:xfrm>
            <a:off x="1280160" y="1572768"/>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Apertura  </a:t>
            </a:r>
            <a:r>
              <a:rPr sz="1200" b="0" i="0">
                <a:solidFill>
                  <a:srgbClr val="5F6368"/>
                </a:solidFill>
              </a:rPr>
              <a:t>La pregunta, los objetivos y el ciclo KDD</a:t>
            </a:r>
          </a:p>
        </p:txBody>
      </p:sp>
      <p:sp>
        <p:nvSpPr>
          <p:cNvPr id="9" name="Bloque A presenta"/>
          <p:cNvSpPr txBox="1"/>
          <p:nvPr/>
        </p:nvSpPr>
        <p:spPr>
          <a:xfrm>
            <a:off x="6355079" y="1572768"/>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Juan Evelio</a:t>
            </a:r>
            <a:r>
              <a:rPr sz="1200" b="0" i="0">
                <a:solidFill>
                  <a:srgbClr val="5F6368"/>
                </a:solidFill>
              </a:rPr>
              <a:t>  5 min</a:t>
            </a:r>
          </a:p>
        </p:txBody>
      </p:sp>
      <p:sp>
        <p:nvSpPr>
          <p:cNvPr id="10" name="Bloque B"/>
          <p:cNvSpPr/>
          <p:nvPr/>
        </p:nvSpPr>
        <p:spPr>
          <a:xfrm>
            <a:off x="713232" y="2107692"/>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300" b="1" i="0">
                <a:solidFill>
                  <a:schemeClr val="bg1"/>
                </a:solidFill>
              </a:rPr>
              <a:t>B</a:t>
            </a:r>
          </a:p>
        </p:txBody>
      </p:sp>
      <p:sp>
        <p:nvSpPr>
          <p:cNvPr id="11" name="Bloque B texto"/>
          <p:cNvSpPr txBox="1"/>
          <p:nvPr/>
        </p:nvSpPr>
        <p:spPr>
          <a:xfrm>
            <a:off x="1280160" y="2089404"/>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Datos y diseño muestral  </a:t>
            </a:r>
            <a:r>
              <a:rPr sz="1200" b="0" i="0">
                <a:solidFill>
                  <a:srgbClr val="5F6368"/>
                </a:solidFill>
              </a:rPr>
              <a:t>La ENOE, el diseño muestral y la validación con cifras oficiales</a:t>
            </a:r>
          </a:p>
        </p:txBody>
      </p:sp>
      <p:sp>
        <p:nvSpPr>
          <p:cNvPr id="12" name="Bloque B presenta"/>
          <p:cNvSpPr txBox="1"/>
          <p:nvPr/>
        </p:nvSpPr>
        <p:spPr>
          <a:xfrm>
            <a:off x="6355079" y="2089404"/>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Juan Evelio</a:t>
            </a:r>
            <a:r>
              <a:rPr sz="1200" b="0" i="0">
                <a:solidFill>
                  <a:srgbClr val="5F6368"/>
                </a:solidFill>
              </a:rPr>
              <a:t>  5 min</a:t>
            </a:r>
          </a:p>
        </p:txBody>
      </p:sp>
      <p:sp>
        <p:nvSpPr>
          <p:cNvPr id="13" name="Bloque C"/>
          <p:cNvSpPr/>
          <p:nvPr/>
        </p:nvSpPr>
        <p:spPr>
          <a:xfrm>
            <a:off x="713232" y="2624327"/>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300" b="1" i="0">
                <a:solidFill>
                  <a:schemeClr val="bg1"/>
                </a:solidFill>
              </a:rPr>
              <a:t>C</a:t>
            </a:r>
          </a:p>
        </p:txBody>
      </p:sp>
      <p:sp>
        <p:nvSpPr>
          <p:cNvPr id="14" name="Bloque C texto"/>
          <p:cNvSpPr txBox="1"/>
          <p:nvPr/>
        </p:nvSpPr>
        <p:spPr>
          <a:xfrm>
            <a:off x="1280160" y="2606039"/>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Limpieza de datos  </a:t>
            </a:r>
            <a:r>
              <a:rPr sz="1200" b="0" i="0">
                <a:solidFill>
                  <a:srgbClr val="5F6368"/>
                </a:solidFill>
              </a:rPr>
              <a:t>Cobertura, faltantes, ingreso cero, imputación y atípicos</a:t>
            </a:r>
          </a:p>
        </p:txBody>
      </p:sp>
      <p:sp>
        <p:nvSpPr>
          <p:cNvPr id="15" name="Bloque C presenta"/>
          <p:cNvSpPr txBox="1"/>
          <p:nvPr/>
        </p:nvSpPr>
        <p:spPr>
          <a:xfrm>
            <a:off x="6355079" y="2606039"/>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Angel Yireh</a:t>
            </a:r>
            <a:r>
              <a:rPr sz="1200" b="0" i="0">
                <a:solidFill>
                  <a:srgbClr val="5F6368"/>
                </a:solidFill>
              </a:rPr>
              <a:t>  7 min</a:t>
            </a:r>
          </a:p>
        </p:txBody>
      </p:sp>
      <p:sp>
        <p:nvSpPr>
          <p:cNvPr id="16" name="Bloque D"/>
          <p:cNvSpPr/>
          <p:nvPr/>
        </p:nvSpPr>
        <p:spPr>
          <a:xfrm>
            <a:off x="713232" y="3140964"/>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300" b="1" i="0">
                <a:solidFill>
                  <a:schemeClr val="bg1"/>
                </a:solidFill>
              </a:rPr>
              <a:t>D</a:t>
            </a:r>
          </a:p>
        </p:txBody>
      </p:sp>
      <p:sp>
        <p:nvSpPr>
          <p:cNvPr id="17" name="Bloque D texto"/>
          <p:cNvSpPr txBox="1"/>
          <p:nvPr/>
        </p:nvSpPr>
        <p:spPr>
          <a:xfrm>
            <a:off x="1280160" y="3122676"/>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Ingeniería de datos  </a:t>
            </a:r>
            <a:r>
              <a:rPr sz="1200" b="0" i="0">
                <a:solidFill>
                  <a:srgbClr val="5F6368"/>
                </a:solidFill>
              </a:rPr>
              <a:t>Arquitectura, esquema en estrella, SQL y MongoDB, reproducibilidad</a:t>
            </a:r>
          </a:p>
        </p:txBody>
      </p:sp>
      <p:sp>
        <p:nvSpPr>
          <p:cNvPr id="18" name="Bloque D presenta"/>
          <p:cNvSpPr txBox="1"/>
          <p:nvPr/>
        </p:nvSpPr>
        <p:spPr>
          <a:xfrm>
            <a:off x="6355079" y="3122676"/>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Angel Yireh</a:t>
            </a:r>
            <a:r>
              <a:rPr sz="1200" b="0" i="0">
                <a:solidFill>
                  <a:srgbClr val="5F6368"/>
                </a:solidFill>
              </a:rPr>
              <a:t>  6 min</a:t>
            </a:r>
          </a:p>
        </p:txBody>
      </p:sp>
      <p:sp>
        <p:nvSpPr>
          <p:cNvPr id="19" name="Bloque E"/>
          <p:cNvSpPr/>
          <p:nvPr/>
        </p:nvSpPr>
        <p:spPr>
          <a:xfrm>
            <a:off x="713232" y="3657599"/>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300" b="1" i="0">
                <a:solidFill>
                  <a:schemeClr val="bg1"/>
                </a:solidFill>
              </a:rPr>
              <a:t>E</a:t>
            </a:r>
          </a:p>
        </p:txBody>
      </p:sp>
      <p:sp>
        <p:nvSpPr>
          <p:cNvPr id="20" name="Bloque E texto"/>
          <p:cNvSpPr txBox="1"/>
          <p:nvPr/>
        </p:nvSpPr>
        <p:spPr>
          <a:xfrm>
            <a:off x="1280160" y="3639311"/>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Estadística explicada  </a:t>
            </a:r>
            <a:r>
              <a:rPr sz="1200" b="0" i="0">
                <a:solidFill>
                  <a:srgbClr val="5F6368"/>
                </a:solidFill>
              </a:rPr>
              <a:t>Rao-Wu, intervalos, Spearman, Mincer, brecha y Holm</a:t>
            </a:r>
          </a:p>
        </p:txBody>
      </p:sp>
      <p:sp>
        <p:nvSpPr>
          <p:cNvPr id="21" name="Bloque E presenta"/>
          <p:cNvSpPr txBox="1"/>
          <p:nvPr/>
        </p:nvSpPr>
        <p:spPr>
          <a:xfrm>
            <a:off x="6355079" y="3639311"/>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Luis Andre</a:t>
            </a:r>
            <a:r>
              <a:rPr sz="1200" b="0" i="0">
                <a:solidFill>
                  <a:srgbClr val="5F6368"/>
                </a:solidFill>
              </a:rPr>
              <a:t>  7 min</a:t>
            </a:r>
          </a:p>
        </p:txBody>
      </p:sp>
      <p:sp>
        <p:nvSpPr>
          <p:cNvPr id="22" name="Bloque F1"/>
          <p:cNvSpPr/>
          <p:nvPr/>
        </p:nvSpPr>
        <p:spPr>
          <a:xfrm>
            <a:off x="713232" y="4174235"/>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200" b="1" i="0">
                <a:solidFill>
                  <a:schemeClr val="bg1"/>
                </a:solidFill>
              </a:rPr>
              <a:t>F1</a:t>
            </a:r>
          </a:p>
        </p:txBody>
      </p:sp>
      <p:sp>
        <p:nvSpPr>
          <p:cNvPr id="23" name="Bloque F1 texto"/>
          <p:cNvSpPr txBox="1"/>
          <p:nvPr/>
        </p:nvSpPr>
        <p:spPr>
          <a:xfrm>
            <a:off x="1280160" y="4155948"/>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Escolaridad e ingreso  </a:t>
            </a:r>
            <a:r>
              <a:rPr sz="1200" b="0" i="0">
                <a:solidFill>
                  <a:srgbClr val="5F6368"/>
                </a:solidFill>
              </a:rPr>
              <a:t>Rendimiento de la escolaridad y ranking de entidades</a:t>
            </a:r>
          </a:p>
        </p:txBody>
      </p:sp>
      <p:sp>
        <p:nvSpPr>
          <p:cNvPr id="24" name="Bloque F1 presenta"/>
          <p:cNvSpPr txBox="1"/>
          <p:nvPr/>
        </p:nvSpPr>
        <p:spPr>
          <a:xfrm>
            <a:off x="6355079" y="4155948"/>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Luis Andre</a:t>
            </a:r>
            <a:r>
              <a:rPr sz="1200" b="0" i="0">
                <a:solidFill>
                  <a:srgbClr val="5F6368"/>
                </a:solidFill>
              </a:rPr>
              <a:t>  4 min</a:t>
            </a:r>
          </a:p>
        </p:txBody>
      </p:sp>
      <p:sp>
        <p:nvSpPr>
          <p:cNvPr id="25" name="Bloque F2"/>
          <p:cNvSpPr/>
          <p:nvPr/>
        </p:nvSpPr>
        <p:spPr>
          <a:xfrm>
            <a:off x="713232" y="4690871"/>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200" b="1" i="0">
                <a:solidFill>
                  <a:schemeClr val="bg1"/>
                </a:solidFill>
              </a:rPr>
              <a:t>F2</a:t>
            </a:r>
          </a:p>
        </p:txBody>
      </p:sp>
      <p:sp>
        <p:nvSpPr>
          <p:cNvPr id="26" name="Bloque F2 texto"/>
          <p:cNvSpPr txBox="1"/>
          <p:nvPr/>
        </p:nvSpPr>
        <p:spPr>
          <a:xfrm>
            <a:off x="1280160" y="4672583"/>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Brecha de género  </a:t>
            </a:r>
            <a:r>
              <a:rPr sz="1200" b="0" i="0">
                <a:solidFill>
                  <a:srgbClr val="5F6368"/>
                </a:solidFill>
              </a:rPr>
              <a:t>Brecha por hora y por mes, Oaxaca-Blinder, distribución y robustez</a:t>
            </a:r>
          </a:p>
        </p:txBody>
      </p:sp>
      <p:sp>
        <p:nvSpPr>
          <p:cNvPr id="27" name="Bloque F2 presenta"/>
          <p:cNvSpPr txBox="1"/>
          <p:nvPr/>
        </p:nvSpPr>
        <p:spPr>
          <a:xfrm>
            <a:off x="6355079" y="4672583"/>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Angel Yireh</a:t>
            </a:r>
            <a:r>
              <a:rPr sz="1200" b="0" i="0">
                <a:solidFill>
                  <a:srgbClr val="5F6368"/>
                </a:solidFill>
              </a:rPr>
              <a:t>  6 min</a:t>
            </a:r>
          </a:p>
        </p:txBody>
      </p:sp>
      <p:sp>
        <p:nvSpPr>
          <p:cNvPr id="28" name="Bloque F3"/>
          <p:cNvSpPr/>
          <p:nvPr/>
        </p:nvSpPr>
        <p:spPr>
          <a:xfrm>
            <a:off x="713232" y="5207507"/>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200" b="1" i="0">
                <a:solidFill>
                  <a:schemeClr val="bg1"/>
                </a:solidFill>
              </a:rPr>
              <a:t>F3</a:t>
            </a:r>
          </a:p>
        </p:txBody>
      </p:sp>
      <p:sp>
        <p:nvSpPr>
          <p:cNvPr id="29" name="Bloque F3 texto"/>
          <p:cNvSpPr txBox="1"/>
          <p:nvPr/>
        </p:nvSpPr>
        <p:spPr>
          <a:xfrm>
            <a:off x="1280160" y="5189220"/>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Informalidad, tablero y diagnóstico  </a:t>
            </a:r>
            <a:r>
              <a:rPr sz="1200" b="0" i="0">
                <a:solidFill>
                  <a:srgbClr val="5F6368"/>
                </a:solidFill>
              </a:rPr>
              <a:t>Informalidad, tablero y diagnóstico del modelo</a:t>
            </a:r>
          </a:p>
        </p:txBody>
      </p:sp>
      <p:sp>
        <p:nvSpPr>
          <p:cNvPr id="30" name="Bloque F3 presenta"/>
          <p:cNvSpPr txBox="1"/>
          <p:nvPr/>
        </p:nvSpPr>
        <p:spPr>
          <a:xfrm>
            <a:off x="6355079" y="5189220"/>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Luis Andre</a:t>
            </a:r>
            <a:r>
              <a:rPr sz="1200" b="0" i="0">
                <a:solidFill>
                  <a:srgbClr val="5F6368"/>
                </a:solidFill>
              </a:rPr>
              <a:t>  5 min</a:t>
            </a:r>
          </a:p>
        </p:txBody>
      </p:sp>
      <p:sp>
        <p:nvSpPr>
          <p:cNvPr id="31" name="Bloque G"/>
          <p:cNvSpPr/>
          <p:nvPr/>
        </p:nvSpPr>
        <p:spPr>
          <a:xfrm>
            <a:off x="713232" y="5724143"/>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300" b="1" i="0">
                <a:solidFill>
                  <a:schemeClr val="bg1"/>
                </a:solidFill>
              </a:rPr>
              <a:t>G</a:t>
            </a:r>
          </a:p>
        </p:txBody>
      </p:sp>
      <p:sp>
        <p:nvSpPr>
          <p:cNvPr id="32" name="Bloque G texto"/>
          <p:cNvSpPr txBox="1"/>
          <p:nvPr/>
        </p:nvSpPr>
        <p:spPr>
          <a:xfrm>
            <a:off x="1280160" y="5705855"/>
            <a:ext cx="4937760" cy="475488"/>
          </a:xfrm>
          <a:prstGeom prst="rect">
            <a:avLst/>
          </a:prstGeom>
          <a:noFill/>
        </p:spPr>
        <p:txBody>
          <a:bodyPr wrap="square" lIns="0" rIns="0" tIns="0" bIns="0" anchor="ctr">
            <a:spAutoFit/>
          </a:bodyPr>
          <a:lstStyle/>
          <a:p>
            <a:pPr algn="l">
              <a:spcAft>
                <a:spcPts val="0"/>
              </a:spcAft>
            </a:pPr>
            <a:r>
              <a:rPr sz="1400" b="1" i="0">
                <a:solidFill>
                  <a:schemeClr val="tx2"/>
                </a:solidFill>
              </a:rPr>
              <a:t>Cierre  </a:t>
            </a:r>
            <a:r>
              <a:rPr sz="1200" b="0" i="0">
                <a:solidFill>
                  <a:srgbClr val="5F6368"/>
                </a:solidFill>
              </a:rPr>
              <a:t>Síntesis, métricas de éxito, límites y cierre</a:t>
            </a:r>
          </a:p>
        </p:txBody>
      </p:sp>
      <p:sp>
        <p:nvSpPr>
          <p:cNvPr id="33" name="Bloque G presenta"/>
          <p:cNvSpPr txBox="1"/>
          <p:nvPr/>
        </p:nvSpPr>
        <p:spPr>
          <a:xfrm>
            <a:off x="6355079" y="5705855"/>
            <a:ext cx="1554480" cy="475488"/>
          </a:xfrm>
          <a:prstGeom prst="rect">
            <a:avLst/>
          </a:prstGeom>
          <a:noFill/>
        </p:spPr>
        <p:txBody>
          <a:bodyPr wrap="square" lIns="0" rIns="0" tIns="0" bIns="0" anchor="ctr">
            <a:spAutoFit/>
          </a:bodyPr>
          <a:lstStyle/>
          <a:p>
            <a:pPr algn="r">
              <a:spcAft>
                <a:spcPts val="0"/>
              </a:spcAft>
            </a:pPr>
            <a:r>
              <a:rPr sz="1200" b="1" i="0">
                <a:solidFill>
                  <a:schemeClr val="tx1"/>
                </a:solidFill>
              </a:rPr>
              <a:t>Juan Evelio</a:t>
            </a:r>
            <a:r>
              <a:rPr sz="1200" b="0" i="0">
                <a:solidFill>
                  <a:srgbClr val="5F6368"/>
                </a:solidFill>
              </a:rPr>
              <a:t>  4 min</a:t>
            </a:r>
          </a:p>
        </p:txBody>
      </p:sp>
      <p:sp>
        <p:nvSpPr>
          <p:cNvPr id="34" name="Ruta corta"/>
          <p:cNvSpPr/>
          <p:nvPr/>
        </p:nvSpPr>
        <p:spPr>
          <a:xfrm>
            <a:off x="8229600" y="1481328"/>
            <a:ext cx="3410712" cy="155448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uta corta texto"/>
          <p:cNvSpPr txBox="1"/>
          <p:nvPr/>
        </p:nvSpPr>
        <p:spPr>
          <a:xfrm>
            <a:off x="8412480" y="1572768"/>
            <a:ext cx="3044952" cy="1371600"/>
          </a:xfrm>
          <a:prstGeom prst="rect">
            <a:avLst/>
          </a:prstGeom>
          <a:noFill/>
        </p:spPr>
        <p:txBody>
          <a:bodyPr wrap="square" lIns="0" rIns="0" tIns="0" bIns="0" anchor="ctr">
            <a:spAutoFit/>
          </a:bodyPr>
          <a:lstStyle/>
          <a:p>
            <a:pPr algn="l">
              <a:spcAft>
                <a:spcPts val="0"/>
              </a:spcAft>
            </a:pPr>
            <a:r>
              <a:rPr sz="4000" b="1" i="0">
                <a:solidFill>
                  <a:schemeClr val="bg1"/>
                </a:solidFill>
              </a:rPr>
              <a:t>★ 18</a:t>
            </a:r>
          </a:p>
          <a:p>
            <a:r>
              <a:rPr sz="1400" b="0" i="0">
                <a:solidFill>
                  <a:schemeClr val="bg1"/>
                </a:solidFill>
              </a:rPr>
              <a:t>diapositivas de la ruta corta (≈ 18 min)</a:t>
            </a:r>
          </a:p>
        </p:txBody>
      </p:sp>
      <p:sp>
        <p:nvSpPr>
          <p:cNvPr id="36" name="Ruta completa"/>
          <p:cNvSpPr/>
          <p:nvPr/>
        </p:nvSpPr>
        <p:spPr>
          <a:xfrm>
            <a:off x="8229600" y="3172968"/>
            <a:ext cx="3410712" cy="15544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uta completa texto"/>
          <p:cNvSpPr txBox="1"/>
          <p:nvPr/>
        </p:nvSpPr>
        <p:spPr>
          <a:xfrm>
            <a:off x="8412480" y="3264408"/>
            <a:ext cx="3044952" cy="1371600"/>
          </a:xfrm>
          <a:prstGeom prst="rect">
            <a:avLst/>
          </a:prstGeom>
          <a:noFill/>
        </p:spPr>
        <p:txBody>
          <a:bodyPr wrap="square" lIns="0" rIns="0" tIns="0" bIns="0" anchor="ctr">
            <a:spAutoFit/>
          </a:bodyPr>
          <a:lstStyle/>
          <a:p>
            <a:pPr algn="l">
              <a:spcAft>
                <a:spcPts val="0"/>
              </a:spcAft>
            </a:pPr>
            <a:r>
              <a:rPr sz="4000" b="1" i="0">
                <a:solidFill>
                  <a:schemeClr val="tx2"/>
                </a:solidFill>
              </a:rPr>
              <a:t>48</a:t>
            </a:r>
          </a:p>
          <a:p>
            <a:r>
              <a:rPr sz="1400" b="0" i="0">
                <a:solidFill>
                  <a:schemeClr val="tx1"/>
                </a:solidFill>
              </a:rPr>
              <a:t>diapositivas de la ruta completa (≈ 50 min)</a:t>
            </a:r>
          </a:p>
        </p:txBody>
      </p:sp>
      <p:sp>
        <p:nvSpPr>
          <p:cNvPr id="38" name="Notas"/>
          <p:cNvSpPr/>
          <p:nvPr/>
        </p:nvSpPr>
        <p:spPr>
          <a:xfrm>
            <a:off x="8229600" y="4864608"/>
            <a:ext cx="34107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Notas texto"/>
          <p:cNvSpPr txBox="1"/>
          <p:nvPr/>
        </p:nvSpPr>
        <p:spPr>
          <a:xfrm>
            <a:off x="8430768" y="4974336"/>
            <a:ext cx="3008376" cy="1152144"/>
          </a:xfrm>
          <a:prstGeom prst="rect">
            <a:avLst/>
          </a:prstGeom>
          <a:noFill/>
        </p:spPr>
        <p:txBody>
          <a:bodyPr wrap="square" lIns="0" rIns="0" tIns="0" bIns="0" anchor="ctr">
            <a:spAutoFit/>
          </a:bodyPr>
          <a:lstStyle/>
          <a:p>
            <a:pPr algn="l">
              <a:spcAft>
                <a:spcPts val="800"/>
              </a:spcAft>
            </a:pPr>
            <a:r>
              <a:rPr sz="1400" b="0" i="0">
                <a:solidFill>
                  <a:schemeClr val="tx1"/>
                </a:solidFill>
              </a:rPr>
              <a:t>El guion de cada diapositiva está en las </a:t>
            </a:r>
            <a:r>
              <a:rPr sz="1400" b="1" i="0">
                <a:solidFill>
                  <a:schemeClr val="tx1"/>
                </a:solidFill>
              </a:rPr>
              <a:t>notas del orador</a:t>
            </a:r>
            <a:r>
              <a:rPr sz="1400" b="0" i="0">
                <a:solidFill>
                  <a:schemeClr val="tx1"/>
                </a:solidFill>
              </a:rPr>
              <a:t>. Al final: glosario y preguntas de respaldo.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Por qué importa: educación, informalidad e igualdad de género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A · APERTURA  ·  JUAN EVELIO</a:t>
            </a:r>
          </a:p>
        </p:txBody>
      </p:sp>
      <p:sp>
        <p:nvSpPr>
          <p:cNvPr id="6" name="Dato 1"/>
          <p:cNvSpPr/>
          <p:nvPr/>
        </p:nvSpPr>
        <p:spPr>
          <a:xfrm>
            <a:off x="548640" y="1554480"/>
            <a:ext cx="3611880"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Dato 1 texto"/>
          <p:cNvSpPr txBox="1"/>
          <p:nvPr/>
        </p:nvSpPr>
        <p:spPr>
          <a:xfrm>
            <a:off x="731520" y="1645920"/>
            <a:ext cx="3246120" cy="1417320"/>
          </a:xfrm>
          <a:prstGeom prst="rect">
            <a:avLst/>
          </a:prstGeom>
          <a:noFill/>
        </p:spPr>
        <p:txBody>
          <a:bodyPr wrap="square" lIns="0" rIns="0" tIns="0" bIns="0" anchor="ctr">
            <a:spAutoFit/>
          </a:bodyPr>
          <a:lstStyle/>
          <a:p>
            <a:pPr algn="l">
              <a:spcAft>
                <a:spcPts val="0"/>
              </a:spcAft>
            </a:pPr>
            <a:r>
              <a:rPr sz="4400" b="1" i="0">
                <a:solidFill>
                  <a:schemeClr val="tx2"/>
                </a:solidFill>
              </a:rPr>
              <a:t>59.8 M</a:t>
            </a:r>
          </a:p>
          <a:p>
            <a:r>
              <a:rPr sz="1400" b="0" i="0">
                <a:solidFill>
                  <a:schemeClr val="tx1"/>
                </a:solidFill>
              </a:rPr>
              <a:t>personas ocupadas de 15 años y más</a:t>
            </a:r>
          </a:p>
        </p:txBody>
      </p:sp>
      <p:sp>
        <p:nvSpPr>
          <p:cNvPr id="8" name="Pregunta 1"/>
          <p:cNvSpPr/>
          <p:nvPr/>
        </p:nvSpPr>
        <p:spPr>
          <a:xfrm>
            <a:off x="548640" y="3291840"/>
            <a:ext cx="3611880"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regunta 1 texto"/>
          <p:cNvSpPr txBox="1"/>
          <p:nvPr/>
        </p:nvSpPr>
        <p:spPr>
          <a:xfrm>
            <a:off x="749808" y="3401568"/>
            <a:ext cx="3209544" cy="1837943"/>
          </a:xfrm>
          <a:prstGeom prst="rect">
            <a:avLst/>
          </a:prstGeom>
          <a:noFill/>
        </p:spPr>
        <p:txBody>
          <a:bodyPr wrap="square" lIns="0" rIns="0" tIns="0" bIns="0" anchor="ctr">
            <a:spAutoFit/>
          </a:bodyPr>
          <a:lstStyle/>
          <a:p>
            <a:pPr algn="l">
              <a:spcAft>
                <a:spcPts val="800"/>
              </a:spcAft>
            </a:pPr>
            <a:r>
              <a:rPr sz="1700" b="1" i="0">
                <a:solidFill>
                  <a:schemeClr val="tx2"/>
                </a:solidFill>
              </a:rPr>
              <a:t>Educación: ¿cuánto rinde estudiar un año más?</a:t>
            </a:r>
          </a:p>
          <a:p>
            <a:pPr algn="l">
              <a:spcAft>
                <a:spcPts val="800"/>
              </a:spcAft>
            </a:pPr>
            <a:r>
              <a:rPr sz="1400" b="0" i="0">
                <a:solidFill>
                  <a:schemeClr val="tx1"/>
                </a:solidFill>
              </a:rPr>
              <a:t>La escolaridad es la principal vía de movilidad social: ¿cuánto se paga cada año de estudio y cambia por entidad?</a:t>
            </a:r>
          </a:p>
        </p:txBody>
      </p:sp>
      <p:sp>
        <p:nvSpPr>
          <p:cNvPr id="10" name="Dato 2"/>
          <p:cNvSpPr/>
          <p:nvPr/>
        </p:nvSpPr>
        <p:spPr>
          <a:xfrm>
            <a:off x="4297679" y="1554480"/>
            <a:ext cx="3611880"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ato 2 texto"/>
          <p:cNvSpPr txBox="1"/>
          <p:nvPr/>
        </p:nvSpPr>
        <p:spPr>
          <a:xfrm>
            <a:off x="4480559" y="1645920"/>
            <a:ext cx="3246120" cy="1417320"/>
          </a:xfrm>
          <a:prstGeom prst="rect">
            <a:avLst/>
          </a:prstGeom>
          <a:noFill/>
        </p:spPr>
        <p:txBody>
          <a:bodyPr wrap="square" lIns="0" rIns="0" tIns="0" bIns="0" anchor="ctr">
            <a:spAutoFit/>
          </a:bodyPr>
          <a:lstStyle/>
          <a:p>
            <a:pPr algn="l">
              <a:spcAft>
                <a:spcPts val="0"/>
              </a:spcAft>
            </a:pPr>
            <a:r>
              <a:rPr sz="4400" b="1" i="0">
                <a:solidFill>
                  <a:schemeClr val="tx2"/>
                </a:solidFill>
              </a:rPr>
              <a:t>55 %</a:t>
            </a:r>
          </a:p>
          <a:p>
            <a:r>
              <a:rPr sz="1400" b="0" i="0">
                <a:solidFill>
                  <a:schemeClr val="tx1"/>
                </a:solidFill>
              </a:rPr>
              <a:t>de las personas ocupadas está en un empleo informal</a:t>
            </a:r>
          </a:p>
        </p:txBody>
      </p:sp>
      <p:sp>
        <p:nvSpPr>
          <p:cNvPr id="12" name="Pregunta 2"/>
          <p:cNvSpPr/>
          <p:nvPr/>
        </p:nvSpPr>
        <p:spPr>
          <a:xfrm>
            <a:off x="4297679" y="3291840"/>
            <a:ext cx="3611880"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egunta 2 texto"/>
          <p:cNvSpPr txBox="1"/>
          <p:nvPr/>
        </p:nvSpPr>
        <p:spPr>
          <a:xfrm>
            <a:off x="4498847" y="3401568"/>
            <a:ext cx="3209544" cy="1837943"/>
          </a:xfrm>
          <a:prstGeom prst="rect">
            <a:avLst/>
          </a:prstGeom>
          <a:noFill/>
        </p:spPr>
        <p:txBody>
          <a:bodyPr wrap="square" lIns="0" rIns="0" tIns="0" bIns="0" anchor="ctr">
            <a:spAutoFit/>
          </a:bodyPr>
          <a:lstStyle/>
          <a:p>
            <a:pPr algn="l">
              <a:spcAft>
                <a:spcPts val="800"/>
              </a:spcAft>
            </a:pPr>
            <a:r>
              <a:rPr sz="1700" b="1" i="0">
                <a:solidFill>
                  <a:schemeClr val="tx2"/>
                </a:solidFill>
              </a:rPr>
              <a:t>Informalidad: ¿dónde y para quién?</a:t>
            </a:r>
          </a:p>
          <a:p>
            <a:pPr algn="l">
              <a:spcAft>
                <a:spcPts val="800"/>
              </a:spcAft>
            </a:pPr>
            <a:r>
              <a:rPr sz="1400" b="0" i="0">
                <a:solidFill>
                  <a:schemeClr val="tx1"/>
                </a:solidFill>
              </a:rPr>
              <a:t>La mitad del empleo carece de protección laboral formal; varía de 33 % a 80 % según la entidad.</a:t>
            </a:r>
          </a:p>
        </p:txBody>
      </p:sp>
      <p:sp>
        <p:nvSpPr>
          <p:cNvPr id="14" name="Dato 3"/>
          <p:cNvSpPr/>
          <p:nvPr/>
        </p:nvSpPr>
        <p:spPr>
          <a:xfrm>
            <a:off x="8046719" y="1554480"/>
            <a:ext cx="3611880"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ato 3 texto"/>
          <p:cNvSpPr txBox="1"/>
          <p:nvPr/>
        </p:nvSpPr>
        <p:spPr>
          <a:xfrm>
            <a:off x="8229599" y="1645920"/>
            <a:ext cx="3246120" cy="1417320"/>
          </a:xfrm>
          <a:prstGeom prst="rect">
            <a:avLst/>
          </a:prstGeom>
          <a:noFill/>
        </p:spPr>
        <p:txBody>
          <a:bodyPr wrap="square" lIns="0" rIns="0" tIns="0" bIns="0" anchor="ctr">
            <a:spAutoFit/>
          </a:bodyPr>
          <a:lstStyle/>
          <a:p>
            <a:pPr algn="l">
              <a:spcAft>
                <a:spcPts val="0"/>
              </a:spcAft>
            </a:pPr>
            <a:r>
              <a:rPr sz="4400" b="1" i="0">
                <a:solidFill>
                  <a:schemeClr val="tx2"/>
                </a:solidFill>
              </a:rPr>
              <a:t>42 %</a:t>
            </a:r>
          </a:p>
          <a:p>
            <a:r>
              <a:rPr sz="1400" b="0" i="0">
                <a:solidFill>
                  <a:schemeClr val="tx1"/>
                </a:solidFill>
              </a:rPr>
              <a:t>de la muestra salarial son mujeres</a:t>
            </a:r>
          </a:p>
        </p:txBody>
      </p:sp>
      <p:sp>
        <p:nvSpPr>
          <p:cNvPr id="16" name="Pregunta 3"/>
          <p:cNvSpPr/>
          <p:nvPr/>
        </p:nvSpPr>
        <p:spPr>
          <a:xfrm>
            <a:off x="8046719" y="3291840"/>
            <a:ext cx="3611880"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egunta 3 texto"/>
          <p:cNvSpPr txBox="1"/>
          <p:nvPr/>
        </p:nvSpPr>
        <p:spPr>
          <a:xfrm>
            <a:off x="8247888" y="3401568"/>
            <a:ext cx="3209544" cy="1837943"/>
          </a:xfrm>
          <a:prstGeom prst="rect">
            <a:avLst/>
          </a:prstGeom>
          <a:noFill/>
        </p:spPr>
        <p:txBody>
          <a:bodyPr wrap="square" lIns="0" rIns="0" tIns="0" bIns="0" anchor="ctr">
            <a:spAutoFit/>
          </a:bodyPr>
          <a:lstStyle/>
          <a:p>
            <a:pPr algn="l">
              <a:spcAft>
                <a:spcPts val="800"/>
              </a:spcAft>
            </a:pPr>
            <a:r>
              <a:rPr sz="1700" b="1" i="0">
                <a:solidFill>
                  <a:schemeClr val="tx2"/>
                </a:solidFill>
              </a:rPr>
              <a:t>Igualdad: ¿ganan lo mismo mujeres y hombres?</a:t>
            </a:r>
          </a:p>
          <a:p>
            <a:pPr algn="l">
              <a:spcAft>
                <a:spcPts val="800"/>
              </a:spcAft>
            </a:pPr>
            <a:r>
              <a:rPr sz="1400" b="0" i="0">
                <a:solidFill>
                  <a:schemeClr val="tx1"/>
                </a:solidFill>
              </a:rPr>
              <a:t>Comparar a personas con la misma escolaridad separa la diferencia de preparación de la diferencia de pago.</a:t>
            </a:r>
          </a:p>
        </p:txBody>
      </p:sp>
      <p:sp>
        <p:nvSpPr>
          <p:cNvPr id="18" name="Mensaje"/>
          <p:cNvSpPr/>
          <p:nvPr/>
        </p:nvSpPr>
        <p:spPr>
          <a:xfrm>
            <a:off x="548640" y="5532120"/>
            <a:ext cx="11091672" cy="68580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ensaje texto"/>
          <p:cNvSpPr txBox="1"/>
          <p:nvPr/>
        </p:nvSpPr>
        <p:spPr>
          <a:xfrm>
            <a:off x="822959" y="5577840"/>
            <a:ext cx="10515600" cy="594360"/>
          </a:xfrm>
          <a:prstGeom prst="rect">
            <a:avLst/>
          </a:prstGeom>
          <a:noFill/>
        </p:spPr>
        <p:txBody>
          <a:bodyPr wrap="square" lIns="0" rIns="0" tIns="0" bIns="0" anchor="ctr">
            <a:spAutoFit/>
          </a:bodyPr>
          <a:lstStyle/>
          <a:p>
            <a:pPr algn="l">
              <a:spcAft>
                <a:spcPts val="0"/>
              </a:spcAft>
            </a:pPr>
            <a:r>
              <a:rPr sz="1500" b="1" i="0">
                <a:solidFill>
                  <a:schemeClr val="bg1"/>
                </a:solidFill>
              </a:rPr>
              <a:t>Fuente: </a:t>
            </a:r>
            <a:r>
              <a:rPr sz="1500" b="0" i="0">
                <a:solidFill>
                  <a:schemeClr val="bg1"/>
                </a:solidFill>
              </a:rPr>
              <a:t>Encuesta Nacional de Ocupación y Empleo (ENOE) del INEGI, 4.º trimestre de 2025: microdatos públicos y anonimizados.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Un ciclo KDD completo sobre datos reales y masivos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5</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A · APERTURA  ·  JUAN EVELIO</a:t>
            </a:r>
          </a:p>
        </p:txBody>
      </p:sp>
      <p:sp>
        <p:nvSpPr>
          <p:cNvPr id="6" name="Fase 1"/>
          <p:cNvSpPr/>
          <p:nvPr/>
        </p:nvSpPr>
        <p:spPr>
          <a:xfrm>
            <a:off x="548640"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Selección</a:t>
            </a:r>
          </a:p>
          <a:p>
            <a:pPr algn="l">
              <a:spcAft>
                <a:spcPts val="0"/>
              </a:spcAft>
            </a:pPr>
            <a:r>
              <a:rPr sz="1200" b="0" i="0">
                <a:solidFill>
                  <a:srgbClr val="CADCFC"/>
                </a:solidFill>
              </a:rPr>
              <a:t>Fase 1 · Sem. 1</a:t>
            </a:r>
          </a:p>
        </p:txBody>
      </p:sp>
      <p:sp>
        <p:nvSpPr>
          <p:cNvPr id="7" name="Fase 1 detalle"/>
          <p:cNvSpPr txBox="1"/>
          <p:nvPr/>
        </p:nvSpPr>
        <p:spPr>
          <a:xfrm>
            <a:off x="548640"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ENOE 4T-2025; validación contra cifras del INEGI</a:t>
            </a:r>
          </a:p>
        </p:txBody>
      </p:sp>
      <p:sp>
        <p:nvSpPr>
          <p:cNvPr id="8" name="Fase 2"/>
          <p:cNvSpPr/>
          <p:nvPr/>
        </p:nvSpPr>
        <p:spPr>
          <a:xfrm>
            <a:off x="2789468"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Preprocesamiento</a:t>
            </a:r>
          </a:p>
          <a:p>
            <a:pPr algn="l">
              <a:spcAft>
                <a:spcPts val="0"/>
              </a:spcAft>
            </a:pPr>
            <a:r>
              <a:rPr sz="1200" b="0" i="0">
                <a:solidFill>
                  <a:srgbClr val="CADCFC"/>
                </a:solidFill>
              </a:rPr>
              <a:t>Fase 2 · Sem. 4</a:t>
            </a:r>
          </a:p>
        </p:txBody>
      </p:sp>
      <p:sp>
        <p:nvSpPr>
          <p:cNvPr id="9" name="Fase 2 detalle"/>
          <p:cNvSpPr txBox="1"/>
          <p:nvPr/>
        </p:nvSpPr>
        <p:spPr>
          <a:xfrm>
            <a:off x="2789468"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Faltantes codificados, calidad del ingreso, atípicos, 15 pruebas de datos</a:t>
            </a:r>
          </a:p>
        </p:txBody>
      </p:sp>
      <p:sp>
        <p:nvSpPr>
          <p:cNvPr id="10" name="Fase 3"/>
          <p:cNvSpPr/>
          <p:nvPr/>
        </p:nvSpPr>
        <p:spPr>
          <a:xfrm>
            <a:off x="5030297"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Transformación</a:t>
            </a:r>
          </a:p>
          <a:p>
            <a:pPr algn="l">
              <a:spcAft>
                <a:spcPts val="0"/>
              </a:spcAft>
            </a:pPr>
            <a:r>
              <a:rPr sz="1200" b="0" i="0">
                <a:solidFill>
                  <a:srgbClr val="CADCFC"/>
                </a:solidFill>
              </a:rPr>
              <a:t>Fase 3 · Sem. 4 · 6 · 7</a:t>
            </a:r>
          </a:p>
        </p:txBody>
      </p:sp>
      <p:sp>
        <p:nvSpPr>
          <p:cNvPr id="11" name="Fase 3 detalle"/>
          <p:cNvSpPr txBox="1"/>
          <p:nvPr/>
        </p:nvSpPr>
        <p:spPr>
          <a:xfrm>
            <a:off x="5030297"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Variables derivadas, ETL, SQLite y MongoDB</a:t>
            </a:r>
          </a:p>
        </p:txBody>
      </p:sp>
      <p:sp>
        <p:nvSpPr>
          <p:cNvPr id="12" name="Fase 4"/>
          <p:cNvSpPr/>
          <p:nvPr/>
        </p:nvSpPr>
        <p:spPr>
          <a:xfrm>
            <a:off x="7271125"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Minería</a:t>
            </a:r>
          </a:p>
          <a:p>
            <a:pPr algn="l">
              <a:spcAft>
                <a:spcPts val="0"/>
              </a:spcAft>
            </a:pPr>
            <a:r>
              <a:rPr sz="1200" b="0" i="0">
                <a:solidFill>
                  <a:srgbClr val="CADCFC"/>
                </a:solidFill>
              </a:rPr>
              <a:t>Fase 4 · Sem. 2 · 3 · 5</a:t>
            </a:r>
          </a:p>
        </p:txBody>
      </p:sp>
      <p:sp>
        <p:nvSpPr>
          <p:cNvPr id="13" name="Fase 4 detalle"/>
          <p:cNvSpPr txBox="1"/>
          <p:nvPr/>
        </p:nvSpPr>
        <p:spPr>
          <a:xfrm>
            <a:off x="7271125"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Diseño muestral complejo, regresión, Oaxaca-Blinder</a:t>
            </a:r>
          </a:p>
        </p:txBody>
      </p:sp>
      <p:sp>
        <p:nvSpPr>
          <p:cNvPr id="14" name="Fase 5"/>
          <p:cNvSpPr/>
          <p:nvPr/>
        </p:nvSpPr>
        <p:spPr>
          <a:xfrm>
            <a:off x="9511954"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Interpretación</a:t>
            </a:r>
          </a:p>
          <a:p>
            <a:pPr algn="l">
              <a:spcAft>
                <a:spcPts val="0"/>
              </a:spcAft>
            </a:pPr>
            <a:r>
              <a:rPr sz="1200" b="0" i="0">
                <a:solidFill>
                  <a:srgbClr val="CADCFC"/>
                </a:solidFill>
              </a:rPr>
              <a:t>Fase 5 · Sem. 5</a:t>
            </a:r>
          </a:p>
        </p:txBody>
      </p:sp>
      <p:sp>
        <p:nvSpPr>
          <p:cNvPr id="15" name="Fase 5 detalle"/>
          <p:cNvSpPr txBox="1"/>
          <p:nvPr/>
        </p:nvSpPr>
        <p:spPr>
          <a:xfrm>
            <a:off x="9511954"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Hallazgos, recomendaciones y límites</a:t>
            </a:r>
          </a:p>
        </p:txBody>
      </p:sp>
      <p:sp>
        <p:nvSpPr>
          <p:cNvPr id="16" name="Dato 1"/>
          <p:cNvSpPr/>
          <p:nvPr/>
        </p:nvSpPr>
        <p:spPr>
          <a:xfrm>
            <a:off x="548640"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ato 1 texto"/>
          <p:cNvSpPr txBox="1"/>
          <p:nvPr/>
        </p:nvSpPr>
        <p:spPr>
          <a:xfrm>
            <a:off x="731520"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419,038</a:t>
            </a:r>
          </a:p>
          <a:p>
            <a:r>
              <a:rPr sz="1400" b="0" i="0">
                <a:solidFill>
                  <a:schemeClr val="tx1"/>
                </a:solidFill>
              </a:rPr>
              <a:t>registros de la tabla SDEMT</a:t>
            </a:r>
          </a:p>
        </p:txBody>
      </p:sp>
      <p:sp>
        <p:nvSpPr>
          <p:cNvPr id="18" name="Dato 2"/>
          <p:cNvSpPr/>
          <p:nvPr/>
        </p:nvSpPr>
        <p:spPr>
          <a:xfrm>
            <a:off x="3355848"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ato 2 texto"/>
          <p:cNvSpPr txBox="1"/>
          <p:nvPr/>
        </p:nvSpPr>
        <p:spPr>
          <a:xfrm>
            <a:off x="3538728"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111,958</a:t>
            </a:r>
          </a:p>
          <a:p>
            <a:r>
              <a:rPr sz="1400" b="0" i="0">
                <a:solidFill>
                  <a:schemeClr val="tx1"/>
                </a:solidFill>
              </a:rPr>
              <a:t>observaciones salariales</a:t>
            </a:r>
          </a:p>
        </p:txBody>
      </p:sp>
      <p:sp>
        <p:nvSpPr>
          <p:cNvPr id="20" name="Dato 3"/>
          <p:cNvSpPr/>
          <p:nvPr/>
        </p:nvSpPr>
        <p:spPr>
          <a:xfrm>
            <a:off x="6163055"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ato 3 texto"/>
          <p:cNvSpPr txBox="1"/>
          <p:nvPr/>
        </p:nvSpPr>
        <p:spPr>
          <a:xfrm>
            <a:off x="6345936"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21,194</a:t>
            </a:r>
          </a:p>
          <a:p>
            <a:r>
              <a:rPr sz="1400" b="0" i="0">
                <a:solidFill>
                  <a:schemeClr val="tx1"/>
                </a:solidFill>
              </a:rPr>
              <a:t>UPM en 713 estratos</a:t>
            </a:r>
          </a:p>
        </p:txBody>
      </p:sp>
      <p:sp>
        <p:nvSpPr>
          <p:cNvPr id="22" name="Dato 4"/>
          <p:cNvSpPr/>
          <p:nvPr/>
        </p:nvSpPr>
        <p:spPr>
          <a:xfrm>
            <a:off x="8970263"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ato 4 texto"/>
          <p:cNvSpPr txBox="1"/>
          <p:nvPr/>
        </p:nvSpPr>
        <p:spPr>
          <a:xfrm>
            <a:off x="9153143"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7 de 7</a:t>
            </a:r>
          </a:p>
          <a:p>
            <a:r>
              <a:rPr sz="1400" b="0" i="0">
                <a:solidFill>
                  <a:schemeClr val="tx1"/>
                </a:solidFill>
              </a:rPr>
              <a:t>cifras oficiales reproducidas</a:t>
            </a:r>
          </a:p>
        </p:txBody>
      </p:sp>
      <p:sp>
        <p:nvSpPr>
          <p:cNvPr id="24"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ENOE: la encuesta que mide el mercado laboral de México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6</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B · DATOS Y DISEÑO MUESTRAL  ·  JUAN EVELIO</a:t>
            </a:r>
          </a:p>
        </p:txBody>
      </p:sp>
      <p:sp>
        <p:nvSpPr>
          <p:cNvPr id="6" name="Qué es la ENOE"/>
          <p:cNvSpPr/>
          <p:nvPr/>
        </p:nvSpPr>
        <p:spPr>
          <a:xfrm>
            <a:off x="548640" y="1508760"/>
            <a:ext cx="5074920" cy="33375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Qué es la ENOE texto"/>
          <p:cNvSpPr txBox="1"/>
          <p:nvPr/>
        </p:nvSpPr>
        <p:spPr>
          <a:xfrm>
            <a:off x="749808" y="1618488"/>
            <a:ext cx="4672583" cy="3118104"/>
          </a:xfrm>
          <a:prstGeom prst="rect">
            <a:avLst/>
          </a:prstGeom>
          <a:noFill/>
        </p:spPr>
        <p:txBody>
          <a:bodyPr wrap="square" lIns="0" rIns="0" tIns="0" bIns="0" anchor="ctr">
            <a:spAutoFit/>
          </a:bodyPr>
          <a:lstStyle/>
          <a:p>
            <a:pPr algn="l">
              <a:spcAft>
                <a:spcPts val="800"/>
              </a:spcAft>
            </a:pPr>
            <a:r>
              <a:rPr sz="1800" b="1" i="0">
                <a:solidFill>
                  <a:schemeClr val="tx2"/>
                </a:solidFill>
              </a:rPr>
              <a:t>Qué es</a:t>
            </a:r>
          </a:p>
          <a:p>
            <a:pPr algn="l" marL="228600" indent="-228600">
              <a:spcAft>
                <a:spcPts val="800"/>
              </a:spcAft>
              <a:buChar char="•"/>
            </a:pPr>
            <a:r>
              <a:rPr sz="1500" b="0" i="0">
                <a:solidFill>
                  <a:schemeClr val="tx1"/>
                </a:solidFill>
              </a:rPr>
              <a:t>Encuesta continua del INEGI en viviendas de todo el país</a:t>
            </a:r>
          </a:p>
          <a:p>
            <a:pPr algn="l" marL="228600" indent="-228600">
              <a:spcAft>
                <a:spcPts val="800"/>
              </a:spcAft>
              <a:buChar char="•"/>
            </a:pPr>
            <a:r>
              <a:rPr sz="1500" b="0" i="0">
                <a:solidFill>
                  <a:schemeClr val="tx1"/>
                </a:solidFill>
              </a:rPr>
              <a:t>Panel rotativo: cada vivienda se entrevista hasta 5 veces seguidas</a:t>
            </a:r>
          </a:p>
          <a:p>
            <a:pPr algn="l" marL="228600" indent="-228600">
              <a:spcAft>
                <a:spcPts val="800"/>
              </a:spcAft>
              <a:buChar char="•"/>
            </a:pPr>
            <a:r>
              <a:rPr sz="1500" b="0" i="0">
                <a:solidFill>
                  <a:schemeClr val="tx1"/>
                </a:solidFill>
              </a:rPr>
              <a:t>Microdatos públicos y anonimizados, en 5 tablas CSV (latin-1)</a:t>
            </a:r>
          </a:p>
          <a:p>
            <a:pPr algn="l" marL="228600" indent="-228600">
              <a:spcAft>
                <a:spcPts val="800"/>
              </a:spcAft>
              <a:buChar char="•"/>
            </a:pPr>
            <a:r>
              <a:rPr sz="1500" b="0" i="0">
                <a:solidFill>
                  <a:schemeClr val="tx1"/>
                </a:solidFill>
              </a:rPr>
              <a:t>Cada fila de SDEMT es una persona; fac_tri dice a cuántas personas representa</a:t>
            </a:r>
          </a:p>
        </p:txBody>
      </p:sp>
      <p:graphicFrame>
        <p:nvGraphicFramePr>
          <p:cNvPr id="8" name="Tablas de la ENOE"/>
          <p:cNvGraphicFramePr>
            <a:graphicFrameLocks noGrp="1"/>
          </p:cNvGraphicFramePr>
          <p:nvPr/>
        </p:nvGraphicFramePr>
        <p:xfrm>
          <a:off x="5806440" y="1508760"/>
          <a:ext cx="5833872" cy="3291840"/>
        </p:xfrm>
        <a:graphic>
          <a:graphicData uri="http://schemas.openxmlformats.org/drawingml/2006/table">
            <a:tbl>
              <a:tblPr firstRow="1" bandRow="1">
                <a:tableStyleId>{5C22544A-7EE6-4342-B048-85BDC9FD1C3A}</a:tableStyleId>
              </a:tblPr>
              <a:tblGrid>
                <a:gridCol w="914400"/>
                <a:gridCol w="3246120"/>
                <a:gridCol w="1673352"/>
              </a:tblGrid>
              <a:tr h="548640">
                <a:tc>
                  <a:txBody>
                    <a:bodyPr/>
                    <a:lstStyle/>
                    <a:p>
                      <a:pPr algn="l"/>
                      <a:r>
                        <a:rPr sz="1300" b="1" i="0">
                          <a:solidFill>
                            <a:schemeClr val="bg1"/>
                          </a:solidFill>
                        </a:rPr>
                        <a:t>Tabla</a:t>
                      </a:r>
                    </a:p>
                  </a:txBody>
                  <a:tcPr anchor="ctr">
                    <a:solidFill>
                      <a:schemeClr val="tx2"/>
                    </a:solidFill>
                  </a:tcPr>
                </a:tc>
                <a:tc>
                  <a:txBody>
                    <a:bodyPr/>
                    <a:lstStyle/>
                    <a:p>
                      <a:pPr algn="l"/>
                      <a:r>
                        <a:rPr sz="1300" b="1" i="0">
                          <a:solidFill>
                            <a:schemeClr val="bg1"/>
                          </a:solidFill>
                        </a:rPr>
                        <a:t>Contenido</a:t>
                      </a:r>
                    </a:p>
                  </a:txBody>
                  <a:tcPr anchor="ctr">
                    <a:solidFill>
                      <a:schemeClr val="tx2"/>
                    </a:solidFill>
                  </a:tcPr>
                </a:tc>
                <a:tc>
                  <a:txBody>
                    <a:bodyPr/>
                    <a:lstStyle/>
                    <a:p>
                      <a:pPr algn="l"/>
                      <a:r>
                        <a:rPr sz="1300" b="1" i="0">
                          <a:solidFill>
                            <a:schemeClr val="bg1"/>
                          </a:solidFill>
                        </a:rPr>
                        <a:t>¿Se usa?</a:t>
                      </a:r>
                    </a:p>
                  </a:txBody>
                  <a:tcPr anchor="ctr">
                    <a:solidFill>
                      <a:schemeClr val="tx2"/>
                    </a:solidFill>
                  </a:tcPr>
                </a:tc>
              </a:tr>
              <a:tr h="548640">
                <a:tc>
                  <a:txBody>
                    <a:bodyPr wrap="square"/>
                    <a:lstStyle/>
                    <a:p>
                      <a:pPr algn="l"/>
                      <a:r>
                        <a:rPr sz="1300" b="1" i="0">
                          <a:solidFill>
                            <a:schemeClr val="tx1"/>
                          </a:solidFill>
                        </a:rPr>
                        <a:t>SDEMT</a:t>
                      </a:r>
                    </a:p>
                  </a:txBody>
                  <a:tcPr anchor="ctr" marL="73152" marR="73152">
                    <a:solidFill>
                      <a:schemeClr val="bg1"/>
                    </a:solidFill>
                  </a:tcPr>
                </a:tc>
                <a:tc>
                  <a:txBody>
                    <a:bodyPr wrap="square"/>
                    <a:lstStyle/>
                    <a:p>
                      <a:pPr algn="l"/>
                      <a:r>
                        <a:rPr sz="1300" b="1" i="0">
                          <a:solidFill>
                            <a:schemeClr val="tx1"/>
                          </a:solidFill>
                        </a:rPr>
                        <a:t>Sociodemográfica y laboral: una fila por persona</a:t>
                      </a:r>
                    </a:p>
                  </a:txBody>
                  <a:tcPr anchor="ctr" marL="73152" marR="73152">
                    <a:solidFill>
                      <a:schemeClr val="bg1"/>
                    </a:solidFill>
                  </a:tcPr>
                </a:tc>
                <a:tc>
                  <a:txBody>
                    <a:bodyPr wrap="square"/>
                    <a:lstStyle/>
                    <a:p>
                      <a:pPr algn="l"/>
                      <a:r>
                        <a:rPr sz="1300" b="1" i="0">
                          <a:solidFill>
                            <a:schemeClr val="tx1"/>
                          </a:solidFill>
                        </a:rPr>
                        <a:t>Sí · 35 de 115 columnas</a:t>
                      </a:r>
                    </a:p>
                  </a:txBody>
                  <a:tcPr anchor="ctr" marL="73152" marR="73152">
                    <a:solidFill>
                      <a:schemeClr val="bg1"/>
                    </a:solidFill>
                  </a:tcPr>
                </a:tc>
              </a:tr>
              <a:tr h="548640">
                <a:tc>
                  <a:txBody>
                    <a:bodyPr wrap="square"/>
                    <a:lstStyle/>
                    <a:p>
                      <a:pPr algn="l"/>
                      <a:r>
                        <a:rPr sz="1300" b="1" i="0">
                          <a:solidFill>
                            <a:schemeClr val="tx1"/>
                          </a:solidFill>
                        </a:rPr>
                        <a:t>COE2T</a:t>
                      </a:r>
                    </a:p>
                  </a:txBody>
                  <a:tcPr anchor="ctr" marL="73152" marR="73152">
                    <a:solidFill>
                      <a:schemeClr val="bg2"/>
                    </a:solidFill>
                  </a:tcPr>
                </a:tc>
                <a:tc>
                  <a:txBody>
                    <a:bodyPr wrap="square"/>
                    <a:lstStyle/>
                    <a:p>
                      <a:pPr algn="l"/>
                      <a:r>
                        <a:rPr sz="1300" b="1" i="0">
                          <a:solidFill>
                            <a:schemeClr val="tx1"/>
                          </a:solidFill>
                        </a:rPr>
                        <a:t>Ocupación y empleo (parte 2): captación del ingreso</a:t>
                      </a:r>
                    </a:p>
                  </a:txBody>
                  <a:tcPr anchor="ctr" marL="73152" marR="73152">
                    <a:solidFill>
                      <a:schemeClr val="bg2"/>
                    </a:solidFill>
                  </a:tcPr>
                </a:tc>
                <a:tc>
                  <a:txBody>
                    <a:bodyPr wrap="square"/>
                    <a:lstStyle/>
                    <a:p>
                      <a:pPr algn="l"/>
                      <a:r>
                        <a:rPr sz="1300" b="1" i="0">
                          <a:solidFill>
                            <a:schemeClr val="tx1"/>
                          </a:solidFill>
                        </a:rPr>
                        <a:t>Sí · 14 columnas</a:t>
                      </a:r>
                    </a:p>
                  </a:txBody>
                  <a:tcPr anchor="ctr" marL="73152" marR="73152">
                    <a:solidFill>
                      <a:schemeClr val="bg2"/>
                    </a:solidFill>
                  </a:tcPr>
                </a:tc>
              </a:tr>
              <a:tr h="548640">
                <a:tc>
                  <a:txBody>
                    <a:bodyPr wrap="square"/>
                    <a:lstStyle/>
                    <a:p>
                      <a:pPr algn="l"/>
                      <a:r>
                        <a:rPr sz="1300" b="1" i="0">
                          <a:solidFill>
                            <a:schemeClr val="tx1"/>
                          </a:solidFill>
                        </a:rPr>
                        <a:t>COE1T</a:t>
                      </a:r>
                    </a:p>
                  </a:txBody>
                  <a:tcPr anchor="ctr" marL="73152" marR="73152">
                    <a:solidFill>
                      <a:schemeClr val="bg1"/>
                    </a:solidFill>
                  </a:tcPr>
                </a:tc>
                <a:tc>
                  <a:txBody>
                    <a:bodyPr wrap="square"/>
                    <a:lstStyle/>
                    <a:p>
                      <a:pPr algn="l"/>
                      <a:r>
                        <a:rPr sz="1300" b="0" i="0">
                          <a:solidFill>
                            <a:schemeClr val="tx1"/>
                          </a:solidFill>
                        </a:rPr>
                        <a:t>Ocupación y empleo (parte 1)</a:t>
                      </a:r>
                    </a:p>
                  </a:txBody>
                  <a:tcPr anchor="ctr" marL="73152" marR="73152">
                    <a:solidFill>
                      <a:schemeClr val="bg1"/>
                    </a:solidFill>
                  </a:tcPr>
                </a:tc>
                <a:tc>
                  <a:txBody>
                    <a:bodyPr wrap="square"/>
                    <a:lstStyle/>
                    <a:p>
                      <a:pPr algn="l"/>
                      <a:r>
                        <a:rPr sz="1300" b="0" i="0">
                          <a:solidFill>
                            <a:schemeClr val="tx1"/>
                          </a:solidFill>
                        </a:rPr>
                        <a:t>No</a:t>
                      </a:r>
                    </a:p>
                  </a:txBody>
                  <a:tcPr anchor="ctr" marL="73152" marR="73152">
                    <a:solidFill>
                      <a:schemeClr val="bg1"/>
                    </a:solidFill>
                  </a:tcPr>
                </a:tc>
              </a:tr>
              <a:tr h="548640">
                <a:tc>
                  <a:txBody>
                    <a:bodyPr wrap="square"/>
                    <a:lstStyle/>
                    <a:p>
                      <a:pPr algn="l"/>
                      <a:r>
                        <a:rPr sz="1300" b="1" i="0">
                          <a:solidFill>
                            <a:schemeClr val="tx1"/>
                          </a:solidFill>
                        </a:rPr>
                        <a:t>HOGT</a:t>
                      </a:r>
                    </a:p>
                  </a:txBody>
                  <a:tcPr anchor="ctr" marL="73152" marR="73152">
                    <a:solidFill>
                      <a:schemeClr val="bg2"/>
                    </a:solidFill>
                  </a:tcPr>
                </a:tc>
                <a:tc>
                  <a:txBody>
                    <a:bodyPr wrap="square"/>
                    <a:lstStyle/>
                    <a:p>
                      <a:pPr algn="l"/>
                      <a:r>
                        <a:rPr sz="1300" b="0" i="0">
                          <a:solidFill>
                            <a:schemeClr val="tx1"/>
                          </a:solidFill>
                        </a:rPr>
                        <a:t>Hogares</a:t>
                      </a:r>
                    </a:p>
                  </a:txBody>
                  <a:tcPr anchor="ctr" marL="73152" marR="73152">
                    <a:solidFill>
                      <a:schemeClr val="bg2"/>
                    </a:solidFill>
                  </a:tcPr>
                </a:tc>
                <a:tc>
                  <a:txBody>
                    <a:bodyPr wrap="square"/>
                    <a:lstStyle/>
                    <a:p>
                      <a:pPr algn="l"/>
                      <a:r>
                        <a:rPr sz="1300" b="0" i="0">
                          <a:solidFill>
                            <a:schemeClr val="tx1"/>
                          </a:solidFill>
                        </a:rPr>
                        <a:t>No</a:t>
                      </a:r>
                    </a:p>
                  </a:txBody>
                  <a:tcPr anchor="ctr" marL="73152" marR="73152">
                    <a:solidFill>
                      <a:schemeClr val="bg2"/>
                    </a:solidFill>
                  </a:tcPr>
                </a:tc>
              </a:tr>
              <a:tr h="548640">
                <a:tc>
                  <a:txBody>
                    <a:bodyPr wrap="square"/>
                    <a:lstStyle/>
                    <a:p>
                      <a:pPr algn="l"/>
                      <a:r>
                        <a:rPr sz="1300" b="1" i="0">
                          <a:solidFill>
                            <a:schemeClr val="tx1"/>
                          </a:solidFill>
                        </a:rPr>
                        <a:t>VIVT</a:t>
                      </a:r>
                    </a:p>
                  </a:txBody>
                  <a:tcPr anchor="ctr" marL="73152" marR="73152">
                    <a:solidFill>
                      <a:schemeClr val="bg1"/>
                    </a:solidFill>
                  </a:tcPr>
                </a:tc>
                <a:tc>
                  <a:txBody>
                    <a:bodyPr wrap="square"/>
                    <a:lstStyle/>
                    <a:p>
                      <a:pPr algn="l"/>
                      <a:r>
                        <a:rPr sz="1300" b="0" i="0">
                          <a:solidFill>
                            <a:schemeClr val="tx1"/>
                          </a:solidFill>
                        </a:rPr>
                        <a:t>Viviendas</a:t>
                      </a:r>
                    </a:p>
                  </a:txBody>
                  <a:tcPr anchor="ctr" marL="73152" marR="73152">
                    <a:solidFill>
                      <a:schemeClr val="bg1"/>
                    </a:solidFill>
                  </a:tcPr>
                </a:tc>
                <a:tc>
                  <a:txBody>
                    <a:bodyPr wrap="square"/>
                    <a:lstStyle/>
                    <a:p>
                      <a:pPr algn="l"/>
                      <a:r>
                        <a:rPr sz="1300" b="0" i="0">
                          <a:solidFill>
                            <a:schemeClr val="tx1"/>
                          </a:solidFill>
                        </a:rPr>
                        <a:t>No</a:t>
                      </a:r>
                    </a:p>
                  </a:txBody>
                  <a:tcPr anchor="ctr" marL="73152" marR="73152">
                    <a:solidFill>
                      <a:schemeClr val="bg1"/>
                    </a:solidFill>
                  </a:tcPr>
                </a:tc>
              </a:tr>
            </a:tbl>
          </a:graphicData>
        </a:graphic>
      </p:graphicFrame>
      <p:sp>
        <p:nvSpPr>
          <p:cNvPr id="9" name="Dato 1"/>
          <p:cNvSpPr/>
          <p:nvPr/>
        </p:nvSpPr>
        <p:spPr>
          <a:xfrm>
            <a:off x="548640" y="5029200"/>
            <a:ext cx="361188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Dato 1 texto"/>
          <p:cNvSpPr txBox="1"/>
          <p:nvPr/>
        </p:nvSpPr>
        <p:spPr>
          <a:xfrm>
            <a:off x="731520" y="5120640"/>
            <a:ext cx="3246120" cy="1005840"/>
          </a:xfrm>
          <a:prstGeom prst="rect">
            <a:avLst/>
          </a:prstGeom>
          <a:noFill/>
        </p:spPr>
        <p:txBody>
          <a:bodyPr wrap="square" lIns="0" rIns="0" tIns="0" bIns="0" anchor="ctr">
            <a:spAutoFit/>
          </a:bodyPr>
          <a:lstStyle/>
          <a:p>
            <a:pPr algn="l">
              <a:spcAft>
                <a:spcPts val="0"/>
              </a:spcAft>
            </a:pPr>
            <a:r>
              <a:rPr sz="3400" b="1" i="0">
                <a:solidFill>
                  <a:schemeClr val="tx2"/>
                </a:solidFill>
              </a:rPr>
              <a:t>419,038</a:t>
            </a:r>
          </a:p>
          <a:p>
            <a:r>
              <a:rPr sz="1400" b="0" i="0">
                <a:solidFill>
                  <a:schemeClr val="tx1"/>
                </a:solidFill>
              </a:rPr>
              <a:t>personas en SDEMT</a:t>
            </a:r>
          </a:p>
        </p:txBody>
      </p:sp>
      <p:sp>
        <p:nvSpPr>
          <p:cNvPr id="11" name="Dato 2"/>
          <p:cNvSpPr/>
          <p:nvPr/>
        </p:nvSpPr>
        <p:spPr>
          <a:xfrm>
            <a:off x="4297679" y="5029200"/>
            <a:ext cx="361188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ato 2 texto"/>
          <p:cNvSpPr txBox="1"/>
          <p:nvPr/>
        </p:nvSpPr>
        <p:spPr>
          <a:xfrm>
            <a:off x="4480559" y="5120640"/>
            <a:ext cx="3246120" cy="1005840"/>
          </a:xfrm>
          <a:prstGeom prst="rect">
            <a:avLst/>
          </a:prstGeom>
          <a:noFill/>
        </p:spPr>
        <p:txBody>
          <a:bodyPr wrap="square" lIns="0" rIns="0" tIns="0" bIns="0" anchor="ctr">
            <a:spAutoFit/>
          </a:bodyPr>
          <a:lstStyle/>
          <a:p>
            <a:pPr algn="l">
              <a:spcAft>
                <a:spcPts val="0"/>
              </a:spcAft>
            </a:pPr>
            <a:r>
              <a:rPr sz="3400" b="1" i="0">
                <a:solidFill>
                  <a:schemeClr val="tx2"/>
                </a:solidFill>
              </a:rPr>
              <a:t>344,166</a:t>
            </a:r>
          </a:p>
          <a:p>
            <a:r>
              <a:rPr sz="1400" b="0" i="0">
                <a:solidFill>
                  <a:schemeClr val="tx1"/>
                </a:solidFill>
              </a:rPr>
              <a:t>filas en COE2T</a:t>
            </a:r>
          </a:p>
        </p:txBody>
      </p:sp>
      <p:sp>
        <p:nvSpPr>
          <p:cNvPr id="13" name="Dato 3"/>
          <p:cNvSpPr/>
          <p:nvPr/>
        </p:nvSpPr>
        <p:spPr>
          <a:xfrm>
            <a:off x="8046719" y="5029200"/>
            <a:ext cx="361188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Dato 3 texto"/>
          <p:cNvSpPr txBox="1"/>
          <p:nvPr/>
        </p:nvSpPr>
        <p:spPr>
          <a:xfrm>
            <a:off x="8229599" y="5120640"/>
            <a:ext cx="3246120" cy="1005840"/>
          </a:xfrm>
          <a:prstGeom prst="rect">
            <a:avLst/>
          </a:prstGeom>
          <a:noFill/>
        </p:spPr>
        <p:txBody>
          <a:bodyPr wrap="square" lIns="0" rIns="0" tIns="0" bIns="0" anchor="ctr">
            <a:spAutoFit/>
          </a:bodyPr>
          <a:lstStyle/>
          <a:p>
            <a:pPr algn="l">
              <a:spcAft>
                <a:spcPts val="0"/>
              </a:spcAft>
            </a:pPr>
            <a:r>
              <a:rPr sz="3400" b="1" i="0">
                <a:solidFill>
                  <a:schemeClr val="tx2"/>
                </a:solidFill>
              </a:rPr>
              <a:t>190,187</a:t>
            </a:r>
          </a:p>
          <a:p>
            <a:r>
              <a:rPr sz="1400" b="0" i="0">
                <a:solidFill>
                  <a:schemeClr val="tx1"/>
                </a:solidFill>
              </a:rPr>
              <a:t>ocupados unidos 1 a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El diseño muestral: por qué cada persona pesa distinto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7</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B · DATOS Y DISEÑO MUESTRAL  ·  JUAN EVELIO</a:t>
            </a:r>
          </a:p>
        </p:txBody>
      </p:sp>
      <p:pic>
        <p:nvPicPr>
          <p:cNvPr id="6" name="D04_diseno_muestral.png" descr="Diagrama de los niveles del diseño muestral: estrato, unidad primaria de muestreo, vivienda y persona, y el significado del factor de expansión"/>
          <p:cNvPicPr>
            <a:picLocks noChangeAspect="1"/>
          </p:cNvPicPr>
          <p:nvPr/>
        </p:nvPicPr>
        <p:blipFill>
          <a:blip r:embed="rId3"/>
          <a:stretch>
            <a:fillRect/>
          </a:stretch>
        </p:blipFill>
        <p:spPr>
          <a:xfrm>
            <a:off x="548640" y="1525619"/>
            <a:ext cx="7772400" cy="3157537"/>
          </a:xfrm>
          <a:prstGeom prst="rect">
            <a:avLst/>
          </a:prstGeom>
        </p:spPr>
      </p:pic>
      <p:sp>
        <p:nvSpPr>
          <p:cNvPr id="7" name="Estratos"/>
          <p:cNvSpPr/>
          <p:nvPr/>
        </p:nvSpPr>
        <p:spPr>
          <a:xfrm>
            <a:off x="8549640" y="1508760"/>
            <a:ext cx="3090672" cy="9601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tratos texto"/>
          <p:cNvSpPr txBox="1"/>
          <p:nvPr/>
        </p:nvSpPr>
        <p:spPr>
          <a:xfrm>
            <a:off x="8732519" y="1600200"/>
            <a:ext cx="2724912" cy="777240"/>
          </a:xfrm>
          <a:prstGeom prst="rect">
            <a:avLst/>
          </a:prstGeom>
          <a:noFill/>
        </p:spPr>
        <p:txBody>
          <a:bodyPr wrap="square" lIns="0" rIns="0" tIns="0" bIns="0" anchor="ctr">
            <a:spAutoFit/>
          </a:bodyPr>
          <a:lstStyle/>
          <a:p>
            <a:pPr algn="l">
              <a:spcAft>
                <a:spcPts val="0"/>
              </a:spcAft>
            </a:pPr>
            <a:r>
              <a:rPr sz="2800" b="1" i="0">
                <a:solidFill>
                  <a:schemeClr val="tx2"/>
                </a:solidFill>
              </a:rPr>
              <a:t>724 → 713</a:t>
            </a:r>
          </a:p>
          <a:p>
            <a:r>
              <a:rPr sz="1300" b="0" i="0">
                <a:solidFill>
                  <a:schemeClr val="tx1"/>
                </a:solidFill>
              </a:rPr>
              <a:t>estratos (11 fusionados)</a:t>
            </a:r>
          </a:p>
        </p:txBody>
      </p:sp>
      <p:sp>
        <p:nvSpPr>
          <p:cNvPr id="9" name="UPM"/>
          <p:cNvSpPr/>
          <p:nvPr/>
        </p:nvSpPr>
        <p:spPr>
          <a:xfrm>
            <a:off x="8549640" y="2606040"/>
            <a:ext cx="3090672" cy="9601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UPM texto"/>
          <p:cNvSpPr txBox="1"/>
          <p:nvPr/>
        </p:nvSpPr>
        <p:spPr>
          <a:xfrm>
            <a:off x="8732519" y="2697480"/>
            <a:ext cx="2724912" cy="777240"/>
          </a:xfrm>
          <a:prstGeom prst="rect">
            <a:avLst/>
          </a:prstGeom>
          <a:noFill/>
        </p:spPr>
        <p:txBody>
          <a:bodyPr wrap="square" lIns="0" rIns="0" tIns="0" bIns="0" anchor="ctr">
            <a:spAutoFit/>
          </a:bodyPr>
          <a:lstStyle/>
          <a:p>
            <a:pPr algn="l">
              <a:spcAft>
                <a:spcPts val="0"/>
              </a:spcAft>
            </a:pPr>
            <a:r>
              <a:rPr sz="2800" b="1" i="0">
                <a:solidFill>
                  <a:schemeClr val="tx2"/>
                </a:solidFill>
              </a:rPr>
              <a:t>21,194</a:t>
            </a:r>
          </a:p>
          <a:p>
            <a:r>
              <a:rPr sz="1300" b="0" i="0">
                <a:solidFill>
                  <a:schemeClr val="tx1"/>
                </a:solidFill>
              </a:rPr>
              <a:t>unidades primarias de muestreo</a:t>
            </a:r>
          </a:p>
        </p:txBody>
      </p:sp>
      <p:sp>
        <p:nvSpPr>
          <p:cNvPr id="11" name="Factor de expansión"/>
          <p:cNvSpPr/>
          <p:nvPr/>
        </p:nvSpPr>
        <p:spPr>
          <a:xfrm>
            <a:off x="8549640" y="3703320"/>
            <a:ext cx="3090672" cy="9601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actor de expansión texto"/>
          <p:cNvSpPr txBox="1"/>
          <p:nvPr/>
        </p:nvSpPr>
        <p:spPr>
          <a:xfrm>
            <a:off x="8732519" y="3794759"/>
            <a:ext cx="2724912" cy="777240"/>
          </a:xfrm>
          <a:prstGeom prst="rect">
            <a:avLst/>
          </a:prstGeom>
          <a:noFill/>
        </p:spPr>
        <p:txBody>
          <a:bodyPr wrap="square" lIns="0" rIns="0" tIns="0" bIns="0" anchor="ctr">
            <a:spAutoFit/>
          </a:bodyPr>
          <a:lstStyle/>
          <a:p>
            <a:pPr algn="l">
              <a:spcAft>
                <a:spcPts val="0"/>
              </a:spcAft>
            </a:pPr>
            <a:r>
              <a:rPr sz="2800" b="1" i="0">
                <a:solidFill>
                  <a:schemeClr val="tx2"/>
                </a:solidFill>
              </a:rPr>
              <a:t>131.0 M</a:t>
            </a:r>
          </a:p>
          <a:p>
            <a:r>
              <a:rPr sz="1300" b="0" i="0">
                <a:solidFill>
                  <a:schemeClr val="tx1"/>
                </a:solidFill>
              </a:rPr>
              <a:t>suma de fac_tri = población del país</a:t>
            </a:r>
          </a:p>
        </p:txBody>
      </p:sp>
      <p:sp>
        <p:nvSpPr>
          <p:cNvPr id="13" name="Ponderar"/>
          <p:cNvSpPr/>
          <p:nvPr/>
        </p:nvSpPr>
        <p:spPr>
          <a:xfrm>
            <a:off x="548640" y="4892040"/>
            <a:ext cx="5486400"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onderar texto"/>
          <p:cNvSpPr txBox="1"/>
          <p:nvPr/>
        </p:nvSpPr>
        <p:spPr>
          <a:xfrm>
            <a:off x="749808" y="5001768"/>
            <a:ext cx="5084064" cy="1106424"/>
          </a:xfrm>
          <a:prstGeom prst="rect">
            <a:avLst/>
          </a:prstGeom>
          <a:noFill/>
        </p:spPr>
        <p:txBody>
          <a:bodyPr wrap="square" lIns="0" rIns="0" tIns="0" bIns="0" anchor="ctr">
            <a:spAutoFit/>
          </a:bodyPr>
          <a:lstStyle/>
          <a:p>
            <a:pPr algn="l">
              <a:spcAft>
                <a:spcPts val="800"/>
              </a:spcAft>
            </a:pPr>
            <a:r>
              <a:rPr sz="1500" b="1" i="0">
                <a:solidFill>
                  <a:schemeClr val="tx2"/>
                </a:solidFill>
              </a:rPr>
              <a:t>Ponderar: </a:t>
            </a:r>
            <a:r>
              <a:rPr sz="1500" b="0" i="0">
                <a:solidFill>
                  <a:schemeClr val="tx1"/>
                </a:solidFill>
              </a:rPr>
              <a:t>un promedio sin ponderar describiría a la muestra, no al país.</a:t>
            </a:r>
          </a:p>
        </p:txBody>
      </p:sp>
      <p:sp>
        <p:nvSpPr>
          <p:cNvPr id="15" name="Efecto de diseño"/>
          <p:cNvSpPr/>
          <p:nvPr/>
        </p:nvSpPr>
        <p:spPr>
          <a:xfrm>
            <a:off x="6153912" y="4892040"/>
            <a:ext cx="5486400"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fecto de diseño texto"/>
          <p:cNvSpPr txBox="1"/>
          <p:nvPr/>
        </p:nvSpPr>
        <p:spPr>
          <a:xfrm>
            <a:off x="6355080" y="5001768"/>
            <a:ext cx="5084064" cy="1106424"/>
          </a:xfrm>
          <a:prstGeom prst="rect">
            <a:avLst/>
          </a:prstGeom>
          <a:noFill/>
        </p:spPr>
        <p:txBody>
          <a:bodyPr wrap="square" lIns="0" rIns="0" tIns="0" bIns="0" anchor="ctr">
            <a:spAutoFit/>
          </a:bodyPr>
          <a:lstStyle/>
          <a:p>
            <a:pPr algn="l">
              <a:spcAft>
                <a:spcPts val="800"/>
              </a:spcAft>
            </a:pPr>
            <a:r>
              <a:rPr sz="1500" b="1" i="0">
                <a:solidFill>
                  <a:schemeClr val="tx2"/>
                </a:solidFill>
              </a:rPr>
              <a:t>Efecto de diseño </a:t>
            </a:r>
            <a:r>
              <a:rPr sz="1500" b="1" i="0">
                <a:solidFill>
                  <a:schemeClr val="tx1"/>
                </a:solidFill>
              </a:rPr>
              <a:t>4.8: </a:t>
            </a:r>
            <a:r>
              <a:rPr sz="1500" b="0" i="0">
                <a:solidFill>
                  <a:schemeClr val="tx1"/>
                </a:solidFill>
              </a:rPr>
              <a:t>190 mil ocupados equivalen a unos 40 mil independientes.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Los filtros y ponderadores reproducen las cifras oficiales del INEGI</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8</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B · DATOS Y DISEÑO MUESTRAL  ·  JUAN EVELIO</a:t>
            </a:r>
          </a:p>
        </p:txBody>
      </p:sp>
      <p:graphicFrame>
        <p:nvGraphicFramePr>
          <p:cNvPr id="6" name="Table 5"/>
          <p:cNvGraphicFramePr>
            <a:graphicFrameLocks noGrp="1"/>
          </p:cNvGraphicFramePr>
          <p:nvPr/>
        </p:nvGraphicFramePr>
        <p:xfrm>
          <a:off x="548640" y="1600200"/>
          <a:ext cx="7406640" cy="3657600"/>
        </p:xfrm>
        <a:graphic>
          <a:graphicData uri="http://schemas.openxmlformats.org/drawingml/2006/table">
            <a:tbl>
              <a:tblPr firstRow="1" bandRow="1">
                <a:tableStyleId>{5C22544A-7EE6-4342-B048-85BDC9FD1C3A}</a:tableStyleId>
              </a:tblPr>
              <a:tblGrid>
                <a:gridCol w="3474720"/>
                <a:gridCol w="1371600"/>
                <a:gridCol w="1188720"/>
                <a:gridCol w="1371600"/>
              </a:tblGrid>
              <a:tr h="457200">
                <a:tc>
                  <a:txBody>
                    <a:bodyPr/>
                    <a:lstStyle/>
                    <a:p>
                      <a:pPr algn="l"/>
                      <a:r>
                        <a:rPr sz="1400" b="1" i="0">
                          <a:solidFill>
                            <a:schemeClr val="bg1"/>
                          </a:solidFill>
                        </a:rPr>
                        <a:t>Indicador</a:t>
                      </a:r>
                    </a:p>
                  </a:txBody>
                  <a:tcPr>
                    <a:solidFill>
                      <a:schemeClr val="tx2"/>
                    </a:solidFill>
                  </a:tcPr>
                </a:tc>
                <a:tc>
                  <a:txBody>
                    <a:bodyPr/>
                    <a:lstStyle/>
                    <a:p>
                      <a:pPr algn="ctr"/>
                      <a:r>
                        <a:rPr sz="1400" b="1" i="0">
                          <a:solidFill>
                            <a:schemeClr val="bg1"/>
                          </a:solidFill>
                        </a:rPr>
                        <a:t>Proyecto</a:t>
                      </a:r>
                    </a:p>
                  </a:txBody>
                  <a:tcPr>
                    <a:solidFill>
                      <a:schemeClr val="tx2"/>
                    </a:solidFill>
                  </a:tcPr>
                </a:tc>
                <a:tc>
                  <a:txBody>
                    <a:bodyPr/>
                    <a:lstStyle/>
                    <a:p>
                      <a:pPr algn="ctr"/>
                      <a:r>
                        <a:rPr sz="1400" b="1" i="0">
                          <a:solidFill>
                            <a:schemeClr val="bg1"/>
                          </a:solidFill>
                        </a:rPr>
                        <a:t>INEGI</a:t>
                      </a:r>
                    </a:p>
                  </a:txBody>
                  <a:tcPr>
                    <a:solidFill>
                      <a:schemeClr val="tx2"/>
                    </a:solidFill>
                  </a:tcPr>
                </a:tc>
                <a:tc>
                  <a:txBody>
                    <a:bodyPr/>
                    <a:lstStyle/>
                    <a:p>
                      <a:pPr algn="ctr"/>
                      <a:r>
                        <a:rPr sz="1400" b="1" i="0">
                          <a:solidFill>
                            <a:schemeClr val="bg1"/>
                          </a:solidFill>
                        </a:rPr>
                        <a:t>¿Coincide?</a:t>
                      </a:r>
                    </a:p>
                  </a:txBody>
                  <a:tcPr>
                    <a:solidFill>
                      <a:schemeClr val="tx2"/>
                    </a:solidFill>
                  </a:tcPr>
                </a:tc>
              </a:tr>
              <a:tr h="457200">
                <a:tc>
                  <a:txBody>
                    <a:bodyPr/>
                    <a:lstStyle/>
                    <a:p>
                      <a:pPr algn="l"/>
                      <a:r>
                        <a:rPr sz="1400" b="0" i="0">
                          <a:solidFill>
                            <a:schemeClr val="tx1"/>
                          </a:solidFill>
                        </a:rPr>
                        <a:t>PEA (millones)</a:t>
                      </a:r>
                    </a:p>
                  </a:txBody>
                  <a:tcPr anchor="ctr">
                    <a:solidFill>
                      <a:schemeClr val="bg1"/>
                    </a:solidFill>
                  </a:tcPr>
                </a:tc>
                <a:tc>
                  <a:txBody>
                    <a:bodyPr/>
                    <a:lstStyle/>
                    <a:p>
                      <a:pPr algn="ctr"/>
                      <a:r>
                        <a:rPr sz="1400" b="0" i="0">
                          <a:solidFill>
                            <a:schemeClr val="tx1"/>
                          </a:solidFill>
                        </a:rPr>
                        <a:t>61.35</a:t>
                      </a:r>
                    </a:p>
                  </a:txBody>
                  <a:tcPr anchor="ctr">
                    <a:solidFill>
                      <a:schemeClr val="bg1"/>
                    </a:solidFill>
                  </a:tcPr>
                </a:tc>
                <a:tc>
                  <a:txBody>
                    <a:bodyPr/>
                    <a:lstStyle/>
                    <a:p>
                      <a:pPr algn="ctr"/>
                      <a:r>
                        <a:rPr sz="1400" b="0" i="0">
                          <a:solidFill>
                            <a:schemeClr val="tx1"/>
                          </a:solidFill>
                        </a:rPr>
                        <a:t>61.3</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r h="457200">
                <a:tc>
                  <a:txBody>
                    <a:bodyPr/>
                    <a:lstStyle/>
                    <a:p>
                      <a:pPr algn="l"/>
                      <a:r>
                        <a:rPr sz="1400" b="0" i="0">
                          <a:solidFill>
                            <a:schemeClr val="tx1"/>
                          </a:solidFill>
                        </a:rPr>
                        <a:t>Tasa de participación (%)</a:t>
                      </a:r>
                    </a:p>
                  </a:txBody>
                  <a:tcPr anchor="ctr">
                    <a:solidFill>
                      <a:schemeClr val="bg2"/>
                    </a:solidFill>
                  </a:tcPr>
                </a:tc>
                <a:tc>
                  <a:txBody>
                    <a:bodyPr/>
                    <a:lstStyle/>
                    <a:p>
                      <a:pPr algn="ctr"/>
                      <a:r>
                        <a:rPr sz="1400" b="0" i="0">
                          <a:solidFill>
                            <a:schemeClr val="tx1"/>
                          </a:solidFill>
                        </a:rPr>
                        <a:t>59.28</a:t>
                      </a:r>
                    </a:p>
                  </a:txBody>
                  <a:tcPr anchor="ctr">
                    <a:solidFill>
                      <a:schemeClr val="bg2"/>
                    </a:solidFill>
                  </a:tcPr>
                </a:tc>
                <a:tc>
                  <a:txBody>
                    <a:bodyPr/>
                    <a:lstStyle/>
                    <a:p>
                      <a:pPr algn="ctr"/>
                      <a:r>
                        <a:rPr sz="1400" b="0" i="0">
                          <a:solidFill>
                            <a:schemeClr val="tx1"/>
                          </a:solidFill>
                        </a:rPr>
                        <a:t>59.3</a:t>
                      </a:r>
                    </a:p>
                  </a:txBody>
                  <a:tcPr anchor="ctr">
                    <a:solidFill>
                      <a:schemeClr val="bg2"/>
                    </a:solidFill>
                  </a:tcPr>
                </a:tc>
                <a:tc>
                  <a:txBody>
                    <a:bodyPr/>
                    <a:lstStyle/>
                    <a:p>
                      <a:pPr algn="ctr"/>
                      <a:r>
                        <a:rPr sz="1400" b="1" i="0">
                          <a:solidFill>
                            <a:schemeClr val="tx1"/>
                          </a:solidFill>
                        </a:rPr>
                        <a:t>Sí</a:t>
                      </a:r>
                    </a:p>
                  </a:txBody>
                  <a:tcPr anchor="ctr">
                    <a:solidFill>
                      <a:schemeClr val="bg2"/>
                    </a:solidFill>
                  </a:tcPr>
                </a:tc>
              </a:tr>
              <a:tr h="457200">
                <a:tc>
                  <a:txBody>
                    <a:bodyPr/>
                    <a:lstStyle/>
                    <a:p>
                      <a:pPr algn="l"/>
                      <a:r>
                        <a:rPr sz="1400" b="0" i="0">
                          <a:solidFill>
                            <a:schemeClr val="tx1"/>
                          </a:solidFill>
                        </a:rPr>
                        <a:t>Ocupación informal (millones)</a:t>
                      </a:r>
                    </a:p>
                  </a:txBody>
                  <a:tcPr anchor="ctr">
                    <a:solidFill>
                      <a:schemeClr val="bg1"/>
                    </a:solidFill>
                  </a:tcPr>
                </a:tc>
                <a:tc>
                  <a:txBody>
                    <a:bodyPr/>
                    <a:lstStyle/>
                    <a:p>
                      <a:pPr algn="ctr"/>
                      <a:r>
                        <a:rPr sz="1400" b="0" i="0">
                          <a:solidFill>
                            <a:schemeClr val="tx1"/>
                          </a:solidFill>
                        </a:rPr>
                        <a:t>32.88</a:t>
                      </a:r>
                    </a:p>
                  </a:txBody>
                  <a:tcPr anchor="ctr">
                    <a:solidFill>
                      <a:schemeClr val="bg1"/>
                    </a:solidFill>
                  </a:tcPr>
                </a:tc>
                <a:tc>
                  <a:txBody>
                    <a:bodyPr/>
                    <a:lstStyle/>
                    <a:p>
                      <a:pPr algn="ctr"/>
                      <a:r>
                        <a:rPr sz="1400" b="0" i="0">
                          <a:solidFill>
                            <a:schemeClr val="tx1"/>
                          </a:solidFill>
                        </a:rPr>
                        <a:t>32.9</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r h="457200">
                <a:tc>
                  <a:txBody>
                    <a:bodyPr/>
                    <a:lstStyle/>
                    <a:p>
                      <a:pPr algn="l"/>
                      <a:r>
                        <a:rPr sz="1400" b="0" i="0">
                          <a:solidFill>
                            <a:schemeClr val="tx1"/>
                          </a:solidFill>
                        </a:rPr>
                        <a:t>TIL1 nacional (%)</a:t>
                      </a:r>
                    </a:p>
                  </a:txBody>
                  <a:tcPr anchor="ctr">
                    <a:solidFill>
                      <a:schemeClr val="bg2"/>
                    </a:solidFill>
                  </a:tcPr>
                </a:tc>
                <a:tc>
                  <a:txBody>
                    <a:bodyPr/>
                    <a:lstStyle/>
                    <a:p>
                      <a:pPr algn="ctr"/>
                      <a:r>
                        <a:rPr sz="1400" b="0" i="0">
                          <a:solidFill>
                            <a:schemeClr val="tx1"/>
                          </a:solidFill>
                        </a:rPr>
                        <a:t>55.00</a:t>
                      </a:r>
                    </a:p>
                  </a:txBody>
                  <a:tcPr anchor="ctr">
                    <a:solidFill>
                      <a:schemeClr val="bg2"/>
                    </a:solidFill>
                  </a:tcPr>
                </a:tc>
                <a:tc>
                  <a:txBody>
                    <a:bodyPr/>
                    <a:lstStyle/>
                    <a:p>
                      <a:pPr algn="ctr"/>
                      <a:r>
                        <a:rPr sz="1400" b="0" i="0">
                          <a:solidFill>
                            <a:schemeClr val="tx1"/>
                          </a:solidFill>
                        </a:rPr>
                        <a:t>55.0</a:t>
                      </a:r>
                    </a:p>
                  </a:txBody>
                  <a:tcPr anchor="ctr">
                    <a:solidFill>
                      <a:schemeClr val="bg2"/>
                    </a:solidFill>
                  </a:tcPr>
                </a:tc>
                <a:tc>
                  <a:txBody>
                    <a:bodyPr/>
                    <a:lstStyle/>
                    <a:p>
                      <a:pPr algn="ctr"/>
                      <a:r>
                        <a:rPr sz="1400" b="1" i="0">
                          <a:solidFill>
                            <a:schemeClr val="tx1"/>
                          </a:solidFill>
                        </a:rPr>
                        <a:t>Sí</a:t>
                      </a:r>
                    </a:p>
                  </a:txBody>
                  <a:tcPr anchor="ctr">
                    <a:solidFill>
                      <a:schemeClr val="bg2"/>
                    </a:solidFill>
                  </a:tcPr>
                </a:tc>
              </a:tr>
              <a:tr h="457200">
                <a:tc>
                  <a:txBody>
                    <a:bodyPr/>
                    <a:lstStyle/>
                    <a:p>
                      <a:pPr algn="l"/>
                      <a:r>
                        <a:rPr sz="1400" b="0" i="0">
                          <a:solidFill>
                            <a:schemeClr val="tx1"/>
                          </a:solidFill>
                        </a:rPr>
                        <a:t>TIL1 Chiapas (%)</a:t>
                      </a:r>
                    </a:p>
                  </a:txBody>
                  <a:tcPr anchor="ctr">
                    <a:solidFill>
                      <a:schemeClr val="bg1"/>
                    </a:solidFill>
                  </a:tcPr>
                </a:tc>
                <a:tc>
                  <a:txBody>
                    <a:bodyPr/>
                    <a:lstStyle/>
                    <a:p>
                      <a:pPr algn="ctr"/>
                      <a:r>
                        <a:rPr sz="1400" b="0" i="0">
                          <a:solidFill>
                            <a:schemeClr val="tx1"/>
                          </a:solidFill>
                        </a:rPr>
                        <a:t>74.90</a:t>
                      </a:r>
                    </a:p>
                  </a:txBody>
                  <a:tcPr anchor="ctr">
                    <a:solidFill>
                      <a:schemeClr val="bg1"/>
                    </a:solidFill>
                  </a:tcPr>
                </a:tc>
                <a:tc>
                  <a:txBody>
                    <a:bodyPr/>
                    <a:lstStyle/>
                    <a:p>
                      <a:pPr algn="ctr"/>
                      <a:r>
                        <a:rPr sz="1400" b="0" i="0">
                          <a:solidFill>
                            <a:schemeClr val="tx1"/>
                          </a:solidFill>
                        </a:rPr>
                        <a:t>74.9</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r h="457200">
                <a:tc>
                  <a:txBody>
                    <a:bodyPr/>
                    <a:lstStyle/>
                    <a:p>
                      <a:pPr algn="l"/>
                      <a:r>
                        <a:rPr sz="1400" b="0" i="0">
                          <a:solidFill>
                            <a:schemeClr val="tx1"/>
                          </a:solidFill>
                        </a:rPr>
                        <a:t>TIL1 Chihuahua (%)</a:t>
                      </a:r>
                    </a:p>
                  </a:txBody>
                  <a:tcPr anchor="ctr">
                    <a:solidFill>
                      <a:schemeClr val="bg2"/>
                    </a:solidFill>
                  </a:tcPr>
                </a:tc>
                <a:tc>
                  <a:txBody>
                    <a:bodyPr/>
                    <a:lstStyle/>
                    <a:p>
                      <a:pPr algn="ctr"/>
                      <a:r>
                        <a:rPr sz="1400" b="0" i="0">
                          <a:solidFill>
                            <a:schemeClr val="tx1"/>
                          </a:solidFill>
                        </a:rPr>
                        <a:t>36.19</a:t>
                      </a:r>
                    </a:p>
                  </a:txBody>
                  <a:tcPr anchor="ctr">
                    <a:solidFill>
                      <a:schemeClr val="bg2"/>
                    </a:solidFill>
                  </a:tcPr>
                </a:tc>
                <a:tc>
                  <a:txBody>
                    <a:bodyPr/>
                    <a:lstStyle/>
                    <a:p>
                      <a:pPr algn="ctr"/>
                      <a:r>
                        <a:rPr sz="1400" b="0" i="0">
                          <a:solidFill>
                            <a:schemeClr val="tx1"/>
                          </a:solidFill>
                        </a:rPr>
                        <a:t>36.2</a:t>
                      </a:r>
                    </a:p>
                  </a:txBody>
                  <a:tcPr anchor="ctr">
                    <a:solidFill>
                      <a:schemeClr val="bg2"/>
                    </a:solidFill>
                  </a:tcPr>
                </a:tc>
                <a:tc>
                  <a:txBody>
                    <a:bodyPr/>
                    <a:lstStyle/>
                    <a:p>
                      <a:pPr algn="ctr"/>
                      <a:r>
                        <a:rPr sz="1400" b="1" i="0">
                          <a:solidFill>
                            <a:schemeClr val="tx1"/>
                          </a:solidFill>
                        </a:rPr>
                        <a:t>Sí</a:t>
                      </a:r>
                    </a:p>
                  </a:txBody>
                  <a:tcPr anchor="ctr">
                    <a:solidFill>
                      <a:schemeClr val="bg2"/>
                    </a:solidFill>
                  </a:tcPr>
                </a:tc>
              </a:tr>
              <a:tr h="457200">
                <a:tc>
                  <a:txBody>
                    <a:bodyPr/>
                    <a:lstStyle/>
                    <a:p>
                      <a:pPr algn="l"/>
                      <a:r>
                        <a:rPr sz="1400" b="0" i="0">
                          <a:solidFill>
                            <a:schemeClr val="tx1"/>
                          </a:solidFill>
                        </a:rPr>
                        <a:t>TIL1 Ciudad de México (%)</a:t>
                      </a:r>
                    </a:p>
                  </a:txBody>
                  <a:tcPr anchor="ctr">
                    <a:solidFill>
                      <a:schemeClr val="bg1"/>
                    </a:solidFill>
                  </a:tcPr>
                </a:tc>
                <a:tc>
                  <a:txBody>
                    <a:bodyPr/>
                    <a:lstStyle/>
                    <a:p>
                      <a:pPr algn="ctr"/>
                      <a:r>
                        <a:rPr sz="1400" b="0" i="0">
                          <a:solidFill>
                            <a:schemeClr val="tx1"/>
                          </a:solidFill>
                        </a:rPr>
                        <a:t>45.71</a:t>
                      </a:r>
                    </a:p>
                  </a:txBody>
                  <a:tcPr anchor="ctr">
                    <a:solidFill>
                      <a:schemeClr val="bg1"/>
                    </a:solidFill>
                  </a:tcPr>
                </a:tc>
                <a:tc>
                  <a:txBody>
                    <a:bodyPr/>
                    <a:lstStyle/>
                    <a:p>
                      <a:pPr algn="ctr"/>
                      <a:r>
                        <a:rPr sz="1400" b="0" i="0">
                          <a:solidFill>
                            <a:schemeClr val="tx1"/>
                          </a:solidFill>
                        </a:rPr>
                        <a:t>45.7</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bl>
          </a:graphicData>
        </a:graphic>
      </p:graphicFrame>
      <p:sp>
        <p:nvSpPr>
          <p:cNvPr id="7" name="Validación"/>
          <p:cNvSpPr/>
          <p:nvPr/>
        </p:nvSpPr>
        <p:spPr>
          <a:xfrm>
            <a:off x="8412480" y="1600200"/>
            <a:ext cx="3227832" cy="19202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Validación texto"/>
          <p:cNvSpPr txBox="1"/>
          <p:nvPr/>
        </p:nvSpPr>
        <p:spPr>
          <a:xfrm>
            <a:off x="8595359" y="1691640"/>
            <a:ext cx="2862072" cy="1737360"/>
          </a:xfrm>
          <a:prstGeom prst="rect">
            <a:avLst/>
          </a:prstGeom>
          <a:noFill/>
        </p:spPr>
        <p:txBody>
          <a:bodyPr wrap="square" lIns="0" rIns="0" tIns="0" bIns="0" anchor="ctr">
            <a:spAutoFit/>
          </a:bodyPr>
          <a:lstStyle/>
          <a:p>
            <a:pPr algn="l">
              <a:spcAft>
                <a:spcPts val="0"/>
              </a:spcAft>
            </a:pPr>
            <a:r>
              <a:rPr sz="5400" b="1" i="0">
                <a:solidFill>
                  <a:schemeClr val="tx2"/>
                </a:solidFill>
              </a:rPr>
              <a:t>7 de 7</a:t>
            </a:r>
          </a:p>
          <a:p>
            <a:r>
              <a:rPr sz="1500" b="0" i="0">
                <a:solidFill>
                  <a:schemeClr val="tx1"/>
                </a:solidFill>
              </a:rPr>
              <a:t>cifras del INEGI reproducidas al redondear a su precisión</a:t>
            </a:r>
          </a:p>
        </p:txBody>
      </p:sp>
      <p:sp>
        <p:nvSpPr>
          <p:cNvPr id="9" name="Nota menores de 15"/>
          <p:cNvSpPr/>
          <p:nvPr/>
        </p:nvSpPr>
        <p:spPr>
          <a:xfrm>
            <a:off x="8412480" y="3703320"/>
            <a:ext cx="3227832" cy="18288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Nota menores de 15 texto"/>
          <p:cNvSpPr txBox="1"/>
          <p:nvPr/>
        </p:nvSpPr>
        <p:spPr>
          <a:xfrm>
            <a:off x="8595360" y="3840480"/>
            <a:ext cx="2862072" cy="1554480"/>
          </a:xfrm>
          <a:prstGeom prst="rect">
            <a:avLst/>
          </a:prstGeom>
          <a:noFill/>
        </p:spPr>
        <p:txBody>
          <a:bodyPr wrap="square" lIns="0" rIns="0" tIns="0" bIns="0" anchor="ctr">
            <a:spAutoFit/>
          </a:bodyPr>
          <a:lstStyle/>
          <a:p>
            <a:pPr algn="l">
              <a:spcAft>
                <a:spcPts val="0"/>
              </a:spcAft>
            </a:pPr>
            <a:r>
              <a:rPr sz="1500" b="1" i="0">
                <a:solidFill>
                  <a:schemeClr val="tx1"/>
                </a:solidFill>
              </a:rPr>
              <a:t>Por qué solo 15+: </a:t>
            </a:r>
            <a:r>
              <a:rPr sz="1500" b="0" i="0">
                <a:solidFill>
                  <a:schemeClr val="tx1"/>
                </a:solidFill>
              </a:rPr>
              <a:t>con los 1,078 menores de 15 años ocupados, el TIL1 sería 55.27 % y dejaría de coincidir con el oficial.</a:t>
            </a:r>
          </a:p>
        </p:txBody>
      </p:sp>
      <p:sp>
        <p:nvSpPr>
          <p:cNvPr id="11"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cobertura define el universo: cinco reglas, 190,187 personas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9</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graphicFrame>
        <p:nvGraphicFramePr>
          <p:cNvPr id="6" name="Embudo de cobertura"/>
          <p:cNvGraphicFramePr>
            <a:graphicFrameLocks noGrp="1"/>
          </p:cNvGraphicFramePr>
          <p:nvPr/>
        </p:nvGraphicFramePr>
        <p:xfrm>
          <a:off x="548640" y="1508760"/>
          <a:ext cx="11091672" cy="2944368"/>
        </p:xfrm>
        <a:graphic>
          <a:graphicData uri="http://schemas.openxmlformats.org/drawingml/2006/table">
            <a:tbl>
              <a:tblPr firstRow="1" bandRow="1">
                <a:tableStyleId>{5C22544A-7EE6-4342-B048-85BDC9FD1C3A}</a:tableStyleId>
              </a:tblPr>
              <a:tblGrid>
                <a:gridCol w="640080"/>
                <a:gridCol w="2926080"/>
                <a:gridCol w="4206240"/>
                <a:gridCol w="1097280"/>
                <a:gridCol w="1143000"/>
                <a:gridCol w="1078992"/>
              </a:tblGrid>
              <a:tr h="420624">
                <a:tc>
                  <a:txBody>
                    <a:bodyPr/>
                    <a:lstStyle/>
                    <a:p>
                      <a:pPr algn="ctr"/>
                      <a:r>
                        <a:rPr sz="1300" b="1" i="0">
                          <a:solidFill>
                            <a:schemeClr val="bg1"/>
                          </a:solidFill>
                        </a:rPr>
                        <a:t>Paso</a:t>
                      </a:r>
                    </a:p>
                  </a:txBody>
                  <a:tcPr anchor="ctr">
                    <a:solidFill>
                      <a:schemeClr val="tx2"/>
                    </a:solidFill>
                  </a:tcPr>
                </a:tc>
                <a:tc>
                  <a:txBody>
                    <a:bodyPr/>
                    <a:lstStyle/>
                    <a:p>
                      <a:pPr algn="l"/>
                      <a:r>
                        <a:rPr sz="1300" b="1" i="0">
                          <a:solidFill>
                            <a:schemeClr val="bg1"/>
                          </a:solidFill>
                        </a:rPr>
                        <a:t>Regla</a:t>
                      </a:r>
                    </a:p>
                  </a:txBody>
                  <a:tcPr anchor="ctr">
                    <a:solidFill>
                      <a:schemeClr val="tx2"/>
                    </a:solidFill>
                  </a:tcPr>
                </a:tc>
                <a:tc>
                  <a:txBody>
                    <a:bodyPr/>
                    <a:lstStyle/>
                    <a:p>
                      <a:pPr algn="l"/>
                      <a:r>
                        <a:rPr sz="1300" b="1" i="0">
                          <a:solidFill>
                            <a:schemeClr val="bg1"/>
                          </a:solidFill>
                        </a:rPr>
                        <a:t>Quién se excluye</a:t>
                      </a:r>
                    </a:p>
                  </a:txBody>
                  <a:tcPr anchor="ctr">
                    <a:solidFill>
                      <a:schemeClr val="tx2"/>
                    </a:solidFill>
                  </a:tcPr>
                </a:tc>
                <a:tc>
                  <a:txBody>
                    <a:bodyPr/>
                    <a:lstStyle/>
                    <a:p>
                      <a:pPr algn="r"/>
                      <a:r>
                        <a:rPr sz="1300" b="1" i="0">
                          <a:solidFill>
                            <a:schemeClr val="bg1"/>
                          </a:solidFill>
                        </a:rPr>
                        <a:t>Antes</a:t>
                      </a:r>
                    </a:p>
                  </a:txBody>
                  <a:tcPr anchor="ctr">
                    <a:solidFill>
                      <a:schemeClr val="tx2"/>
                    </a:solidFill>
                  </a:tcPr>
                </a:tc>
                <a:tc>
                  <a:txBody>
                    <a:bodyPr/>
                    <a:lstStyle/>
                    <a:p>
                      <a:pPr algn="r"/>
                      <a:r>
                        <a:rPr sz="1300" b="1" i="0">
                          <a:solidFill>
                            <a:schemeClr val="bg1"/>
                          </a:solidFill>
                        </a:rPr>
                        <a:t>Después</a:t>
                      </a:r>
                    </a:p>
                  </a:txBody>
                  <a:tcPr anchor="ctr">
                    <a:solidFill>
                      <a:schemeClr val="tx2"/>
                    </a:solidFill>
                  </a:tcPr>
                </a:tc>
                <a:tc>
                  <a:txBody>
                    <a:bodyPr/>
                    <a:lstStyle/>
                    <a:p>
                      <a:pPr algn="r"/>
                      <a:r>
                        <a:rPr sz="1300" b="1" i="0">
                          <a:solidFill>
                            <a:schemeClr val="bg1"/>
                          </a:solidFill>
                        </a:rPr>
                        <a:t>Excluidos</a:t>
                      </a:r>
                    </a:p>
                  </a:txBody>
                  <a:tcPr anchor="ctr">
                    <a:solidFill>
                      <a:schemeClr val="tx2"/>
                    </a:solidFill>
                  </a:tcPr>
                </a:tc>
              </a:tr>
              <a:tr h="420624">
                <a:tc>
                  <a:txBody>
                    <a:bodyPr wrap="square"/>
                    <a:lstStyle/>
                    <a:p>
                      <a:pPr algn="ctr"/>
                      <a:r>
                        <a:rPr sz="1300" b="0" i="0">
                          <a:solidFill>
                            <a:schemeClr val="tx1"/>
                          </a:solidFill>
                        </a:rPr>
                        <a:t>L0</a:t>
                      </a:r>
                    </a:p>
                  </a:txBody>
                  <a:tcPr anchor="ctr" marL="73152" marR="73152">
                    <a:solidFill>
                      <a:schemeClr val="bg1"/>
                    </a:solidFill>
                  </a:tcPr>
                </a:tc>
                <a:tc>
                  <a:txBody>
                    <a:bodyPr wrap="square"/>
                    <a:lstStyle/>
                    <a:p>
                      <a:pPr algn="l"/>
                      <a:r>
                        <a:rPr sz="1300" b="0" i="0">
                          <a:solidFill>
                            <a:schemeClr val="tx1"/>
                          </a:solidFill>
                        </a:rPr>
                        <a:t>Registros crudos de SDEMT</a:t>
                      </a:r>
                    </a:p>
                  </a:txBody>
                  <a:tcPr anchor="ctr" marL="73152" marR="73152">
                    <a:solidFill>
                      <a:schemeClr val="bg1"/>
                    </a:solidFill>
                  </a:tcPr>
                </a:tc>
                <a:tc>
                  <a:txBody>
                    <a:bodyPr wrap="square"/>
                    <a:lstStyle/>
                    <a:p>
                      <a:pPr algn="l"/>
                      <a:r>
                        <a:rPr sz="1300" b="0" i="0">
                          <a:solidFill>
                            <a:schemeClr val="tx1"/>
                          </a:solidFill>
                        </a:rPr>
                        <a:t>—</a:t>
                      </a:r>
                    </a:p>
                  </a:txBody>
                  <a:tcPr anchor="ctr" marL="73152" marR="73152">
                    <a:solidFill>
                      <a:schemeClr val="bg1"/>
                    </a:solidFill>
                  </a:tcPr>
                </a:tc>
                <a:tc>
                  <a:txBody>
                    <a:bodyPr wrap="square"/>
                    <a:lstStyle/>
                    <a:p>
                      <a:pPr algn="r"/>
                      <a:r>
                        <a:rPr sz="1300" b="0" i="0">
                          <a:solidFill>
                            <a:schemeClr val="tx1"/>
                          </a:solidFill>
                        </a:rPr>
                        <a:t>419,038</a:t>
                      </a:r>
                    </a:p>
                  </a:txBody>
                  <a:tcPr anchor="ctr" marL="73152" marR="73152">
                    <a:solidFill>
                      <a:schemeClr val="bg1"/>
                    </a:solidFill>
                  </a:tcPr>
                </a:tc>
                <a:tc>
                  <a:txBody>
                    <a:bodyPr wrap="square"/>
                    <a:lstStyle/>
                    <a:p>
                      <a:pPr algn="r"/>
                      <a:r>
                        <a:rPr sz="1300" b="0" i="0">
                          <a:solidFill>
                            <a:schemeClr val="tx1"/>
                          </a:solidFill>
                        </a:rPr>
                        <a:t>419,038</a:t>
                      </a:r>
                    </a:p>
                  </a:txBody>
                  <a:tcPr anchor="ctr" marL="73152" marR="73152">
                    <a:solidFill>
                      <a:schemeClr val="bg1"/>
                    </a:solidFill>
                  </a:tcPr>
                </a:tc>
                <a:tc>
                  <a:txBody>
                    <a:bodyPr wrap="square"/>
                    <a:lstStyle/>
                    <a:p>
                      <a:pPr algn="r"/>
                      <a:r>
                        <a:rPr sz="1300" b="0" i="0">
                          <a:solidFill>
                            <a:schemeClr val="tx1"/>
                          </a:solidFill>
                        </a:rPr>
                        <a:t>0</a:t>
                      </a:r>
                    </a:p>
                  </a:txBody>
                  <a:tcPr anchor="ctr" marL="73152" marR="73152">
                    <a:solidFill>
                      <a:schemeClr val="bg1"/>
                    </a:solidFill>
                  </a:tcPr>
                </a:tc>
              </a:tr>
              <a:tr h="420624">
                <a:tc>
                  <a:txBody>
                    <a:bodyPr wrap="square"/>
                    <a:lstStyle/>
                    <a:p>
                      <a:pPr algn="ctr"/>
                      <a:r>
                        <a:rPr sz="1300" b="0" i="0">
                          <a:solidFill>
                            <a:schemeClr val="tx1"/>
                          </a:solidFill>
                        </a:rPr>
                        <a:t>L1</a:t>
                      </a:r>
                    </a:p>
                  </a:txBody>
                  <a:tcPr anchor="ctr" marL="73152" marR="73152">
                    <a:solidFill>
                      <a:schemeClr val="bg2"/>
                    </a:solidFill>
                  </a:tcPr>
                </a:tc>
                <a:tc>
                  <a:txBody>
                    <a:bodyPr wrap="square"/>
                    <a:lstStyle/>
                    <a:p>
                      <a:pPr algn="l"/>
                      <a:r>
                        <a:rPr sz="1300" b="0" i="0">
                          <a:solidFill>
                            <a:schemeClr val="tx1"/>
                          </a:solidFill>
                        </a:rPr>
                        <a:t>Entrevista completa</a:t>
                      </a:r>
                    </a:p>
                  </a:txBody>
                  <a:tcPr anchor="ctr" marL="73152" marR="73152">
                    <a:solidFill>
                      <a:schemeClr val="bg2"/>
                    </a:solidFill>
                  </a:tcPr>
                </a:tc>
                <a:tc>
                  <a:txBody>
                    <a:bodyPr wrap="square"/>
                    <a:lstStyle/>
                    <a:p>
                      <a:pPr algn="l"/>
                      <a:r>
                        <a:rPr sz="1300" b="0" i="0">
                          <a:solidFill>
                            <a:schemeClr val="tx1"/>
                          </a:solidFill>
                        </a:rPr>
                        <a:t>Entrevistas incompletas (r_def ≠ 0)</a:t>
                      </a:r>
                    </a:p>
                  </a:txBody>
                  <a:tcPr anchor="ctr" marL="73152" marR="73152">
                    <a:solidFill>
                      <a:schemeClr val="bg2"/>
                    </a:solidFill>
                  </a:tcPr>
                </a:tc>
                <a:tc>
                  <a:txBody>
                    <a:bodyPr wrap="square"/>
                    <a:lstStyle/>
                    <a:p>
                      <a:pPr algn="r"/>
                      <a:r>
                        <a:rPr sz="1300" b="0" i="0">
                          <a:solidFill>
                            <a:schemeClr val="tx1"/>
                          </a:solidFill>
                        </a:rPr>
                        <a:t>419,038</a:t>
                      </a:r>
                    </a:p>
                  </a:txBody>
                  <a:tcPr anchor="ctr" marL="73152" marR="73152">
                    <a:solidFill>
                      <a:schemeClr val="bg2"/>
                    </a:solidFill>
                  </a:tcPr>
                </a:tc>
                <a:tc>
                  <a:txBody>
                    <a:bodyPr wrap="square"/>
                    <a:lstStyle/>
                    <a:p>
                      <a:pPr algn="r"/>
                      <a:r>
                        <a:rPr sz="1300" b="0" i="0">
                          <a:solidFill>
                            <a:schemeClr val="tx1"/>
                          </a:solidFill>
                        </a:rPr>
                        <a:t>418,146</a:t>
                      </a:r>
                    </a:p>
                  </a:txBody>
                  <a:tcPr anchor="ctr" marL="73152" marR="73152">
                    <a:solidFill>
                      <a:schemeClr val="bg2"/>
                    </a:solidFill>
                  </a:tcPr>
                </a:tc>
                <a:tc>
                  <a:txBody>
                    <a:bodyPr wrap="square"/>
                    <a:lstStyle/>
                    <a:p>
                      <a:pPr algn="r"/>
                      <a:r>
                        <a:rPr sz="1300" b="0" i="0">
                          <a:solidFill>
                            <a:schemeClr val="tx1"/>
                          </a:solidFill>
                        </a:rPr>
                        <a:t>892</a:t>
                      </a:r>
                    </a:p>
                  </a:txBody>
                  <a:tcPr anchor="ctr" marL="73152" marR="73152">
                    <a:solidFill>
                      <a:schemeClr val="bg2"/>
                    </a:solidFill>
                  </a:tcPr>
                </a:tc>
              </a:tr>
              <a:tr h="420624">
                <a:tc>
                  <a:txBody>
                    <a:bodyPr wrap="square"/>
                    <a:lstStyle/>
                    <a:p>
                      <a:pPr algn="ctr"/>
                      <a:r>
                        <a:rPr sz="1300" b="0" i="0">
                          <a:solidFill>
                            <a:schemeClr val="tx1"/>
                          </a:solidFill>
                        </a:rPr>
                        <a:t>L2</a:t>
                      </a:r>
                    </a:p>
                  </a:txBody>
                  <a:tcPr anchor="ctr" marL="73152" marR="73152">
                    <a:solidFill>
                      <a:schemeClr val="bg1"/>
                    </a:solidFill>
                  </a:tcPr>
                </a:tc>
                <a:tc>
                  <a:txBody>
                    <a:bodyPr wrap="square"/>
                    <a:lstStyle/>
                    <a:p>
                      <a:pPr algn="l"/>
                      <a:r>
                        <a:rPr sz="1300" b="0" i="0">
                          <a:solidFill>
                            <a:schemeClr val="tx1"/>
                          </a:solidFill>
                        </a:rPr>
                        <a:t>Residente habitual</a:t>
                      </a:r>
                    </a:p>
                  </a:txBody>
                  <a:tcPr anchor="ctr" marL="73152" marR="73152">
                    <a:solidFill>
                      <a:schemeClr val="bg1"/>
                    </a:solidFill>
                  </a:tcPr>
                </a:tc>
                <a:tc>
                  <a:txBody>
                    <a:bodyPr wrap="square"/>
                    <a:lstStyle/>
                    <a:p>
                      <a:pPr algn="l"/>
                      <a:r>
                        <a:rPr sz="1300" b="0" i="0">
                          <a:solidFill>
                            <a:schemeClr val="tx1"/>
                          </a:solidFill>
                        </a:rPr>
                        <a:t>Nuevos residentes (c_res = 2), sin sexo ni edad</a:t>
                      </a:r>
                    </a:p>
                  </a:txBody>
                  <a:tcPr anchor="ctr" marL="73152" marR="73152">
                    <a:solidFill>
                      <a:schemeClr val="bg1"/>
                    </a:solidFill>
                  </a:tcPr>
                </a:tc>
                <a:tc>
                  <a:txBody>
                    <a:bodyPr wrap="square"/>
                    <a:lstStyle/>
                    <a:p>
                      <a:pPr algn="r"/>
                      <a:r>
                        <a:rPr sz="1300" b="0" i="0">
                          <a:solidFill>
                            <a:schemeClr val="tx1"/>
                          </a:solidFill>
                        </a:rPr>
                        <a:t>418,146</a:t>
                      </a:r>
                    </a:p>
                  </a:txBody>
                  <a:tcPr anchor="ctr" marL="73152" marR="73152">
                    <a:solidFill>
                      <a:schemeClr val="bg1"/>
                    </a:solidFill>
                  </a:tcPr>
                </a:tc>
                <a:tc>
                  <a:txBody>
                    <a:bodyPr wrap="square"/>
                    <a:lstStyle/>
                    <a:p>
                      <a:pPr algn="r"/>
                      <a:r>
                        <a:rPr sz="1300" b="0" i="0">
                          <a:solidFill>
                            <a:schemeClr val="tx1"/>
                          </a:solidFill>
                        </a:rPr>
                        <a:t>408,099</a:t>
                      </a:r>
                    </a:p>
                  </a:txBody>
                  <a:tcPr anchor="ctr" marL="73152" marR="73152">
                    <a:solidFill>
                      <a:schemeClr val="bg1"/>
                    </a:solidFill>
                  </a:tcPr>
                </a:tc>
                <a:tc>
                  <a:txBody>
                    <a:bodyPr wrap="square"/>
                    <a:lstStyle/>
                    <a:p>
                      <a:pPr algn="r"/>
                      <a:r>
                        <a:rPr sz="1300" b="0" i="0">
                          <a:solidFill>
                            <a:schemeClr val="tx1"/>
                          </a:solidFill>
                        </a:rPr>
                        <a:t>10,047</a:t>
                      </a:r>
                    </a:p>
                  </a:txBody>
                  <a:tcPr anchor="ctr" marL="73152" marR="73152">
                    <a:solidFill>
                      <a:schemeClr val="bg1"/>
                    </a:solidFill>
                  </a:tcPr>
                </a:tc>
              </a:tr>
              <a:tr h="420624">
                <a:tc>
                  <a:txBody>
                    <a:bodyPr wrap="square"/>
                    <a:lstStyle/>
                    <a:p>
                      <a:pPr algn="ctr"/>
                      <a:r>
                        <a:rPr sz="1300" b="0" i="0">
                          <a:solidFill>
                            <a:schemeClr val="tx1"/>
                          </a:solidFill>
                        </a:rPr>
                        <a:t>L3</a:t>
                      </a:r>
                    </a:p>
                  </a:txBody>
                  <a:tcPr anchor="ctr" marL="73152" marR="73152">
                    <a:solidFill>
                      <a:schemeClr val="bg2"/>
                    </a:solidFill>
                  </a:tcPr>
                </a:tc>
                <a:tc>
                  <a:txBody>
                    <a:bodyPr wrap="square"/>
                    <a:lstStyle/>
                    <a:p>
                      <a:pPr algn="l"/>
                      <a:r>
                        <a:rPr sz="1300" b="0" i="0">
                          <a:solidFill>
                            <a:schemeClr val="tx1"/>
                          </a:solidFill>
                        </a:rPr>
                        <a:t>Edad de 15 a 98 años</a:t>
                      </a:r>
                    </a:p>
                  </a:txBody>
                  <a:tcPr anchor="ctr" marL="73152" marR="73152">
                    <a:solidFill>
                      <a:schemeClr val="bg2"/>
                    </a:solidFill>
                  </a:tcPr>
                </a:tc>
                <a:tc>
                  <a:txBody>
                    <a:bodyPr wrap="square"/>
                    <a:lstStyle/>
                    <a:p>
                      <a:pPr algn="l"/>
                      <a:r>
                        <a:rPr sz="1300" b="0" i="0">
                          <a:solidFill>
                            <a:schemeClr val="tx1"/>
                          </a:solidFill>
                        </a:rPr>
                        <a:t>Menores de 15 años y edad no especificada</a:t>
                      </a:r>
                    </a:p>
                  </a:txBody>
                  <a:tcPr anchor="ctr" marL="73152" marR="73152">
                    <a:solidFill>
                      <a:schemeClr val="bg2"/>
                    </a:solidFill>
                  </a:tcPr>
                </a:tc>
                <a:tc>
                  <a:txBody>
                    <a:bodyPr wrap="square"/>
                    <a:lstStyle/>
                    <a:p>
                      <a:pPr algn="r"/>
                      <a:r>
                        <a:rPr sz="1300" b="0" i="0">
                          <a:solidFill>
                            <a:schemeClr val="tx1"/>
                          </a:solidFill>
                        </a:rPr>
                        <a:t>408,099</a:t>
                      </a:r>
                    </a:p>
                  </a:txBody>
                  <a:tcPr anchor="ctr" marL="73152" marR="73152">
                    <a:solidFill>
                      <a:schemeClr val="bg2"/>
                    </a:solidFill>
                  </a:tcPr>
                </a:tc>
                <a:tc>
                  <a:txBody>
                    <a:bodyPr wrap="square"/>
                    <a:lstStyle/>
                    <a:p>
                      <a:pPr algn="r"/>
                      <a:r>
                        <a:rPr sz="1300" b="0" i="0">
                          <a:solidFill>
                            <a:schemeClr val="tx1"/>
                          </a:solidFill>
                        </a:rPr>
                        <a:t>323,367</a:t>
                      </a:r>
                    </a:p>
                  </a:txBody>
                  <a:tcPr anchor="ctr" marL="73152" marR="73152">
                    <a:solidFill>
                      <a:schemeClr val="bg2"/>
                    </a:solidFill>
                  </a:tcPr>
                </a:tc>
                <a:tc>
                  <a:txBody>
                    <a:bodyPr wrap="square"/>
                    <a:lstStyle/>
                    <a:p>
                      <a:pPr algn="r"/>
                      <a:r>
                        <a:rPr sz="1300" b="0" i="0">
                          <a:solidFill>
                            <a:schemeClr val="tx1"/>
                          </a:solidFill>
                        </a:rPr>
                        <a:t>84,732</a:t>
                      </a:r>
                    </a:p>
                  </a:txBody>
                  <a:tcPr anchor="ctr" marL="73152" marR="73152">
                    <a:solidFill>
                      <a:schemeClr val="bg2"/>
                    </a:solidFill>
                  </a:tcPr>
                </a:tc>
              </a:tr>
              <a:tr h="420624">
                <a:tc>
                  <a:txBody>
                    <a:bodyPr wrap="square"/>
                    <a:lstStyle/>
                    <a:p>
                      <a:pPr algn="ctr"/>
                      <a:r>
                        <a:rPr sz="1300" b="0" i="0">
                          <a:solidFill>
                            <a:schemeClr val="tx1"/>
                          </a:solidFill>
                        </a:rPr>
                        <a:t>L4</a:t>
                      </a:r>
                    </a:p>
                  </a:txBody>
                  <a:tcPr anchor="ctr" marL="73152" marR="73152">
                    <a:solidFill>
                      <a:schemeClr val="bg1"/>
                    </a:solidFill>
                  </a:tcPr>
                </a:tc>
                <a:tc>
                  <a:txBody>
                    <a:bodyPr wrap="square"/>
                    <a:lstStyle/>
                    <a:p>
                      <a:pPr algn="l"/>
                      <a:r>
                        <a:rPr sz="1300" b="0" i="0">
                          <a:solidFill>
                            <a:schemeClr val="tx1"/>
                          </a:solidFill>
                        </a:rPr>
                        <a:t>Población ocupada</a:t>
                      </a:r>
                    </a:p>
                  </a:txBody>
                  <a:tcPr anchor="ctr" marL="73152" marR="73152">
                    <a:solidFill>
                      <a:schemeClr val="bg1"/>
                    </a:solidFill>
                  </a:tcPr>
                </a:tc>
                <a:tc>
                  <a:txBody>
                    <a:bodyPr wrap="square"/>
                    <a:lstStyle/>
                    <a:p>
                      <a:pPr algn="l"/>
                      <a:r>
                        <a:rPr sz="1300" b="0" i="0">
                          <a:solidFill>
                            <a:schemeClr val="tx1"/>
                          </a:solidFill>
                        </a:rPr>
                        <a:t>Personas no ocupadas (clase2 ≠ 1)</a:t>
                      </a:r>
                    </a:p>
                  </a:txBody>
                  <a:tcPr anchor="ctr" marL="73152" marR="73152">
                    <a:solidFill>
                      <a:schemeClr val="bg1"/>
                    </a:solidFill>
                  </a:tcPr>
                </a:tc>
                <a:tc>
                  <a:txBody>
                    <a:bodyPr wrap="square"/>
                    <a:lstStyle/>
                    <a:p>
                      <a:pPr algn="r"/>
                      <a:r>
                        <a:rPr sz="1300" b="0" i="0">
                          <a:solidFill>
                            <a:schemeClr val="tx1"/>
                          </a:solidFill>
                        </a:rPr>
                        <a:t>323,367</a:t>
                      </a:r>
                    </a:p>
                  </a:txBody>
                  <a:tcPr anchor="ctr" marL="73152" marR="73152">
                    <a:solidFill>
                      <a:schemeClr val="bg1"/>
                    </a:solidFill>
                  </a:tcPr>
                </a:tc>
                <a:tc>
                  <a:txBody>
                    <a:bodyPr wrap="square"/>
                    <a:lstStyle/>
                    <a:p>
                      <a:pPr algn="r"/>
                      <a:r>
                        <a:rPr sz="1300" b="0" i="0">
                          <a:solidFill>
                            <a:schemeClr val="tx1"/>
                          </a:solidFill>
                        </a:rPr>
                        <a:t>190,187</a:t>
                      </a:r>
                    </a:p>
                  </a:txBody>
                  <a:tcPr anchor="ctr" marL="73152" marR="73152">
                    <a:solidFill>
                      <a:schemeClr val="bg1"/>
                    </a:solidFill>
                  </a:tcPr>
                </a:tc>
                <a:tc>
                  <a:txBody>
                    <a:bodyPr wrap="square"/>
                    <a:lstStyle/>
                    <a:p>
                      <a:pPr algn="r"/>
                      <a:r>
                        <a:rPr sz="1300" b="0" i="0">
                          <a:solidFill>
                            <a:schemeClr val="tx1"/>
                          </a:solidFill>
                        </a:rPr>
                        <a:t>133,180</a:t>
                      </a:r>
                    </a:p>
                  </a:txBody>
                  <a:tcPr anchor="ctr" marL="73152" marR="73152">
                    <a:solidFill>
                      <a:schemeClr val="bg1"/>
                    </a:solidFill>
                  </a:tcPr>
                </a:tc>
              </a:tr>
              <a:tr h="420624">
                <a:tc>
                  <a:txBody>
                    <a:bodyPr wrap="square"/>
                    <a:lstStyle/>
                    <a:p>
                      <a:pPr algn="ctr"/>
                      <a:r>
                        <a:rPr sz="1300" b="1" i="0">
                          <a:solidFill>
                            <a:schemeClr val="tx1"/>
                          </a:solidFill>
                        </a:rPr>
                        <a:t>L5</a:t>
                      </a:r>
                    </a:p>
                  </a:txBody>
                  <a:tcPr anchor="ctr" marL="73152" marR="73152">
                    <a:solidFill>
                      <a:schemeClr val="bg2"/>
                    </a:solidFill>
                  </a:tcPr>
                </a:tc>
                <a:tc>
                  <a:txBody>
                    <a:bodyPr wrap="square"/>
                    <a:lstStyle/>
                    <a:p>
                      <a:pPr algn="l"/>
                      <a:r>
                        <a:rPr sz="1300" b="1" i="0">
                          <a:solidFill>
                            <a:schemeClr val="tx1"/>
                          </a:solidFill>
                        </a:rPr>
                        <a:t>Ponderador positivo</a:t>
                      </a:r>
                    </a:p>
                  </a:txBody>
                  <a:tcPr anchor="ctr" marL="73152" marR="73152">
                    <a:solidFill>
                      <a:schemeClr val="bg2"/>
                    </a:solidFill>
                  </a:tcPr>
                </a:tc>
                <a:tc>
                  <a:txBody>
                    <a:bodyPr wrap="square"/>
                    <a:lstStyle/>
                    <a:p>
                      <a:pPr algn="l"/>
                      <a:r>
                        <a:rPr sz="1300" b="1" i="0">
                          <a:solidFill>
                            <a:schemeClr val="tx1"/>
                          </a:solidFill>
                        </a:rPr>
                        <a:t>Nadie: es una verificación</a:t>
                      </a:r>
                    </a:p>
                  </a:txBody>
                  <a:tcPr anchor="ctr" marL="73152" marR="73152">
                    <a:solidFill>
                      <a:schemeClr val="bg2"/>
                    </a:solidFill>
                  </a:tcPr>
                </a:tc>
                <a:tc>
                  <a:txBody>
                    <a:bodyPr wrap="square"/>
                    <a:lstStyle/>
                    <a:p>
                      <a:pPr algn="r"/>
                      <a:r>
                        <a:rPr sz="1300" b="1" i="0">
                          <a:solidFill>
                            <a:schemeClr val="tx1"/>
                          </a:solidFill>
                        </a:rPr>
                        <a:t>190,187</a:t>
                      </a:r>
                    </a:p>
                  </a:txBody>
                  <a:tcPr anchor="ctr" marL="73152" marR="73152">
                    <a:solidFill>
                      <a:schemeClr val="bg2"/>
                    </a:solidFill>
                  </a:tcPr>
                </a:tc>
                <a:tc>
                  <a:txBody>
                    <a:bodyPr wrap="square"/>
                    <a:lstStyle/>
                    <a:p>
                      <a:pPr algn="r"/>
                      <a:r>
                        <a:rPr sz="1300" b="1" i="0">
                          <a:solidFill>
                            <a:schemeClr val="tx1"/>
                          </a:solidFill>
                        </a:rPr>
                        <a:t>190,187</a:t>
                      </a:r>
                    </a:p>
                  </a:txBody>
                  <a:tcPr anchor="ctr" marL="73152" marR="73152">
                    <a:solidFill>
                      <a:schemeClr val="bg2"/>
                    </a:solidFill>
                  </a:tcPr>
                </a:tc>
                <a:tc>
                  <a:txBody>
                    <a:bodyPr wrap="square"/>
                    <a:lstStyle/>
                    <a:p>
                      <a:pPr algn="r"/>
                      <a:r>
                        <a:rPr sz="1300" b="1" i="0">
                          <a:solidFill>
                            <a:schemeClr val="tx1"/>
                          </a:solidFill>
                        </a:rPr>
                        <a:t>0</a:t>
                      </a:r>
                    </a:p>
                  </a:txBody>
                  <a:tcPr anchor="ctr" marL="73152" marR="73152">
                    <a:solidFill>
                      <a:schemeClr val="bg2"/>
                    </a:solidFill>
                  </a:tcPr>
                </a:tc>
              </a:tr>
            </a:tbl>
          </a:graphicData>
        </a:graphic>
      </p:graphicFrame>
      <p:sp>
        <p:nvSpPr>
          <p:cNvPr id="7" name="Marcar, no borrar"/>
          <p:cNvSpPr/>
          <p:nvPr/>
        </p:nvSpPr>
        <p:spPr>
          <a:xfrm>
            <a:off x="548640" y="4709160"/>
            <a:ext cx="6583680" cy="15087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Marcar, no borrar texto"/>
          <p:cNvSpPr txBox="1"/>
          <p:nvPr/>
        </p:nvSpPr>
        <p:spPr>
          <a:xfrm>
            <a:off x="749808" y="4818888"/>
            <a:ext cx="6181344" cy="1289304"/>
          </a:xfrm>
          <a:prstGeom prst="rect">
            <a:avLst/>
          </a:prstGeom>
          <a:noFill/>
        </p:spPr>
        <p:txBody>
          <a:bodyPr wrap="square" lIns="0" rIns="0" tIns="0" bIns="0" anchor="ctr">
            <a:spAutoFit/>
          </a:bodyPr>
          <a:lstStyle/>
          <a:p>
            <a:pPr algn="l">
              <a:spcAft>
                <a:spcPts val="800"/>
              </a:spcAft>
            </a:pPr>
            <a:r>
              <a:rPr sz="1500" b="1" i="0">
                <a:solidFill>
                  <a:schemeClr val="tx2"/>
                </a:solidFill>
              </a:rPr>
              <a:t>Marcar, no borrar. </a:t>
            </a:r>
            <a:r>
              <a:rPr sz="1500" b="0" i="0">
                <a:solidFill>
                  <a:schemeClr val="tx1"/>
                </a:solidFill>
              </a:rPr>
              <a:t>Solo la cobertura elimina filas; los faltantes, la calidad del ingreso y los atípicos crean banderas, para cambiar una decisión y rehacer el análisis sin volver a limpiar.</a:t>
            </a:r>
          </a:p>
        </p:txBody>
      </p:sp>
      <p:sp>
        <p:nvSpPr>
          <p:cNvPr id="9" name="Universo"/>
          <p:cNvSpPr/>
          <p:nvPr/>
        </p:nvSpPr>
        <p:spPr>
          <a:xfrm>
            <a:off x="7315200" y="4709160"/>
            <a:ext cx="4325112" cy="150876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Universo texto"/>
          <p:cNvSpPr txBox="1"/>
          <p:nvPr/>
        </p:nvSpPr>
        <p:spPr>
          <a:xfrm>
            <a:off x="7498079" y="4800600"/>
            <a:ext cx="3959352" cy="1325880"/>
          </a:xfrm>
          <a:prstGeom prst="rect">
            <a:avLst/>
          </a:prstGeom>
          <a:noFill/>
        </p:spPr>
        <p:txBody>
          <a:bodyPr wrap="square" lIns="0" rIns="0" tIns="0" bIns="0" anchor="ctr">
            <a:spAutoFit/>
          </a:bodyPr>
          <a:lstStyle/>
          <a:p>
            <a:pPr algn="l">
              <a:spcAft>
                <a:spcPts val="0"/>
              </a:spcAft>
            </a:pPr>
            <a:r>
              <a:rPr sz="4000" b="1" i="0">
                <a:solidFill>
                  <a:schemeClr val="bg1"/>
                </a:solidFill>
              </a:rPr>
              <a:t>190,187</a:t>
            </a:r>
          </a:p>
          <a:p>
            <a:r>
              <a:rPr sz="1400" b="0" i="0">
                <a:solidFill>
                  <a:schemeClr val="bg1"/>
                </a:solidFill>
              </a:rPr>
              <a:t>personas ocupadas de 15+: el universo de estudio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Los faltantes vienen codificados como números reales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10</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sp>
        <p:nvSpPr>
          <p:cNvPr id="6" name="Código isna"/>
          <p:cNvSpPr/>
          <p:nvPr/>
        </p:nvSpPr>
        <p:spPr>
          <a:xfrm>
            <a:off x="548640" y="1508760"/>
            <a:ext cx="5120640" cy="1554480"/>
          </a:xfrm>
          <a:prstGeom prst="roundRect">
            <a:avLst>
              <a:gd name="adj" fmla="val 3000"/>
            </a:avLst>
          </a:prstGeom>
          <a:solidFill>
            <a:srgbClr val="F2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ódigo isna título"/>
          <p:cNvSpPr txBox="1"/>
          <p:nvPr/>
        </p:nvSpPr>
        <p:spPr>
          <a:xfrm>
            <a:off x="731520" y="1581912"/>
            <a:ext cx="4754879" cy="274320"/>
          </a:xfrm>
          <a:prstGeom prst="rect">
            <a:avLst/>
          </a:prstGeom>
          <a:noFill/>
        </p:spPr>
        <p:txBody>
          <a:bodyPr wrap="square" lIns="0" rIns="0" tIns="0" bIns="0" anchor="ctr">
            <a:spAutoFit/>
          </a:bodyPr>
          <a:lstStyle/>
          <a:p>
            <a:pPr algn="l">
              <a:spcAft>
                <a:spcPts val="0"/>
              </a:spcAft>
            </a:pPr>
            <a:r>
              <a:rPr sz="1300" b="1" i="0">
                <a:solidFill>
                  <a:schemeClr val="tx2"/>
                </a:solidFill>
              </a:rPr>
              <a:t>Lo que ve el código</a:t>
            </a:r>
          </a:p>
        </p:txBody>
      </p:sp>
      <p:sp>
        <p:nvSpPr>
          <p:cNvPr id="8" name="Código isna texto"/>
          <p:cNvSpPr txBox="1"/>
          <p:nvPr/>
        </p:nvSpPr>
        <p:spPr>
          <a:xfrm>
            <a:off x="731520" y="1965960"/>
            <a:ext cx="4754879" cy="1005839"/>
          </a:xfrm>
          <a:prstGeom prst="rect">
            <a:avLst/>
          </a:prstGeom>
          <a:noFill/>
        </p:spPr>
        <p:txBody>
          <a:bodyPr wrap="square" lIns="0" rIns="0" tIns="0" bIns="0" anchor="t">
            <a:spAutoFit/>
          </a:bodyPr>
          <a:lstStyle/>
          <a:p>
            <a:pPr algn="l">
              <a:spcAft>
                <a:spcPts val="0"/>
              </a:spcAft>
            </a:pPr>
            <a:r>
              <a:rPr sz="1500" b="0" i="0">
                <a:solidFill>
                  <a:srgbClr val="2B2F3A"/>
                </a:solidFill>
                <a:latin typeface="Courier New"/>
              </a:rPr>
              <a:t>df.isna().sum().sum()</a:t>
            </a:r>
          </a:p>
          <a:p>
            <a:pPr algn="l">
              <a:spcAft>
                <a:spcPts val="0"/>
              </a:spcAft>
            </a:pPr>
            <a:r>
              <a:rPr sz="1500" b="0" i="0">
                <a:solidFill>
                  <a:srgbClr val="2B2F3A"/>
                </a:solidFill>
                <a:latin typeface="Courier New"/>
              </a:rPr>
              <a:t>→ 0     # «todo está completo»</a:t>
            </a:r>
          </a:p>
          <a:p>
            <a:pPr algn="l">
              <a:spcAft>
                <a:spcPts val="0"/>
              </a:spcAft>
            </a:pPr>
            <a:r>
              <a:rPr sz="1500" b="0" i="0">
                <a:solidFill>
                  <a:srgbClr val="2B2F3A"/>
                </a:solidFill>
                <a:latin typeface="Courier New"/>
              </a:rPr>
              <a:t>df['anios_esc'].max()</a:t>
            </a:r>
          </a:p>
          <a:p>
            <a:pPr algn="l">
              <a:spcAft>
                <a:spcPts val="0"/>
              </a:spcAft>
            </a:pPr>
            <a:r>
              <a:rPr sz="1500" b="0" i="0">
                <a:solidFill>
                  <a:srgbClr val="2B2F3A"/>
                </a:solidFill>
                <a:latin typeface="Courier New"/>
              </a:rPr>
              <a:t>→ 99    # no especificado</a:t>
            </a:r>
          </a:p>
        </p:txBody>
      </p:sp>
      <p:sp>
        <p:nvSpPr>
          <p:cNvPr id="9" name="Por qué importa"/>
          <p:cNvSpPr/>
          <p:nvPr/>
        </p:nvSpPr>
        <p:spPr>
          <a:xfrm>
            <a:off x="5852160" y="1508760"/>
            <a:ext cx="5788152" cy="15544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or qué importa texto"/>
          <p:cNvSpPr txBox="1"/>
          <p:nvPr/>
        </p:nvSpPr>
        <p:spPr>
          <a:xfrm>
            <a:off x="6053328" y="1618488"/>
            <a:ext cx="5385816" cy="1335024"/>
          </a:xfrm>
          <a:prstGeom prst="rect">
            <a:avLst/>
          </a:prstGeom>
          <a:noFill/>
        </p:spPr>
        <p:txBody>
          <a:bodyPr wrap="square" lIns="0" rIns="0" tIns="0" bIns="0" anchor="ctr">
            <a:spAutoFit/>
          </a:bodyPr>
          <a:lstStyle/>
          <a:p>
            <a:pPr algn="l">
              <a:spcAft>
                <a:spcPts val="800"/>
              </a:spcAft>
            </a:pPr>
            <a:r>
              <a:rPr sz="1500" b="1" i="0">
                <a:solidFill>
                  <a:schemeClr val="tx2"/>
                </a:solidFill>
              </a:rPr>
              <a:t>Un 99 tratado como número real distorsionaría los promedios. </a:t>
            </a:r>
            <a:r>
              <a:rPr sz="1500" b="0" i="0">
                <a:solidFill>
                  <a:schemeClr val="tx1"/>
                </a:solidFill>
              </a:rPr>
              <a:t>Cada código se convierte en faltante y se registra; nadie se borra del universo.</a:t>
            </a:r>
          </a:p>
        </p:txBody>
      </p:sp>
      <p:graphicFrame>
        <p:nvGraphicFramePr>
          <p:cNvPr id="11" name="Códigos especiales"/>
          <p:cNvGraphicFramePr>
            <a:graphicFrameLocks noGrp="1"/>
          </p:cNvGraphicFramePr>
          <p:nvPr/>
        </p:nvGraphicFramePr>
        <p:xfrm>
          <a:off x="548640" y="3291840"/>
          <a:ext cx="11091672" cy="2340864"/>
        </p:xfrm>
        <a:graphic>
          <a:graphicData uri="http://schemas.openxmlformats.org/drawingml/2006/table">
            <a:tbl>
              <a:tblPr firstRow="1" bandRow="1">
                <a:tableStyleId>{5C22544A-7EE6-4342-B048-85BDC9FD1C3A}</a:tableStyleId>
              </a:tblPr>
              <a:tblGrid>
                <a:gridCol w="731520"/>
                <a:gridCol w="1645920"/>
                <a:gridCol w="2834640"/>
                <a:gridCol w="1097280"/>
                <a:gridCol w="4782312"/>
              </a:tblGrid>
              <a:tr h="438912">
                <a:tc>
                  <a:txBody>
                    <a:bodyPr/>
                    <a:lstStyle/>
                    <a:p>
                      <a:pPr algn="ctr"/>
                      <a:r>
                        <a:rPr sz="1400" b="1" i="0">
                          <a:solidFill>
                            <a:schemeClr val="bg1"/>
                          </a:solidFill>
                        </a:rPr>
                        <a:t>Marca</a:t>
                      </a:r>
                    </a:p>
                  </a:txBody>
                  <a:tcPr anchor="ctr">
                    <a:solidFill>
                      <a:schemeClr val="tx2"/>
                    </a:solidFill>
                  </a:tcPr>
                </a:tc>
                <a:tc>
                  <a:txBody>
                    <a:bodyPr/>
                    <a:lstStyle/>
                    <a:p>
                      <a:pPr algn="l"/>
                      <a:r>
                        <a:rPr sz="1400" b="1" i="0">
                          <a:solidFill>
                            <a:schemeClr val="bg1"/>
                          </a:solidFill>
                        </a:rPr>
                        <a:t>Variable</a:t>
                      </a:r>
                    </a:p>
                  </a:txBody>
                  <a:tcPr anchor="ctr">
                    <a:solidFill>
                      <a:schemeClr val="tx2"/>
                    </a:solidFill>
                  </a:tcPr>
                </a:tc>
                <a:tc>
                  <a:txBody>
                    <a:bodyPr/>
                    <a:lstStyle/>
                    <a:p>
                      <a:pPr algn="l"/>
                      <a:r>
                        <a:rPr sz="1400" b="1" i="0">
                          <a:solidFill>
                            <a:schemeClr val="bg1"/>
                          </a:solidFill>
                        </a:rPr>
                        <a:t>Código</a:t>
                      </a:r>
                    </a:p>
                  </a:txBody>
                  <a:tcPr anchor="ctr">
                    <a:solidFill>
                      <a:schemeClr val="tx2"/>
                    </a:solidFill>
                  </a:tcPr>
                </a:tc>
                <a:tc>
                  <a:txBody>
                    <a:bodyPr/>
                    <a:lstStyle/>
                    <a:p>
                      <a:pPr algn="r"/>
                      <a:r>
                        <a:rPr sz="1400" b="1" i="0">
                          <a:solidFill>
                            <a:schemeClr val="bg1"/>
                          </a:solidFill>
                        </a:rPr>
                        <a:t>Registros</a:t>
                      </a:r>
                    </a:p>
                  </a:txBody>
                  <a:tcPr anchor="ctr">
                    <a:solidFill>
                      <a:schemeClr val="tx2"/>
                    </a:solidFill>
                  </a:tcPr>
                </a:tc>
                <a:tc>
                  <a:txBody>
                    <a:bodyPr/>
                    <a:lstStyle/>
                    <a:p>
                      <a:pPr algn="l"/>
                      <a:r>
                        <a:rPr sz="1400" b="1" i="0">
                          <a:solidFill>
                            <a:schemeClr val="bg1"/>
                          </a:solidFill>
                        </a:rPr>
                        <a:t>Tratamiento</a:t>
                      </a:r>
                    </a:p>
                  </a:txBody>
                  <a:tcPr anchor="ctr">
                    <a:solidFill>
                      <a:schemeClr val="tx2"/>
                    </a:solidFill>
                  </a:tcPr>
                </a:tc>
              </a:tr>
              <a:tr h="475488">
                <a:tc>
                  <a:txBody>
                    <a:bodyPr wrap="square"/>
                    <a:lstStyle/>
                    <a:p>
                      <a:pPr algn="ctr"/>
                      <a:r>
                        <a:rPr sz="1400" b="0" i="0">
                          <a:solidFill>
                            <a:schemeClr val="tx1"/>
                          </a:solidFill>
                        </a:rPr>
                        <a:t>M1</a:t>
                      </a:r>
                    </a:p>
                  </a:txBody>
                  <a:tcPr anchor="ctr" marL="73152" marR="73152">
                    <a:solidFill>
                      <a:schemeClr val="bg1"/>
                    </a:solidFill>
                  </a:tcPr>
                </a:tc>
                <a:tc>
                  <a:txBody>
                    <a:bodyPr wrap="square"/>
                    <a:lstStyle/>
                    <a:p>
                      <a:pPr algn="l"/>
                      <a:r>
                        <a:rPr sz="1400" b="0" i="0">
                          <a:solidFill>
                            <a:schemeClr val="tx1"/>
                          </a:solidFill>
                        </a:rPr>
                        <a:t>anios_esc</a:t>
                      </a:r>
                    </a:p>
                  </a:txBody>
                  <a:tcPr anchor="ctr" marL="73152" marR="73152">
                    <a:solidFill>
                      <a:schemeClr val="bg1"/>
                    </a:solidFill>
                  </a:tcPr>
                </a:tc>
                <a:tc>
                  <a:txBody>
                    <a:bodyPr wrap="square"/>
                    <a:lstStyle/>
                    <a:p>
                      <a:pPr algn="l"/>
                      <a:r>
                        <a:rPr sz="1400" b="0" i="0">
                          <a:solidFill>
                            <a:schemeClr val="tx1"/>
                          </a:solidFill>
                        </a:rPr>
                        <a:t>99 = no especificado</a:t>
                      </a:r>
                    </a:p>
                  </a:txBody>
                  <a:tcPr anchor="ctr" marL="73152" marR="73152">
                    <a:solidFill>
                      <a:schemeClr val="bg1"/>
                    </a:solidFill>
                  </a:tcPr>
                </a:tc>
                <a:tc>
                  <a:txBody>
                    <a:bodyPr wrap="square"/>
                    <a:lstStyle/>
                    <a:p>
                      <a:pPr algn="r"/>
                      <a:r>
                        <a:rPr sz="1400" b="0" i="0">
                          <a:solidFill>
                            <a:schemeClr val="tx1"/>
                          </a:solidFill>
                        </a:rPr>
                        <a:t>610</a:t>
                      </a:r>
                    </a:p>
                  </a:txBody>
                  <a:tcPr anchor="ctr" marL="73152" marR="73152">
                    <a:solidFill>
                      <a:schemeClr val="bg1"/>
                    </a:solidFill>
                  </a:tcPr>
                </a:tc>
                <a:tc>
                  <a:txBody>
                    <a:bodyPr wrap="square"/>
                    <a:lstStyle/>
                    <a:p>
                      <a:pPr algn="l"/>
                      <a:r>
                        <a:rPr sz="1400" b="0" i="0">
                          <a:solidFill>
                            <a:schemeClr val="tx1"/>
                          </a:solidFill>
                        </a:rPr>
                        <a:t>Faltante: no entra al análisis de escolaridad</a:t>
                      </a:r>
                    </a:p>
                  </a:txBody>
                  <a:tcPr anchor="ctr" marL="73152" marR="73152">
                    <a:solidFill>
                      <a:schemeClr val="bg1"/>
                    </a:solidFill>
                  </a:tcPr>
                </a:tc>
              </a:tr>
              <a:tr h="475488">
                <a:tc>
                  <a:txBody>
                    <a:bodyPr wrap="square"/>
                    <a:lstStyle/>
                    <a:p>
                      <a:pPr algn="ctr"/>
                      <a:r>
                        <a:rPr sz="1400" b="0" i="0">
                          <a:solidFill>
                            <a:schemeClr val="tx1"/>
                          </a:solidFill>
                        </a:rPr>
                        <a:t>M2</a:t>
                      </a:r>
                    </a:p>
                  </a:txBody>
                  <a:tcPr anchor="ctr" marL="73152" marR="73152">
                    <a:solidFill>
                      <a:schemeClr val="bg2"/>
                    </a:solidFill>
                  </a:tcPr>
                </a:tc>
                <a:tc>
                  <a:txBody>
                    <a:bodyPr wrap="square"/>
                    <a:lstStyle/>
                    <a:p>
                      <a:pPr algn="l"/>
                      <a:r>
                        <a:rPr sz="1400" b="0" i="0">
                          <a:solidFill>
                            <a:schemeClr val="tx1"/>
                          </a:solidFill>
                        </a:rPr>
                        <a:t>hrsocup</a:t>
                      </a:r>
                    </a:p>
                  </a:txBody>
                  <a:tcPr anchor="ctr" marL="73152" marR="73152">
                    <a:solidFill>
                      <a:schemeClr val="bg2"/>
                    </a:solidFill>
                  </a:tcPr>
                </a:tc>
                <a:tc>
                  <a:txBody>
                    <a:bodyPr wrap="square"/>
                    <a:lstStyle/>
                    <a:p>
                      <a:pPr algn="l"/>
                      <a:r>
                        <a:rPr sz="1400" b="0" i="0">
                          <a:solidFill>
                            <a:schemeClr val="tx1"/>
                          </a:solidFill>
                        </a:rPr>
                        <a:t>0 horas la semana pasada</a:t>
                      </a:r>
                    </a:p>
                  </a:txBody>
                  <a:tcPr anchor="ctr" marL="73152" marR="73152">
                    <a:solidFill>
                      <a:schemeClr val="bg2"/>
                    </a:solidFill>
                  </a:tcPr>
                </a:tc>
                <a:tc>
                  <a:txBody>
                    <a:bodyPr wrap="square"/>
                    <a:lstStyle/>
                    <a:p>
                      <a:pPr algn="r"/>
                      <a:r>
                        <a:rPr sz="1400" b="0" i="0">
                          <a:solidFill>
                            <a:schemeClr val="tx1"/>
                          </a:solidFill>
                        </a:rPr>
                        <a:t>5,278</a:t>
                      </a:r>
                    </a:p>
                  </a:txBody>
                  <a:tcPr anchor="ctr" marL="73152" marR="73152">
                    <a:solidFill>
                      <a:schemeClr val="bg2"/>
                    </a:solidFill>
                  </a:tcPr>
                </a:tc>
                <a:tc>
                  <a:txBody>
                    <a:bodyPr wrap="square"/>
                    <a:lstStyle/>
                    <a:p>
                      <a:pPr algn="l"/>
                      <a:r>
                        <a:rPr sz="1400" b="0" i="0">
                          <a:solidFill>
                            <a:schemeClr val="tx1"/>
                          </a:solidFill>
                        </a:rPr>
                        <a:t>Faltante: ocupado pero ausente; no hay ingreso por hora</a:t>
                      </a:r>
                    </a:p>
                  </a:txBody>
                  <a:tcPr anchor="ctr" marL="73152" marR="73152">
                    <a:solidFill>
                      <a:schemeClr val="bg2"/>
                    </a:solidFill>
                  </a:tcPr>
                </a:tc>
              </a:tr>
              <a:tr h="475488">
                <a:tc>
                  <a:txBody>
                    <a:bodyPr wrap="square"/>
                    <a:lstStyle/>
                    <a:p>
                      <a:pPr algn="ctr"/>
                      <a:r>
                        <a:rPr sz="1400" b="0" i="0">
                          <a:solidFill>
                            <a:schemeClr val="tx1"/>
                          </a:solidFill>
                        </a:rPr>
                        <a:t>M3</a:t>
                      </a:r>
                    </a:p>
                  </a:txBody>
                  <a:tcPr anchor="ctr" marL="73152" marR="73152">
                    <a:solidFill>
                      <a:schemeClr val="bg1"/>
                    </a:solidFill>
                  </a:tcPr>
                </a:tc>
                <a:tc>
                  <a:txBody>
                    <a:bodyPr wrap="square"/>
                    <a:lstStyle/>
                    <a:p>
                      <a:pPr algn="l"/>
                      <a:r>
                        <a:rPr sz="1400" b="0" i="0">
                          <a:solidFill>
                            <a:schemeClr val="tx1"/>
                          </a:solidFill>
                        </a:rPr>
                        <a:t>hrsocup</a:t>
                      </a:r>
                    </a:p>
                  </a:txBody>
                  <a:tcPr anchor="ctr" marL="73152" marR="73152">
                    <a:solidFill>
                      <a:schemeClr val="bg1"/>
                    </a:solidFill>
                  </a:tcPr>
                </a:tc>
                <a:tc>
                  <a:txBody>
                    <a:bodyPr wrap="square"/>
                    <a:lstStyle/>
                    <a:p>
                      <a:pPr algn="l"/>
                      <a:r>
                        <a:rPr sz="1400" b="0" i="0">
                          <a:solidFill>
                            <a:schemeClr val="tx1"/>
                          </a:solidFill>
                        </a:rPr>
                        <a:t>&gt; 112 horas semanales</a:t>
                      </a:r>
                    </a:p>
                  </a:txBody>
                  <a:tcPr anchor="ctr" marL="73152" marR="73152">
                    <a:solidFill>
                      <a:schemeClr val="bg1"/>
                    </a:solidFill>
                  </a:tcPr>
                </a:tc>
                <a:tc>
                  <a:txBody>
                    <a:bodyPr wrap="square"/>
                    <a:lstStyle/>
                    <a:p>
                      <a:pPr algn="r"/>
                      <a:r>
                        <a:rPr sz="1400" b="0" i="0">
                          <a:solidFill>
                            <a:schemeClr val="tx1"/>
                          </a:solidFill>
                        </a:rPr>
                        <a:t>41</a:t>
                      </a:r>
                    </a:p>
                  </a:txBody>
                  <a:tcPr anchor="ctr" marL="73152" marR="73152">
                    <a:solidFill>
                      <a:schemeClr val="bg1"/>
                    </a:solidFill>
                  </a:tcPr>
                </a:tc>
                <a:tc>
                  <a:txBody>
                    <a:bodyPr wrap="square"/>
                    <a:lstStyle/>
                    <a:p>
                      <a:pPr algn="l"/>
                      <a:r>
                        <a:rPr sz="1400" b="0" i="0">
                          <a:solidFill>
                            <a:schemeClr val="tx1"/>
                          </a:solidFill>
                        </a:rPr>
                        <a:t>Faltante: 16 h × 7 días es una jornada imposible</a:t>
                      </a:r>
                    </a:p>
                  </a:txBody>
                  <a:tcPr anchor="ctr" marL="73152" marR="73152">
                    <a:solidFill>
                      <a:schemeClr val="bg1"/>
                    </a:solidFill>
                  </a:tcPr>
                </a:tc>
              </a:tr>
              <a:tr h="475488">
                <a:tc>
                  <a:txBody>
                    <a:bodyPr wrap="square"/>
                    <a:lstStyle/>
                    <a:p>
                      <a:pPr algn="ctr"/>
                      <a:r>
                        <a:rPr sz="1400" b="0" i="0">
                          <a:solidFill>
                            <a:schemeClr val="tx1"/>
                          </a:solidFill>
                        </a:rPr>
                        <a:t>M4</a:t>
                      </a:r>
                    </a:p>
                  </a:txBody>
                  <a:tcPr anchor="ctr" marL="73152" marR="73152">
                    <a:solidFill>
                      <a:schemeClr val="bg2"/>
                    </a:solidFill>
                  </a:tcPr>
                </a:tc>
                <a:tc>
                  <a:txBody>
                    <a:bodyPr wrap="square"/>
                    <a:lstStyle/>
                    <a:p>
                      <a:pPr algn="l"/>
                      <a:r>
                        <a:rPr sz="1400" b="0" i="0">
                          <a:solidFill>
                            <a:schemeClr val="tx1"/>
                          </a:solidFill>
                        </a:rPr>
                        <a:t>niv_ins</a:t>
                      </a:r>
                    </a:p>
                  </a:txBody>
                  <a:tcPr anchor="ctr" marL="73152" marR="73152">
                    <a:solidFill>
                      <a:schemeClr val="bg2"/>
                    </a:solidFill>
                  </a:tcPr>
                </a:tc>
                <a:tc>
                  <a:txBody>
                    <a:bodyPr wrap="square"/>
                    <a:lstStyle/>
                    <a:p>
                      <a:pPr algn="l"/>
                      <a:r>
                        <a:rPr sz="1400" b="0" i="0">
                          <a:solidFill>
                            <a:schemeClr val="tx1"/>
                          </a:solidFill>
                        </a:rPr>
                        <a:t>5 = no especificado</a:t>
                      </a:r>
                    </a:p>
                  </a:txBody>
                  <a:tcPr anchor="ctr" marL="73152" marR="73152">
                    <a:solidFill>
                      <a:schemeClr val="bg2"/>
                    </a:solidFill>
                  </a:tcPr>
                </a:tc>
                <a:tc>
                  <a:txBody>
                    <a:bodyPr wrap="square"/>
                    <a:lstStyle/>
                    <a:p>
                      <a:pPr algn="r"/>
                      <a:r>
                        <a:rPr sz="1400" b="0" i="0">
                          <a:solidFill>
                            <a:schemeClr val="tx1"/>
                          </a:solidFill>
                        </a:rPr>
                        <a:t>479</a:t>
                      </a:r>
                    </a:p>
                  </a:txBody>
                  <a:tcPr anchor="ctr" marL="73152" marR="73152">
                    <a:solidFill>
                      <a:schemeClr val="bg2"/>
                    </a:solidFill>
                  </a:tcPr>
                </a:tc>
                <a:tc>
                  <a:txBody>
                    <a:bodyPr wrap="square"/>
                    <a:lstStyle/>
                    <a:p>
                      <a:pPr algn="l"/>
                      <a:r>
                        <a:rPr sz="1400" b="0" i="0">
                          <a:solidFill>
                            <a:schemeClr val="tx1"/>
                          </a:solidFill>
                        </a:rPr>
                        <a:t>Se excluye del análisis por nivel de instrucción</a:t>
                      </a:r>
                    </a:p>
                  </a:txBody>
                  <a:tcPr anchor="ctr" marL="73152" marR="73152">
                    <a:solidFill>
                      <a:schemeClr val="bg2"/>
                    </a:solidFill>
                  </a:tcPr>
                </a:tc>
              </a:tr>
            </a:tbl>
          </a:graphicData>
        </a:graphic>
      </p:graphicFrame>
      <p:sp>
        <p:nvSpPr>
          <p:cNvPr id="12" name="Nota"/>
          <p:cNvSpPr txBox="1"/>
          <p:nvPr/>
        </p:nvSpPr>
        <p:spPr>
          <a:xfrm>
            <a:off x="548640" y="5852160"/>
            <a:ext cx="11091672" cy="320040"/>
          </a:xfrm>
          <a:prstGeom prst="rect">
            <a:avLst/>
          </a:prstGeom>
          <a:noFill/>
        </p:spPr>
        <p:txBody>
          <a:bodyPr wrap="square" lIns="0" rIns="0" tIns="0" bIns="0" anchor="t">
            <a:spAutoFit/>
          </a:bodyPr>
          <a:lstStyle/>
          <a:p>
            <a:pPr algn="l">
              <a:spcAft>
                <a:spcPts val="0"/>
              </a:spcAft>
            </a:pPr>
            <a:r>
              <a:rPr sz="1300" b="0" i="0">
                <a:solidFill>
                  <a:srgbClr val="5F6368"/>
                </a:solidFill>
              </a:rPr>
              <a:t>Menos de 3 % del universo en el peor caso (M2): el faltante importante es el del ingreso.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El «ingreso cero» esconde tres fenómenos distintos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11</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pic>
        <p:nvPicPr>
          <p:cNvPr id="6" name="02_calidad_ingreso.png" descr="Barras apiladas por población (total, sexo y nivel de instrucción) con el porcentaje que declara monto exacto (A), solo rango (B), no recibe ingresos (C) o no especificó (D)"/>
          <p:cNvPicPr>
            <a:picLocks noChangeAspect="1"/>
          </p:cNvPicPr>
          <p:nvPr/>
        </p:nvPicPr>
        <p:blipFill>
          <a:blip r:embed="rId3"/>
          <a:stretch>
            <a:fillRect/>
          </a:stretch>
        </p:blipFill>
        <p:spPr>
          <a:xfrm>
            <a:off x="548640" y="2099690"/>
            <a:ext cx="7680960" cy="3344418"/>
          </a:xfrm>
          <a:prstGeom prst="rect">
            <a:avLst/>
          </a:prstGeom>
        </p:spPr>
      </p:pic>
      <p:sp>
        <p:nvSpPr>
          <p:cNvPr id="7" name="Grupo A"/>
          <p:cNvSpPr/>
          <p:nvPr/>
        </p:nvSpPr>
        <p:spPr>
          <a:xfrm>
            <a:off x="8503920" y="1508760"/>
            <a:ext cx="3136392" cy="1234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Grupo A texto"/>
          <p:cNvSpPr txBox="1"/>
          <p:nvPr/>
        </p:nvSpPr>
        <p:spPr>
          <a:xfrm>
            <a:off x="8686800" y="1600200"/>
            <a:ext cx="2770632" cy="1051560"/>
          </a:xfrm>
          <a:prstGeom prst="rect">
            <a:avLst/>
          </a:prstGeom>
          <a:noFill/>
        </p:spPr>
        <p:txBody>
          <a:bodyPr wrap="square" lIns="0" rIns="0" tIns="0" bIns="0" anchor="ctr">
            <a:spAutoFit/>
          </a:bodyPr>
          <a:lstStyle/>
          <a:p>
            <a:pPr algn="l">
              <a:spcAft>
                <a:spcPts val="0"/>
              </a:spcAft>
            </a:pPr>
            <a:r>
              <a:rPr sz="3600" b="1" i="0">
                <a:solidFill>
                  <a:schemeClr val="tx2"/>
                </a:solidFill>
              </a:rPr>
              <a:t>61 %</a:t>
            </a:r>
          </a:p>
          <a:p>
            <a:r>
              <a:rPr sz="1400" b="0" i="0">
                <a:solidFill>
                  <a:schemeClr val="tx1"/>
                </a:solidFill>
              </a:rPr>
              <a:t>declara el monto exacto</a:t>
            </a:r>
          </a:p>
        </p:txBody>
      </p:sp>
      <p:sp>
        <p:nvSpPr>
          <p:cNvPr id="9" name="Grupo B"/>
          <p:cNvSpPr/>
          <p:nvPr/>
        </p:nvSpPr>
        <p:spPr>
          <a:xfrm>
            <a:off x="8503920" y="2880360"/>
            <a:ext cx="3136392" cy="1234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Grupo B texto"/>
          <p:cNvSpPr txBox="1"/>
          <p:nvPr/>
        </p:nvSpPr>
        <p:spPr>
          <a:xfrm>
            <a:off x="8686800" y="2971800"/>
            <a:ext cx="2770632" cy="1051560"/>
          </a:xfrm>
          <a:prstGeom prst="rect">
            <a:avLst/>
          </a:prstGeom>
          <a:noFill/>
        </p:spPr>
        <p:txBody>
          <a:bodyPr wrap="square" lIns="0" rIns="0" tIns="0" bIns="0" anchor="ctr">
            <a:spAutoFit/>
          </a:bodyPr>
          <a:lstStyle/>
          <a:p>
            <a:pPr algn="l">
              <a:spcAft>
                <a:spcPts val="0"/>
              </a:spcAft>
            </a:pPr>
            <a:r>
              <a:rPr sz="3600" b="1" i="0">
                <a:solidFill>
                  <a:schemeClr val="tx2"/>
                </a:solidFill>
              </a:rPr>
              <a:t>22 %</a:t>
            </a:r>
          </a:p>
          <a:p>
            <a:r>
              <a:rPr sz="1400" b="0" i="0">
                <a:solidFill>
                  <a:schemeClr val="tx1"/>
                </a:solidFill>
              </a:rPr>
              <a:t>da solo un rango de salarios mínimos</a:t>
            </a:r>
          </a:p>
        </p:txBody>
      </p:sp>
      <p:sp>
        <p:nvSpPr>
          <p:cNvPr id="11" name="Grupo D"/>
          <p:cNvSpPr/>
          <p:nvPr/>
        </p:nvSpPr>
        <p:spPr>
          <a:xfrm>
            <a:off x="8503920" y="4251960"/>
            <a:ext cx="3136392" cy="1234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rupo D texto"/>
          <p:cNvSpPr txBox="1"/>
          <p:nvPr/>
        </p:nvSpPr>
        <p:spPr>
          <a:xfrm>
            <a:off x="8686800" y="4343400"/>
            <a:ext cx="2770632" cy="1051560"/>
          </a:xfrm>
          <a:prstGeom prst="rect">
            <a:avLst/>
          </a:prstGeom>
          <a:noFill/>
        </p:spPr>
        <p:txBody>
          <a:bodyPr wrap="square" lIns="0" rIns="0" tIns="0" bIns="0" anchor="ctr">
            <a:spAutoFit/>
          </a:bodyPr>
          <a:lstStyle/>
          <a:p>
            <a:pPr algn="l">
              <a:spcAft>
                <a:spcPts val="0"/>
              </a:spcAft>
            </a:pPr>
            <a:r>
              <a:rPr sz="3600" b="1" i="0">
                <a:solidFill>
                  <a:schemeClr val="tx2"/>
                </a:solidFill>
              </a:rPr>
              <a:t>13 %</a:t>
            </a:r>
          </a:p>
          <a:p>
            <a:r>
              <a:rPr sz="1400" b="0" i="0">
                <a:solidFill>
                  <a:schemeClr val="tx1"/>
                </a:solidFill>
              </a:rPr>
              <a:t>no especifica su ingreso</a:t>
            </a:r>
          </a:p>
        </p:txBody>
      </p:sp>
      <p:sp>
        <p:nvSpPr>
          <p:cNvPr id="13" name="Mensaje"/>
          <p:cNvSpPr txBox="1"/>
          <p:nvPr/>
        </p:nvSpPr>
        <p:spPr>
          <a:xfrm>
            <a:off x="8503920" y="5596128"/>
            <a:ext cx="3136392" cy="548640"/>
          </a:xfrm>
          <a:prstGeom prst="rect">
            <a:avLst/>
          </a:prstGeom>
          <a:noFill/>
        </p:spPr>
        <p:txBody>
          <a:bodyPr wrap="square" lIns="0" rIns="0" tIns="0" bIns="0" anchor="t">
            <a:spAutoFit/>
          </a:bodyPr>
          <a:lstStyle/>
          <a:p>
            <a:pPr algn="l">
              <a:spcAft>
                <a:spcPts val="0"/>
              </a:spcAft>
            </a:pPr>
            <a:r>
              <a:rPr sz="1300" b="1" i="0">
                <a:solidFill>
                  <a:schemeClr val="tx2"/>
                </a:solidFill>
              </a:rPr>
              <a:t>Más escolaridad, menos monto exacto (55 % vs. 69 %)</a:t>
            </a:r>
          </a:p>
        </p:txBody>
      </p:sp>
      <p:sp>
        <p:nvSpPr>
          <p:cNvPr id="14"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no respuesta del ingreso no es aleatoria: quien más estudia declara menos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12</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sp>
        <p:nvSpPr>
          <p:cNvPr id="6" name="Subtítulo de la gráfica"/>
          <p:cNvSpPr txBox="1"/>
          <p:nvPr/>
        </p:nvSpPr>
        <p:spPr>
          <a:xfrm>
            <a:off x="548640" y="1508760"/>
            <a:ext cx="6766560" cy="365760"/>
          </a:xfrm>
          <a:prstGeom prst="rect">
            <a:avLst/>
          </a:prstGeom>
          <a:noFill/>
        </p:spPr>
        <p:txBody>
          <a:bodyPr wrap="square" lIns="0" rIns="0" tIns="0" bIns="0" anchor="t">
            <a:spAutoFit/>
          </a:bodyPr>
          <a:lstStyle/>
          <a:p>
            <a:pPr algn="l">
              <a:spcAft>
                <a:spcPts val="0"/>
              </a:spcAft>
            </a:pPr>
            <a:r>
              <a:rPr sz="1600" b="1" i="0">
                <a:solidFill>
                  <a:schemeClr val="tx2"/>
                </a:solidFill>
              </a:rPr>
              <a:t>Cambio en los momios de declarar el monto exacto (%)</a:t>
            </a:r>
          </a:p>
        </p:txBody>
      </p:sp>
      <p:graphicFrame>
        <p:nvGraphicFramePr>
          <p:cNvPr id="7" name="Gráfica de razones de momios"/>
          <p:cNvGraphicFramePr>
            <a:graphicFrameLocks noGrp="1"/>
          </p:cNvGraphicFramePr>
          <p:nvPr/>
        </p:nvGraphicFramePr>
        <p:xfrm>
          <a:off x="548640" y="1920240"/>
          <a:ext cx="6766560" cy="4297680"/>
        </p:xfrm>
        <a:graphic>
          <a:graphicData uri="http://schemas.openxmlformats.org/drawingml/2006/chart">
            <c:chart xmlns:c="http://schemas.openxmlformats.org/drawingml/2006/chart" r:id="rId3"/>
          </a:graphicData>
        </a:graphic>
      </p:graphicFrame>
      <p:sp>
        <p:nvSpPr>
          <p:cNvPr id="8" name="Gradiente"/>
          <p:cNvSpPr/>
          <p:nvPr/>
        </p:nvSpPr>
        <p:spPr>
          <a:xfrm>
            <a:off x="7589520" y="1508760"/>
            <a:ext cx="4050791"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Gradiente texto"/>
          <p:cNvSpPr txBox="1"/>
          <p:nvPr/>
        </p:nvSpPr>
        <p:spPr>
          <a:xfrm>
            <a:off x="7772400" y="1600200"/>
            <a:ext cx="3685031" cy="1143000"/>
          </a:xfrm>
          <a:prstGeom prst="rect">
            <a:avLst/>
          </a:prstGeom>
          <a:noFill/>
        </p:spPr>
        <p:txBody>
          <a:bodyPr wrap="square" lIns="0" rIns="0" tIns="0" bIns="0" anchor="ctr">
            <a:spAutoFit/>
          </a:bodyPr>
          <a:lstStyle/>
          <a:p>
            <a:pPr algn="l">
              <a:spcAft>
                <a:spcPts val="0"/>
              </a:spcAft>
            </a:pPr>
            <a:r>
              <a:rPr sz="3200" b="1" i="0">
                <a:solidFill>
                  <a:schemeClr val="tx2"/>
                </a:solidFill>
              </a:rPr>
              <a:t>69 % → 55 %</a:t>
            </a:r>
          </a:p>
          <a:p>
            <a:r>
              <a:rPr sz="1300" b="0" i="0">
                <a:solidFill>
                  <a:schemeClr val="tx1"/>
                </a:solidFill>
              </a:rPr>
              <a:t>declaran el monto exacto: de primaria incompleta a media superior o más</a:t>
            </a:r>
          </a:p>
        </p:txBody>
      </p:sp>
      <p:sp>
        <p:nvSpPr>
          <p:cNvPr id="10" name="V de Cramér"/>
          <p:cNvSpPr/>
          <p:nvPr/>
        </p:nvSpPr>
        <p:spPr>
          <a:xfrm>
            <a:off x="7589520" y="2971800"/>
            <a:ext cx="4050791"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 de Cramér texto"/>
          <p:cNvSpPr txBox="1"/>
          <p:nvPr/>
        </p:nvSpPr>
        <p:spPr>
          <a:xfrm>
            <a:off x="7772400" y="3063240"/>
            <a:ext cx="3685031" cy="1143000"/>
          </a:xfrm>
          <a:prstGeom prst="rect">
            <a:avLst/>
          </a:prstGeom>
          <a:noFill/>
        </p:spPr>
        <p:txBody>
          <a:bodyPr wrap="square" lIns="0" rIns="0" tIns="0" bIns="0" anchor="ctr">
            <a:spAutoFit/>
          </a:bodyPr>
          <a:lstStyle/>
          <a:p>
            <a:pPr algn="l">
              <a:spcAft>
                <a:spcPts val="0"/>
              </a:spcAft>
            </a:pPr>
            <a:r>
              <a:rPr sz="3200" b="1" i="0">
                <a:solidFill>
                  <a:schemeClr val="tx2"/>
                </a:solidFill>
              </a:rPr>
              <a:t>V = 0.52</a:t>
            </a:r>
          </a:p>
          <a:p>
            <a:r>
              <a:rPr sz="1300" b="0" i="0">
                <a:solidFill>
                  <a:schemeClr val="tx1"/>
                </a:solidFill>
              </a:rPr>
              <a:t>asociación χ² con la posición en la ocupación (informalidad 0.22; nivel 0.10; sexo 0.04)</a:t>
            </a:r>
          </a:p>
        </p:txBody>
      </p:sp>
      <p:sp>
        <p:nvSpPr>
          <p:cNvPr id="12" name="Consecuencia"/>
          <p:cNvSpPr/>
          <p:nvPr/>
        </p:nvSpPr>
        <p:spPr>
          <a:xfrm>
            <a:off x="7589520" y="4434840"/>
            <a:ext cx="4050791" cy="17830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nsecuencia texto"/>
          <p:cNvSpPr txBox="1"/>
          <p:nvPr/>
        </p:nvSpPr>
        <p:spPr>
          <a:xfrm>
            <a:off x="7790688" y="4544568"/>
            <a:ext cx="3648456" cy="1563624"/>
          </a:xfrm>
          <a:prstGeom prst="rect">
            <a:avLst/>
          </a:prstGeom>
          <a:noFill/>
        </p:spPr>
        <p:txBody>
          <a:bodyPr wrap="square" lIns="0" rIns="0" tIns="0" bIns="0" anchor="ctr">
            <a:spAutoFit/>
          </a:bodyPr>
          <a:lstStyle/>
          <a:p>
            <a:pPr algn="l">
              <a:spcAft>
                <a:spcPts val="800"/>
              </a:spcAft>
            </a:pPr>
            <a:r>
              <a:rPr sz="1500" b="1" i="0">
                <a:solidFill>
                  <a:schemeClr val="tx2"/>
                </a:solidFill>
              </a:rPr>
              <a:t>Consecuencia: </a:t>
            </a:r>
            <a:r>
              <a:rPr sz="1500" b="0" i="0">
                <a:solidFill>
                  <a:schemeClr val="tx1"/>
                </a:solidFill>
              </a:rPr>
              <a:t>la muestra salarial subrepresenta a los más escolarizados; se contrasta con imputación, IPW y solo asalariados.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Imputación por rango: la mediana de quienes sí declararon</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13</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graphicFrame>
        <p:nvGraphicFramePr>
          <p:cNvPr id="6" name="Tabla de imputación"/>
          <p:cNvGraphicFramePr>
            <a:graphicFrameLocks noGrp="1"/>
          </p:cNvGraphicFramePr>
          <p:nvPr/>
        </p:nvGraphicFramePr>
        <p:xfrm>
          <a:off x="548640" y="1508760"/>
          <a:ext cx="8229600" cy="3657600"/>
        </p:xfrm>
        <a:graphic>
          <a:graphicData uri="http://schemas.openxmlformats.org/drawingml/2006/table">
            <a:tbl>
              <a:tblPr firstRow="1" bandRow="1">
                <a:tableStyleId>{5C22544A-7EE6-4342-B048-85BDC9FD1C3A}</a:tableStyleId>
              </a:tblPr>
              <a:tblGrid>
                <a:gridCol w="2743200"/>
                <a:gridCol w="2011680"/>
                <a:gridCol w="1828800"/>
                <a:gridCol w="1645920"/>
              </a:tblGrid>
              <a:tr h="457200">
                <a:tc>
                  <a:txBody>
                    <a:bodyPr/>
                    <a:lstStyle/>
                    <a:p>
                      <a:pPr algn="l"/>
                      <a:r>
                        <a:rPr sz="1400" b="1" i="0">
                          <a:solidFill>
                            <a:schemeClr val="bg1"/>
                          </a:solidFill>
                        </a:rPr>
                        <a:t>Rango declarado</a:t>
                      </a:r>
                    </a:p>
                  </a:txBody>
                  <a:tcPr anchor="ctr">
                    <a:solidFill>
                      <a:schemeClr val="tx2"/>
                    </a:solidFill>
                  </a:tcPr>
                </a:tc>
                <a:tc>
                  <a:txBody>
                    <a:bodyPr/>
                    <a:lstStyle/>
                    <a:p>
                      <a:pPr algn="r"/>
                      <a:r>
                        <a:rPr sz="1400" b="1" i="0">
                          <a:solidFill>
                            <a:schemeClr val="bg1"/>
                          </a:solidFill>
                        </a:rPr>
                        <a:t>Referencia (grupo A)</a:t>
                      </a:r>
                    </a:p>
                  </a:txBody>
                  <a:tcPr anchor="ctr">
                    <a:solidFill>
                      <a:schemeClr val="tx2"/>
                    </a:solidFill>
                  </a:tcPr>
                </a:tc>
                <a:tc>
                  <a:txBody>
                    <a:bodyPr/>
                    <a:lstStyle/>
                    <a:p>
                      <a:pPr algn="r"/>
                      <a:r>
                        <a:rPr sz="1400" b="1" i="0">
                          <a:solidFill>
                            <a:schemeClr val="bg1"/>
                          </a:solidFill>
                        </a:rPr>
                        <a:t>Mediana (× SM)</a:t>
                      </a:r>
                    </a:p>
                  </a:txBody>
                  <a:tcPr anchor="ctr">
                    <a:solidFill>
                      <a:schemeClr val="tx2"/>
                    </a:solidFill>
                  </a:tcPr>
                </a:tc>
                <a:tc>
                  <a:txBody>
                    <a:bodyPr/>
                    <a:lstStyle/>
                    <a:p>
                      <a:pPr algn="r"/>
                      <a:r>
                        <a:rPr sz="1400" b="1" i="0">
                          <a:solidFill>
                            <a:schemeClr val="bg1"/>
                          </a:solidFill>
                        </a:rPr>
                        <a:t>Personas B</a:t>
                      </a:r>
                    </a:p>
                  </a:txBody>
                  <a:tcPr anchor="ctr">
                    <a:solidFill>
                      <a:schemeClr val="tx2"/>
                    </a:solidFill>
                  </a:tcPr>
                </a:tc>
              </a:tr>
              <a:tr h="457200">
                <a:tc>
                  <a:txBody>
                    <a:bodyPr wrap="square"/>
                    <a:lstStyle/>
                    <a:p>
                      <a:pPr algn="l"/>
                      <a:r>
                        <a:rPr sz="1400" b="0" i="0">
                          <a:solidFill>
                            <a:schemeClr val="tx1"/>
                          </a:solidFill>
                        </a:rPr>
                        <a:t>Menos de 1 SM</a:t>
                      </a:r>
                    </a:p>
                  </a:txBody>
                  <a:tcPr anchor="ctr" marL="73152" marR="73152">
                    <a:solidFill>
                      <a:schemeClr val="bg1"/>
                    </a:solidFill>
                  </a:tcPr>
                </a:tc>
                <a:tc>
                  <a:txBody>
                    <a:bodyPr wrap="square"/>
                    <a:lstStyle/>
                    <a:p>
                      <a:pPr algn="r"/>
                      <a:r>
                        <a:rPr sz="1400" b="0" i="0">
                          <a:solidFill>
                            <a:schemeClr val="tx1"/>
                          </a:solidFill>
                        </a:rPr>
                        <a:t>51,496</a:t>
                      </a:r>
                    </a:p>
                  </a:txBody>
                  <a:tcPr anchor="ctr" marL="73152" marR="73152">
                    <a:solidFill>
                      <a:schemeClr val="bg1"/>
                    </a:solidFill>
                  </a:tcPr>
                </a:tc>
                <a:tc>
                  <a:txBody>
                    <a:bodyPr wrap="square"/>
                    <a:lstStyle/>
                    <a:p>
                      <a:pPr algn="r"/>
                      <a:r>
                        <a:rPr sz="1400" b="0" i="0">
                          <a:solidFill>
                            <a:schemeClr val="tx1"/>
                          </a:solidFill>
                        </a:rPr>
                        <a:t>0.62</a:t>
                      </a:r>
                    </a:p>
                  </a:txBody>
                  <a:tcPr anchor="ctr" marL="73152" marR="73152">
                    <a:solidFill>
                      <a:schemeClr val="bg1"/>
                    </a:solidFill>
                  </a:tcPr>
                </a:tc>
                <a:tc>
                  <a:txBody>
                    <a:bodyPr wrap="square"/>
                    <a:lstStyle/>
                    <a:p>
                      <a:pPr algn="r"/>
                      <a:r>
                        <a:rPr sz="1400" b="0" i="0">
                          <a:solidFill>
                            <a:schemeClr val="tx1"/>
                          </a:solidFill>
                        </a:rPr>
                        <a:t>7,994</a:t>
                      </a:r>
                    </a:p>
                  </a:txBody>
                  <a:tcPr anchor="ctr" marL="73152" marR="73152">
                    <a:solidFill>
                      <a:schemeClr val="bg1"/>
                    </a:solidFill>
                  </a:tcPr>
                </a:tc>
              </a:tr>
              <a:tr h="457200">
                <a:tc>
                  <a:txBody>
                    <a:bodyPr wrap="square"/>
                    <a:lstStyle/>
                    <a:p>
                      <a:pPr algn="l"/>
                      <a:r>
                        <a:rPr sz="1400" b="0" i="0">
                          <a:solidFill>
                            <a:schemeClr val="tx1"/>
                          </a:solidFill>
                        </a:rPr>
                        <a:t>Exactamente 1 SM</a:t>
                      </a:r>
                    </a:p>
                  </a:txBody>
                  <a:tcPr anchor="ctr" marL="73152" marR="73152">
                    <a:solidFill>
                      <a:schemeClr val="bg2"/>
                    </a:solidFill>
                  </a:tcPr>
                </a:tc>
                <a:tc>
                  <a:txBody>
                    <a:bodyPr wrap="square"/>
                    <a:lstStyle/>
                    <a:p>
                      <a:pPr algn="r"/>
                      <a:r>
                        <a:rPr sz="1400" b="0" i="0">
                          <a:solidFill>
                            <a:schemeClr val="tx1"/>
                          </a:solidFill>
                        </a:rPr>
                        <a:t>88</a:t>
                      </a:r>
                    </a:p>
                  </a:txBody>
                  <a:tcPr anchor="ctr" marL="73152" marR="73152">
                    <a:solidFill>
                      <a:schemeClr val="bg2"/>
                    </a:solidFill>
                  </a:tcPr>
                </a:tc>
                <a:tc>
                  <a:txBody>
                    <a:bodyPr wrap="square"/>
                    <a:lstStyle/>
                    <a:p>
                      <a:pPr algn="r"/>
                      <a:r>
                        <a:rPr sz="1400" b="0" i="0">
                          <a:solidFill>
                            <a:schemeClr val="tx1"/>
                          </a:solidFill>
                        </a:rPr>
                        <a:t>1.00</a:t>
                      </a:r>
                    </a:p>
                  </a:txBody>
                  <a:tcPr anchor="ctr" marL="73152" marR="73152">
                    <a:solidFill>
                      <a:schemeClr val="bg2"/>
                    </a:solidFill>
                  </a:tcPr>
                </a:tc>
                <a:tc>
                  <a:txBody>
                    <a:bodyPr wrap="square"/>
                    <a:lstStyle/>
                    <a:p>
                      <a:pPr algn="r"/>
                      <a:r>
                        <a:rPr sz="1400" b="0" i="0">
                          <a:solidFill>
                            <a:schemeClr val="tx1"/>
                          </a:solidFill>
                        </a:rPr>
                        <a:t>11,664</a:t>
                      </a:r>
                    </a:p>
                  </a:txBody>
                  <a:tcPr anchor="ctr" marL="73152" marR="73152">
                    <a:solidFill>
                      <a:schemeClr val="bg2"/>
                    </a:solidFill>
                  </a:tcPr>
                </a:tc>
              </a:tr>
              <a:tr h="457200">
                <a:tc>
                  <a:txBody>
                    <a:bodyPr wrap="square"/>
                    <a:lstStyle/>
                    <a:p>
                      <a:pPr algn="l"/>
                      <a:r>
                        <a:rPr sz="1400" b="0" i="0">
                          <a:solidFill>
                            <a:schemeClr val="tx1"/>
                          </a:solidFill>
                        </a:rPr>
                        <a:t>Más de 1 a 2 SM</a:t>
                      </a:r>
                    </a:p>
                  </a:txBody>
                  <a:tcPr anchor="ctr" marL="73152" marR="73152">
                    <a:solidFill>
                      <a:schemeClr val="bg1"/>
                    </a:solidFill>
                  </a:tcPr>
                </a:tc>
                <a:tc>
                  <a:txBody>
                    <a:bodyPr wrap="square"/>
                    <a:lstStyle/>
                    <a:p>
                      <a:pPr algn="r"/>
                      <a:r>
                        <a:rPr sz="1400" b="0" i="0">
                          <a:solidFill>
                            <a:schemeClr val="tx1"/>
                          </a:solidFill>
                        </a:rPr>
                        <a:t>53,258</a:t>
                      </a:r>
                    </a:p>
                  </a:txBody>
                  <a:tcPr anchor="ctr" marL="73152" marR="73152">
                    <a:solidFill>
                      <a:schemeClr val="bg1"/>
                    </a:solidFill>
                  </a:tcPr>
                </a:tc>
                <a:tc>
                  <a:txBody>
                    <a:bodyPr wrap="square"/>
                    <a:lstStyle/>
                    <a:p>
                      <a:pPr algn="r"/>
                      <a:r>
                        <a:rPr sz="1400" b="0" i="0">
                          <a:solidFill>
                            <a:schemeClr val="tx1"/>
                          </a:solidFill>
                        </a:rPr>
                        <a:t>1.29</a:t>
                      </a:r>
                    </a:p>
                  </a:txBody>
                  <a:tcPr anchor="ctr" marL="73152" marR="73152">
                    <a:solidFill>
                      <a:schemeClr val="bg1"/>
                    </a:solidFill>
                  </a:tcPr>
                </a:tc>
                <a:tc>
                  <a:txBody>
                    <a:bodyPr wrap="square"/>
                    <a:lstStyle/>
                    <a:p>
                      <a:pPr algn="r"/>
                      <a:r>
                        <a:rPr sz="1400" b="0" i="0">
                          <a:solidFill>
                            <a:schemeClr val="tx1"/>
                          </a:solidFill>
                        </a:rPr>
                        <a:t>12,684</a:t>
                      </a:r>
                    </a:p>
                  </a:txBody>
                  <a:tcPr anchor="ctr" marL="73152" marR="73152">
                    <a:solidFill>
                      <a:schemeClr val="bg1"/>
                    </a:solidFill>
                  </a:tcPr>
                </a:tc>
              </a:tr>
              <a:tr h="457200">
                <a:tc>
                  <a:txBody>
                    <a:bodyPr wrap="square"/>
                    <a:lstStyle/>
                    <a:p>
                      <a:pPr algn="l"/>
                      <a:r>
                        <a:rPr sz="1400" b="1" i="0">
                          <a:solidFill>
                            <a:schemeClr val="tx1"/>
                          </a:solidFill>
                        </a:rPr>
                        <a:t>Más de 2 a 3 SM</a:t>
                      </a:r>
                    </a:p>
                  </a:txBody>
                  <a:tcPr anchor="ctr" marL="73152" marR="73152">
                    <a:solidFill>
                      <a:schemeClr val="bg2"/>
                    </a:solidFill>
                  </a:tcPr>
                </a:tc>
                <a:tc>
                  <a:txBody>
                    <a:bodyPr wrap="square"/>
                    <a:lstStyle/>
                    <a:p>
                      <a:pPr algn="r"/>
                      <a:r>
                        <a:rPr sz="1400" b="1" i="0">
                          <a:solidFill>
                            <a:schemeClr val="tx1"/>
                          </a:solidFill>
                        </a:rPr>
                        <a:t>10,386</a:t>
                      </a:r>
                    </a:p>
                  </a:txBody>
                  <a:tcPr anchor="ctr" marL="73152" marR="73152">
                    <a:solidFill>
                      <a:schemeClr val="bg2"/>
                    </a:solidFill>
                  </a:tcPr>
                </a:tc>
                <a:tc>
                  <a:txBody>
                    <a:bodyPr wrap="square"/>
                    <a:lstStyle/>
                    <a:p>
                      <a:pPr algn="r"/>
                      <a:r>
                        <a:rPr sz="1400" b="1" i="0">
                          <a:solidFill>
                            <a:schemeClr val="tx1"/>
                          </a:solidFill>
                        </a:rPr>
                        <a:t>2.39</a:t>
                      </a:r>
                    </a:p>
                  </a:txBody>
                  <a:tcPr anchor="ctr" marL="73152" marR="73152">
                    <a:solidFill>
                      <a:schemeClr val="bg2"/>
                    </a:solidFill>
                  </a:tcPr>
                </a:tc>
                <a:tc>
                  <a:txBody>
                    <a:bodyPr wrap="square"/>
                    <a:lstStyle/>
                    <a:p>
                      <a:pPr algn="r"/>
                      <a:r>
                        <a:rPr sz="1400" b="1" i="0">
                          <a:solidFill>
                            <a:schemeClr val="tx1"/>
                          </a:solidFill>
                        </a:rPr>
                        <a:t>3,154</a:t>
                      </a:r>
                    </a:p>
                  </a:txBody>
                  <a:tcPr anchor="ctr" marL="73152" marR="73152">
                    <a:solidFill>
                      <a:schemeClr val="bg2"/>
                    </a:solidFill>
                  </a:tcPr>
                </a:tc>
              </a:tr>
              <a:tr h="457200">
                <a:tc>
                  <a:txBody>
                    <a:bodyPr wrap="square"/>
                    <a:lstStyle/>
                    <a:p>
                      <a:pPr algn="l"/>
                      <a:r>
                        <a:rPr sz="1400" b="0" i="0">
                          <a:solidFill>
                            <a:schemeClr val="tx1"/>
                          </a:solidFill>
                        </a:rPr>
                        <a:t>Más de 3 a 5 SM</a:t>
                      </a:r>
                    </a:p>
                  </a:txBody>
                  <a:tcPr anchor="ctr" marL="73152" marR="73152">
                    <a:solidFill>
                      <a:schemeClr val="bg1"/>
                    </a:solidFill>
                  </a:tcPr>
                </a:tc>
                <a:tc>
                  <a:txBody>
                    <a:bodyPr wrap="square"/>
                    <a:lstStyle/>
                    <a:p>
                      <a:pPr algn="r"/>
                      <a:r>
                        <a:rPr sz="1400" b="0" i="0">
                          <a:solidFill>
                            <a:schemeClr val="tx1"/>
                          </a:solidFill>
                        </a:rPr>
                        <a:t>4,304</a:t>
                      </a:r>
                    </a:p>
                  </a:txBody>
                  <a:tcPr anchor="ctr" marL="73152" marR="73152">
                    <a:solidFill>
                      <a:schemeClr val="bg1"/>
                    </a:solidFill>
                  </a:tcPr>
                </a:tc>
                <a:tc>
                  <a:txBody>
                    <a:bodyPr wrap="square"/>
                    <a:lstStyle/>
                    <a:p>
                      <a:pPr algn="r"/>
                      <a:r>
                        <a:rPr sz="1400" b="0" i="0">
                          <a:solidFill>
                            <a:schemeClr val="tx1"/>
                          </a:solidFill>
                        </a:rPr>
                        <a:t>3.59</a:t>
                      </a:r>
                    </a:p>
                  </a:txBody>
                  <a:tcPr anchor="ctr" marL="73152" marR="73152">
                    <a:solidFill>
                      <a:schemeClr val="bg1"/>
                    </a:solidFill>
                  </a:tcPr>
                </a:tc>
                <a:tc>
                  <a:txBody>
                    <a:bodyPr wrap="square"/>
                    <a:lstStyle/>
                    <a:p>
                      <a:pPr algn="r"/>
                      <a:r>
                        <a:rPr sz="1400" b="0" i="0">
                          <a:solidFill>
                            <a:schemeClr val="tx1"/>
                          </a:solidFill>
                        </a:rPr>
                        <a:t>762</a:t>
                      </a:r>
                    </a:p>
                  </a:txBody>
                  <a:tcPr anchor="ctr" marL="73152" marR="73152">
                    <a:solidFill>
                      <a:schemeClr val="bg1"/>
                    </a:solidFill>
                  </a:tcPr>
                </a:tc>
              </a:tr>
              <a:tr h="457200">
                <a:tc>
                  <a:txBody>
                    <a:bodyPr wrap="square"/>
                    <a:lstStyle/>
                    <a:p>
                      <a:pPr algn="l"/>
                      <a:r>
                        <a:rPr sz="1400" b="0" i="0">
                          <a:solidFill>
                            <a:schemeClr val="tx1"/>
                          </a:solidFill>
                        </a:rPr>
                        <a:t>Más de 5 a 10 SM</a:t>
                      </a:r>
                    </a:p>
                  </a:txBody>
                  <a:tcPr anchor="ctr" marL="73152" marR="73152">
                    <a:solidFill>
                      <a:schemeClr val="bg2"/>
                    </a:solidFill>
                  </a:tcPr>
                </a:tc>
                <a:tc>
                  <a:txBody>
                    <a:bodyPr wrap="square"/>
                    <a:lstStyle/>
                    <a:p>
                      <a:pPr algn="r"/>
                      <a:r>
                        <a:rPr sz="1400" b="0" i="0">
                          <a:solidFill>
                            <a:schemeClr val="tx1"/>
                          </a:solidFill>
                        </a:rPr>
                        <a:t>1,296</a:t>
                      </a:r>
                    </a:p>
                  </a:txBody>
                  <a:tcPr anchor="ctr" marL="73152" marR="73152">
                    <a:solidFill>
                      <a:schemeClr val="bg2"/>
                    </a:solidFill>
                  </a:tcPr>
                </a:tc>
                <a:tc>
                  <a:txBody>
                    <a:bodyPr wrap="square"/>
                    <a:lstStyle/>
                    <a:p>
                      <a:pPr algn="r"/>
                      <a:r>
                        <a:rPr sz="1400" b="0" i="0">
                          <a:solidFill>
                            <a:schemeClr val="tx1"/>
                          </a:solidFill>
                        </a:rPr>
                        <a:t>5.98</a:t>
                      </a:r>
                    </a:p>
                  </a:txBody>
                  <a:tcPr anchor="ctr" marL="73152" marR="73152">
                    <a:solidFill>
                      <a:schemeClr val="bg2"/>
                    </a:solidFill>
                  </a:tcPr>
                </a:tc>
                <a:tc>
                  <a:txBody>
                    <a:bodyPr wrap="square"/>
                    <a:lstStyle/>
                    <a:p>
                      <a:pPr algn="r"/>
                      <a:r>
                        <a:rPr sz="1400" b="0" i="0">
                          <a:solidFill>
                            <a:schemeClr val="tx1"/>
                          </a:solidFill>
                        </a:rPr>
                        <a:t>134</a:t>
                      </a:r>
                    </a:p>
                  </a:txBody>
                  <a:tcPr anchor="ctr" marL="73152" marR="73152">
                    <a:solidFill>
                      <a:schemeClr val="bg2"/>
                    </a:solidFill>
                  </a:tcPr>
                </a:tc>
              </a:tr>
              <a:tr h="457200">
                <a:tc>
                  <a:txBody>
                    <a:bodyPr wrap="square"/>
                    <a:lstStyle/>
                    <a:p>
                      <a:pPr algn="l"/>
                      <a:r>
                        <a:rPr sz="1400" b="0" i="0">
                          <a:solidFill>
                            <a:schemeClr val="tx1"/>
                          </a:solidFill>
                        </a:rPr>
                        <a:t>Más de 10 SM</a:t>
                      </a:r>
                    </a:p>
                  </a:txBody>
                  <a:tcPr anchor="ctr" marL="73152" marR="73152">
                    <a:solidFill>
                      <a:schemeClr val="bg1"/>
                    </a:solidFill>
                  </a:tcPr>
                </a:tc>
                <a:tc>
                  <a:txBody>
                    <a:bodyPr wrap="square"/>
                    <a:lstStyle/>
                    <a:p>
                      <a:pPr algn="r"/>
                      <a:r>
                        <a:rPr sz="1400" b="0" i="0">
                          <a:solidFill>
                            <a:schemeClr val="tx1"/>
                          </a:solidFill>
                        </a:rPr>
                        <a:t>120</a:t>
                      </a:r>
                    </a:p>
                  </a:txBody>
                  <a:tcPr anchor="ctr" marL="73152" marR="73152">
                    <a:solidFill>
                      <a:schemeClr val="bg1"/>
                    </a:solidFill>
                  </a:tcPr>
                </a:tc>
                <a:tc>
                  <a:txBody>
                    <a:bodyPr wrap="square"/>
                    <a:lstStyle/>
                    <a:p>
                      <a:pPr algn="r"/>
                      <a:r>
                        <a:rPr sz="1400" b="0" i="0">
                          <a:solidFill>
                            <a:schemeClr val="tx1"/>
                          </a:solidFill>
                        </a:rPr>
                        <a:t>11.96</a:t>
                      </a:r>
                    </a:p>
                  </a:txBody>
                  <a:tcPr anchor="ctr" marL="73152" marR="73152">
                    <a:solidFill>
                      <a:schemeClr val="bg1"/>
                    </a:solidFill>
                  </a:tcPr>
                </a:tc>
                <a:tc>
                  <a:txBody>
                    <a:bodyPr wrap="square"/>
                    <a:lstStyle/>
                    <a:p>
                      <a:pPr algn="r"/>
                      <a:r>
                        <a:rPr sz="1400" b="0" i="0">
                          <a:solidFill>
                            <a:schemeClr val="tx1"/>
                          </a:solidFill>
                        </a:rPr>
                        <a:t>46</a:t>
                      </a:r>
                    </a:p>
                  </a:txBody>
                  <a:tcPr anchor="ctr" marL="73152" marR="73152">
                    <a:solidFill>
                      <a:schemeClr val="bg1"/>
                    </a:solidFill>
                  </a:tcPr>
                </a:tc>
              </a:tr>
            </a:tbl>
          </a:graphicData>
        </a:graphic>
      </p:graphicFrame>
      <p:sp>
        <p:nvSpPr>
          <p:cNvPr id="7" name="Nota de la tabla"/>
          <p:cNvSpPr txBox="1"/>
          <p:nvPr/>
        </p:nvSpPr>
        <p:spPr>
          <a:xfrm>
            <a:off x="548640" y="5257800"/>
            <a:ext cx="8229600" cy="1005840"/>
          </a:xfrm>
          <a:prstGeom prst="rect">
            <a:avLst/>
          </a:prstGeom>
          <a:noFill/>
        </p:spPr>
        <p:txBody>
          <a:bodyPr wrap="square" lIns="0" rIns="0" tIns="0" bIns="0" anchor="t">
            <a:spAutoFit/>
          </a:bodyPr>
          <a:lstStyle/>
          <a:p>
            <a:pPr algn="l">
              <a:spcAft>
                <a:spcPts val="0"/>
              </a:spcAft>
            </a:pPr>
            <a:r>
              <a:rPr sz="1300" b="0" i="0">
                <a:solidFill>
                  <a:srgbClr val="5F6368"/>
                </a:solidFill>
              </a:rPr>
              <a:t>SM = salario mínimo mensual de la zona de la persona. La mediana se usa en lugar del punto medio porque dentro de cada rango hay más personas cerca del límite inferior.</a:t>
            </a:r>
          </a:p>
        </p:txBody>
      </p:sp>
      <p:sp>
        <p:nvSpPr>
          <p:cNvPr id="8" name="Ejemplo"/>
          <p:cNvSpPr/>
          <p:nvPr/>
        </p:nvSpPr>
        <p:spPr>
          <a:xfrm>
            <a:off x="9052560" y="1508760"/>
            <a:ext cx="2587752" cy="2377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jemplo texto"/>
          <p:cNvSpPr txBox="1"/>
          <p:nvPr/>
        </p:nvSpPr>
        <p:spPr>
          <a:xfrm>
            <a:off x="9253728" y="1618488"/>
            <a:ext cx="2185416" cy="2157984"/>
          </a:xfrm>
          <a:prstGeom prst="rect">
            <a:avLst/>
          </a:prstGeom>
          <a:noFill/>
        </p:spPr>
        <p:txBody>
          <a:bodyPr wrap="square" lIns="0" rIns="0" tIns="0" bIns="0" anchor="ctr">
            <a:spAutoFit/>
          </a:bodyPr>
          <a:lstStyle/>
          <a:p>
            <a:pPr algn="l">
              <a:spcAft>
                <a:spcPts val="400"/>
              </a:spcAft>
            </a:pPr>
            <a:r>
              <a:rPr sz="1500" b="1" i="0">
                <a:solidFill>
                  <a:schemeClr val="tx2"/>
                </a:solidFill>
              </a:rPr>
              <a:t>Ejemplo</a:t>
            </a:r>
          </a:p>
          <a:p>
            <a:pPr algn="l">
              <a:spcAft>
                <a:spcPts val="400"/>
              </a:spcAft>
            </a:pPr>
            <a:r>
              <a:rPr sz="1400" b="0" i="0">
                <a:solidFill>
                  <a:schemeClr val="tx1"/>
                </a:solidFill>
              </a:rPr>
              <a:t>«Más de 2 a 3 SM»</a:t>
            </a:r>
          </a:p>
          <a:p>
            <a:pPr algn="l">
              <a:spcAft>
                <a:spcPts val="400"/>
              </a:spcAft>
            </a:pPr>
            <a:r>
              <a:rPr sz="1600" b="1" i="0">
                <a:solidFill>
                  <a:schemeClr val="tx1"/>
                </a:solidFill>
              </a:rPr>
              <a:t>2.39 × $8,364</a:t>
            </a:r>
          </a:p>
          <a:p>
            <a:pPr algn="l">
              <a:spcAft>
                <a:spcPts val="400"/>
              </a:spcAft>
            </a:pPr>
            <a:r>
              <a:rPr sz="1600" b="1" i="0">
                <a:solidFill>
                  <a:schemeClr val="accent1"/>
                </a:solidFill>
              </a:rPr>
              <a:t>= $20,000 al mes</a:t>
            </a:r>
          </a:p>
        </p:txBody>
      </p:sp>
      <p:sp>
        <p:nvSpPr>
          <p:cNvPr id="10" name="Advertencia"/>
          <p:cNvSpPr/>
          <p:nvPr/>
        </p:nvSpPr>
        <p:spPr>
          <a:xfrm>
            <a:off x="9052560" y="4023360"/>
            <a:ext cx="2587752" cy="2194560"/>
          </a:xfrm>
          <a:prstGeom prst="roundRect">
            <a:avLst>
              <a:gd name="adj" fmla="val 6000"/>
            </a:avLst>
          </a:prstGeom>
          <a:solidFill>
            <a:srgbClr val="FF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dvertencia texto"/>
          <p:cNvSpPr txBox="1"/>
          <p:nvPr/>
        </p:nvSpPr>
        <p:spPr>
          <a:xfrm>
            <a:off x="9253728" y="4133088"/>
            <a:ext cx="2185416" cy="1975104"/>
          </a:xfrm>
          <a:prstGeom prst="rect">
            <a:avLst/>
          </a:prstGeom>
          <a:noFill/>
        </p:spPr>
        <p:txBody>
          <a:bodyPr wrap="square" lIns="0" rIns="0" tIns="0" bIns="0" anchor="ctr">
            <a:spAutoFit/>
          </a:bodyPr>
          <a:lstStyle/>
          <a:p>
            <a:pPr algn="l">
              <a:spcAft>
                <a:spcPts val="400"/>
              </a:spcAft>
            </a:pPr>
            <a:r>
              <a:rPr sz="1500" b="1" i="0">
                <a:solidFill>
                  <a:schemeClr val="tx2"/>
                </a:solidFill>
              </a:rPr>
              <a:t>Sesga hacia cero</a:t>
            </a:r>
          </a:p>
          <a:p>
            <a:pPr algn="l">
              <a:spcAft>
                <a:spcPts val="400"/>
              </a:spcAft>
            </a:pPr>
            <a:r>
              <a:rPr sz="1300" b="0" i="0">
                <a:solidFill>
                  <a:schemeClr val="tx1"/>
                </a:solidFill>
              </a:rPr>
              <a:t>Mismo ingreso para hombres y mujeres del rango: solo sensibilidad (145,529 personas).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Atípicos y logaritmo: domar la cola larga del ingreso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14</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pic>
        <p:nvPicPr>
          <p:cNvPr id="6" name="03_distribucion_ingreso.png" descr="Dos histogramas del ingreso por hora: en pesos con cola larga a la derecha y en logaritmo natural casi simétrico"/>
          <p:cNvPicPr>
            <a:picLocks noChangeAspect="1"/>
          </p:cNvPicPr>
          <p:nvPr/>
        </p:nvPicPr>
        <p:blipFill>
          <a:blip r:embed="rId3"/>
          <a:stretch>
            <a:fillRect/>
          </a:stretch>
        </p:blipFill>
        <p:spPr>
          <a:xfrm>
            <a:off x="548640" y="1945290"/>
            <a:ext cx="7589520" cy="2830258"/>
          </a:xfrm>
          <a:prstGeom prst="rect">
            <a:avLst/>
          </a:prstGeom>
        </p:spPr>
      </p:pic>
      <p:sp>
        <p:nvSpPr>
          <p:cNvPr id="7" name="Asimetría"/>
          <p:cNvSpPr/>
          <p:nvPr/>
        </p:nvSpPr>
        <p:spPr>
          <a:xfrm>
            <a:off x="8321040" y="1508760"/>
            <a:ext cx="3319272"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Asimetría texto"/>
          <p:cNvSpPr txBox="1"/>
          <p:nvPr/>
        </p:nvSpPr>
        <p:spPr>
          <a:xfrm>
            <a:off x="8503919" y="1600200"/>
            <a:ext cx="2953512" cy="1143000"/>
          </a:xfrm>
          <a:prstGeom prst="rect">
            <a:avLst/>
          </a:prstGeom>
          <a:noFill/>
        </p:spPr>
        <p:txBody>
          <a:bodyPr wrap="square" lIns="0" rIns="0" tIns="0" bIns="0" anchor="ctr">
            <a:spAutoFit/>
          </a:bodyPr>
          <a:lstStyle/>
          <a:p>
            <a:pPr algn="l">
              <a:spcAft>
                <a:spcPts val="0"/>
              </a:spcAft>
            </a:pPr>
            <a:r>
              <a:rPr sz="3200" b="1" i="0">
                <a:solidFill>
                  <a:schemeClr val="tx2"/>
                </a:solidFill>
              </a:rPr>
              <a:t>3.1 → 0.06</a:t>
            </a:r>
          </a:p>
          <a:p>
            <a:r>
              <a:rPr sz="1300" b="0" i="0">
                <a:solidFill>
                  <a:schemeClr val="tx1"/>
                </a:solidFill>
              </a:rPr>
              <a:t>asimetría: en pesos → en logaritmo</a:t>
            </a:r>
          </a:p>
        </p:txBody>
      </p:sp>
      <p:sp>
        <p:nvSpPr>
          <p:cNvPr id="9" name="Atípicos"/>
          <p:cNvSpPr/>
          <p:nvPr/>
        </p:nvSpPr>
        <p:spPr>
          <a:xfrm>
            <a:off x="8321040" y="2971800"/>
            <a:ext cx="3319272"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Atípicos texto"/>
          <p:cNvSpPr txBox="1"/>
          <p:nvPr/>
        </p:nvSpPr>
        <p:spPr>
          <a:xfrm>
            <a:off x="8503919" y="3063240"/>
            <a:ext cx="2953512" cy="1143000"/>
          </a:xfrm>
          <a:prstGeom prst="rect">
            <a:avLst/>
          </a:prstGeom>
          <a:noFill/>
        </p:spPr>
        <p:txBody>
          <a:bodyPr wrap="square" lIns="0" rIns="0" tIns="0" bIns="0" anchor="ctr">
            <a:spAutoFit/>
          </a:bodyPr>
          <a:lstStyle/>
          <a:p>
            <a:pPr algn="l">
              <a:spcAft>
                <a:spcPts val="0"/>
              </a:spcAft>
            </a:pPr>
            <a:r>
              <a:rPr sz="3400" b="1" i="0">
                <a:solidFill>
                  <a:schemeClr val="tx2"/>
                </a:solidFill>
              </a:rPr>
              <a:t>1,133</a:t>
            </a:r>
          </a:p>
          <a:p>
            <a:r>
              <a:rPr sz="1300" b="0" i="0">
                <a:solidFill>
                  <a:schemeClr val="tx1"/>
                </a:solidFill>
              </a:rPr>
              <a:t>atípicos (1.0 %) fuera de P0.5–P99.5 por entidad</a:t>
            </a:r>
          </a:p>
        </p:txBody>
      </p:sp>
      <p:sp>
        <p:nvSpPr>
          <p:cNvPr id="11" name="Sensibilidad"/>
          <p:cNvSpPr/>
          <p:nvPr/>
        </p:nvSpPr>
        <p:spPr>
          <a:xfrm>
            <a:off x="8321040" y="4434840"/>
            <a:ext cx="3319272"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nsibilidad texto"/>
          <p:cNvSpPr txBox="1"/>
          <p:nvPr/>
        </p:nvSpPr>
        <p:spPr>
          <a:xfrm>
            <a:off x="8503919" y="4526279"/>
            <a:ext cx="2953512" cy="1143000"/>
          </a:xfrm>
          <a:prstGeom prst="rect">
            <a:avLst/>
          </a:prstGeom>
          <a:noFill/>
        </p:spPr>
        <p:txBody>
          <a:bodyPr wrap="square" lIns="0" rIns="0" tIns="0" bIns="0" anchor="ctr">
            <a:spAutoFit/>
          </a:bodyPr>
          <a:lstStyle/>
          <a:p>
            <a:pPr algn="l">
              <a:spcAft>
                <a:spcPts val="0"/>
              </a:spcAft>
            </a:pPr>
            <a:r>
              <a:rPr sz="3000" b="1" i="0">
                <a:solidFill>
                  <a:schemeClr val="tx2"/>
                </a:solidFill>
              </a:rPr>
              <a:t>3.6 vs 3.7 %</a:t>
            </a:r>
          </a:p>
          <a:p>
            <a:r>
              <a:rPr sz="1300" b="0" i="0">
                <a:solidFill>
                  <a:schemeClr val="tx1"/>
                </a:solidFill>
              </a:rPr>
              <a:t>brecha sin recorte vs. con recorte</a:t>
            </a:r>
          </a:p>
        </p:txBody>
      </p:sp>
      <p:sp>
        <p:nvSpPr>
          <p:cNvPr id="13" name="Logaritmo"/>
          <p:cNvSpPr/>
          <p:nvPr/>
        </p:nvSpPr>
        <p:spPr>
          <a:xfrm>
            <a:off x="548640" y="5394960"/>
            <a:ext cx="7589520" cy="8686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ogaritmo texto"/>
          <p:cNvSpPr txBox="1"/>
          <p:nvPr/>
        </p:nvSpPr>
        <p:spPr>
          <a:xfrm>
            <a:off x="749808" y="5504688"/>
            <a:ext cx="7187184" cy="649224"/>
          </a:xfrm>
          <a:prstGeom prst="rect">
            <a:avLst/>
          </a:prstGeom>
          <a:noFill/>
        </p:spPr>
        <p:txBody>
          <a:bodyPr wrap="square" lIns="0" rIns="0" tIns="0" bIns="0" anchor="ctr">
            <a:spAutoFit/>
          </a:bodyPr>
          <a:lstStyle/>
          <a:p>
            <a:pPr algn="l">
              <a:spcAft>
                <a:spcPts val="800"/>
              </a:spcAft>
            </a:pPr>
            <a:r>
              <a:rPr sz="1500" b="1" i="0">
                <a:solidFill>
                  <a:schemeClr val="tx2"/>
                </a:solidFill>
              </a:rPr>
              <a:t>Por qué el logaritmo: </a:t>
            </a:r>
            <a:r>
              <a:rPr sz="1500" b="0" i="0">
                <a:solidFill>
                  <a:schemeClr val="tx1"/>
                </a:solidFill>
              </a:rPr>
              <a:t>una diferencia de logaritmos es una diferencia porcentual: ln(110) − ln(100) = 0.095 ≈ 10 %.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De 419 mil registros a 112 mil observaciones, paso a paso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15</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pic>
        <p:nvPicPr>
          <p:cNvPr id="6" name="01_embudo_datos.png" descr="Gráfica de barras del embudo de registros: de 419,038 registros a 111,958 observaciones salariales"/>
          <p:cNvPicPr>
            <a:picLocks noChangeAspect="1"/>
          </p:cNvPicPr>
          <p:nvPr/>
        </p:nvPicPr>
        <p:blipFill>
          <a:blip r:embed="rId3"/>
          <a:stretch>
            <a:fillRect/>
          </a:stretch>
        </p:blipFill>
        <p:spPr>
          <a:xfrm>
            <a:off x="548640" y="2026920"/>
            <a:ext cx="7315200" cy="3489960"/>
          </a:xfrm>
          <a:prstGeom prst="rect">
            <a:avLst/>
          </a:prstGeom>
        </p:spPr>
      </p:pic>
      <p:sp>
        <p:nvSpPr>
          <p:cNvPr id="7" name="Reglas"/>
          <p:cNvSpPr txBox="1"/>
          <p:nvPr/>
        </p:nvSpPr>
        <p:spPr>
          <a:xfrm>
            <a:off x="8183879" y="1600200"/>
            <a:ext cx="3456432" cy="4480560"/>
          </a:xfrm>
          <a:prstGeom prst="rect">
            <a:avLst/>
          </a:prstGeom>
          <a:noFill/>
        </p:spPr>
        <p:txBody>
          <a:bodyPr wrap="square" lIns="0" rIns="0" tIns="0" bIns="0" anchor="t">
            <a:spAutoFit/>
          </a:bodyPr>
          <a:lstStyle/>
          <a:p>
            <a:pPr algn="l" marL="256032" indent="-256032">
              <a:spcAft>
                <a:spcPts val="1000"/>
              </a:spcAft>
              <a:buChar char="•"/>
            </a:pPr>
            <a:r>
              <a:rPr sz="1600" b="0" i="0">
                <a:solidFill>
                  <a:schemeClr val="tx1"/>
                </a:solidFill>
              </a:rPr>
              <a:t>La cobertura elimina filas; todo lo demás crea banderas</a:t>
            </a:r>
          </a:p>
          <a:p>
            <a:pPr algn="l" marL="256032" indent="-256032">
              <a:spcAft>
                <a:spcPts val="1000"/>
              </a:spcAft>
              <a:buChar char="•"/>
            </a:pPr>
            <a:r>
              <a:rPr sz="1600" b="0" i="0">
                <a:solidFill>
                  <a:schemeClr val="tx1"/>
                </a:solidFill>
              </a:rPr>
              <a:t>610 escolaridades = 99 y 5,278 jornadas de 0 h recodificadas</a:t>
            </a:r>
          </a:p>
          <a:p>
            <a:pPr algn="l" marL="256032" indent="-256032">
              <a:spcAft>
                <a:spcPts val="1000"/>
              </a:spcAft>
              <a:buChar char="•"/>
            </a:pPr>
            <a:r>
              <a:rPr sz="1600" b="0" i="0">
                <a:solidFill>
                  <a:schemeClr val="tx1"/>
                </a:solidFill>
              </a:rPr>
              <a:t>1,133 ingresos por hora atípicos (P0.5–P99.5 por entidad)</a:t>
            </a:r>
          </a:p>
          <a:p>
            <a:pPr algn="l" marL="256032" indent="-256032">
              <a:spcAft>
                <a:spcPts val="1000"/>
              </a:spcAft>
              <a:buChar char="•"/>
            </a:pPr>
            <a:r>
              <a:rPr sz="1600" b="0" i="0">
                <a:solidFill>
                  <a:schemeClr val="tx1"/>
                </a:solidFill>
              </a:rPr>
              <a:t>15 de 15 expectativas de calidad cumplidas</a:t>
            </a:r>
          </a:p>
          <a:p>
            <a:pPr algn="l" marL="256032" indent="-256032">
              <a:spcAft>
                <a:spcPts val="1000"/>
              </a:spcAft>
              <a:buChar char="•"/>
            </a:pPr>
            <a:r>
              <a:rPr sz="1600" b="0" i="0">
                <a:solidFill>
                  <a:schemeClr val="tx1"/>
                </a:solidFill>
              </a:rPr>
              <a:t>ETL idempotente: 10 s, una sola semilla y SHA-256 de cada archivo</a:t>
            </a:r>
          </a:p>
        </p:txBody>
      </p:sp>
      <p:sp>
        <p:nvSpPr>
          <p:cNvPr id="8"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15 pruebas automáticas de calidad: 15 de 15 cumplidas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16</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C · LIMPIEZA DE DATOS  ·  ANGEL YIREH</a:t>
            </a:r>
          </a:p>
        </p:txBody>
      </p:sp>
      <p:sp>
        <p:nvSpPr>
          <p:cNvPr id="6" name="Prueba 1"/>
          <p:cNvSpPr/>
          <p:nvPr/>
        </p:nvSpPr>
        <p:spPr>
          <a:xfrm>
            <a:off x="548640" y="1536192"/>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ueba 1 marca"/>
          <p:cNvSpPr/>
          <p:nvPr/>
        </p:nvSpPr>
        <p:spPr>
          <a:xfrm>
            <a:off x="658368" y="1664207"/>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8" name="Prueba 1 texto"/>
          <p:cNvSpPr txBox="1"/>
          <p:nvPr/>
        </p:nvSpPr>
        <p:spPr>
          <a:xfrm>
            <a:off x="1170432" y="1572768"/>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persona_id único</a:t>
            </a:r>
          </a:p>
        </p:txBody>
      </p:sp>
      <p:sp>
        <p:nvSpPr>
          <p:cNvPr id="9" name="Prueba 2"/>
          <p:cNvSpPr/>
          <p:nvPr/>
        </p:nvSpPr>
        <p:spPr>
          <a:xfrm>
            <a:off x="548640" y="2322576"/>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rueba 2 marca"/>
          <p:cNvSpPr/>
          <p:nvPr/>
        </p:nvSpPr>
        <p:spPr>
          <a:xfrm>
            <a:off x="658368" y="2450592"/>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11" name="Prueba 2 texto"/>
          <p:cNvSpPr txBox="1"/>
          <p:nvPr/>
        </p:nvSpPr>
        <p:spPr>
          <a:xfrm>
            <a:off x="1170432" y="2359152"/>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32 entidades presentes</a:t>
            </a:r>
          </a:p>
        </p:txBody>
      </p:sp>
      <p:sp>
        <p:nvSpPr>
          <p:cNvPr id="12" name="Prueba 3"/>
          <p:cNvSpPr/>
          <p:nvPr/>
        </p:nvSpPr>
        <p:spPr>
          <a:xfrm>
            <a:off x="548640" y="3108960"/>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ueba 3 marca"/>
          <p:cNvSpPr/>
          <p:nvPr/>
        </p:nvSpPr>
        <p:spPr>
          <a:xfrm>
            <a:off x="658368" y="3236976"/>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14" name="Prueba 3 texto"/>
          <p:cNvSpPr txBox="1"/>
          <p:nvPr/>
        </p:nvSpPr>
        <p:spPr>
          <a:xfrm>
            <a:off x="1170432" y="3145536"/>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sexo en {1,2}</a:t>
            </a:r>
          </a:p>
        </p:txBody>
      </p:sp>
      <p:sp>
        <p:nvSpPr>
          <p:cNvPr id="15" name="Prueba 4"/>
          <p:cNvSpPr/>
          <p:nvPr/>
        </p:nvSpPr>
        <p:spPr>
          <a:xfrm>
            <a:off x="548640" y="3895344"/>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ueba 4 marca"/>
          <p:cNvSpPr/>
          <p:nvPr/>
        </p:nvSpPr>
        <p:spPr>
          <a:xfrm>
            <a:off x="658368" y="4023359"/>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17" name="Prueba 4 texto"/>
          <p:cNvSpPr txBox="1"/>
          <p:nvPr/>
        </p:nvSpPr>
        <p:spPr>
          <a:xfrm>
            <a:off x="1170432" y="3931920"/>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edad entre 15 y 98</a:t>
            </a:r>
          </a:p>
        </p:txBody>
      </p:sp>
      <p:sp>
        <p:nvSpPr>
          <p:cNvPr id="18" name="Prueba 5"/>
          <p:cNvSpPr/>
          <p:nvPr/>
        </p:nvSpPr>
        <p:spPr>
          <a:xfrm>
            <a:off x="548640" y="4681728"/>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rueba 5 marca"/>
          <p:cNvSpPr/>
          <p:nvPr/>
        </p:nvSpPr>
        <p:spPr>
          <a:xfrm>
            <a:off x="658368" y="4809744"/>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20" name="Prueba 5 texto"/>
          <p:cNvSpPr txBox="1"/>
          <p:nvPr/>
        </p:nvSpPr>
        <p:spPr>
          <a:xfrm>
            <a:off x="1170432" y="4718304"/>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ponderador positivo</a:t>
            </a:r>
          </a:p>
        </p:txBody>
      </p:sp>
      <p:sp>
        <p:nvSpPr>
          <p:cNvPr id="21" name="Prueba 6"/>
          <p:cNvSpPr/>
          <p:nvPr/>
        </p:nvSpPr>
        <p:spPr>
          <a:xfrm>
            <a:off x="4288536" y="1536192"/>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ueba 6 marca"/>
          <p:cNvSpPr/>
          <p:nvPr/>
        </p:nvSpPr>
        <p:spPr>
          <a:xfrm>
            <a:off x="4398264" y="1664207"/>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23" name="Prueba 6 texto"/>
          <p:cNvSpPr txBox="1"/>
          <p:nvPr/>
        </p:nvSpPr>
        <p:spPr>
          <a:xfrm>
            <a:off x="4910327" y="1572768"/>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todos son ocupados</a:t>
            </a:r>
          </a:p>
        </p:txBody>
      </p:sp>
      <p:sp>
        <p:nvSpPr>
          <p:cNvPr id="24" name="Prueba 7"/>
          <p:cNvSpPr/>
          <p:nvPr/>
        </p:nvSpPr>
        <p:spPr>
          <a:xfrm>
            <a:off x="4288536" y="2322576"/>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ueba 7 marca"/>
          <p:cNvSpPr/>
          <p:nvPr/>
        </p:nvSpPr>
        <p:spPr>
          <a:xfrm>
            <a:off x="4398264" y="2450592"/>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26" name="Prueba 7 texto"/>
          <p:cNvSpPr txBox="1"/>
          <p:nvPr/>
        </p:nvSpPr>
        <p:spPr>
          <a:xfrm>
            <a:off x="4910327" y="2359152"/>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grupo de ingreso exhaustivo</a:t>
            </a:r>
          </a:p>
        </p:txBody>
      </p:sp>
      <p:sp>
        <p:nvSpPr>
          <p:cNvPr id="27" name="Prueba 8"/>
          <p:cNvSpPr/>
          <p:nvPr/>
        </p:nvSpPr>
        <p:spPr>
          <a:xfrm>
            <a:off x="4288536" y="3108960"/>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rueba 8 marca"/>
          <p:cNvSpPr/>
          <p:nvPr/>
        </p:nvSpPr>
        <p:spPr>
          <a:xfrm>
            <a:off x="4398264" y="3236976"/>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29" name="Prueba 8 texto"/>
          <p:cNvSpPr txBox="1"/>
          <p:nvPr/>
        </p:nvSpPr>
        <p:spPr>
          <a:xfrm>
            <a:off x="4910327" y="3145536"/>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ing7c consistente con ingocup / salario mínimo</a:t>
            </a:r>
          </a:p>
        </p:txBody>
      </p:sp>
      <p:sp>
        <p:nvSpPr>
          <p:cNvPr id="30" name="Prueba 9"/>
          <p:cNvSpPr/>
          <p:nvPr/>
        </p:nvSpPr>
        <p:spPr>
          <a:xfrm>
            <a:off x="4288536" y="3895344"/>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Prueba 9 marca"/>
          <p:cNvSpPr/>
          <p:nvPr/>
        </p:nvSpPr>
        <p:spPr>
          <a:xfrm>
            <a:off x="4398264" y="4023359"/>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32" name="Prueba 9 texto"/>
          <p:cNvSpPr txBox="1"/>
          <p:nvPr/>
        </p:nvSpPr>
        <p:spPr>
          <a:xfrm>
            <a:off x="4910327" y="3931920"/>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ing_x_hrs = ingocup / (hrsocup × 4.3)</a:t>
            </a:r>
          </a:p>
        </p:txBody>
      </p:sp>
      <p:sp>
        <p:nvSpPr>
          <p:cNvPr id="33" name="Prueba 10"/>
          <p:cNvSpPr/>
          <p:nvPr/>
        </p:nvSpPr>
        <p:spPr>
          <a:xfrm>
            <a:off x="4288536" y="4681728"/>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rueba 10 marca"/>
          <p:cNvSpPr/>
          <p:nvPr/>
        </p:nvSpPr>
        <p:spPr>
          <a:xfrm>
            <a:off x="4398264" y="4809744"/>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35" name="Prueba 10 texto"/>
          <p:cNvSpPr txBox="1"/>
          <p:nvPr/>
        </p:nvSpPr>
        <p:spPr>
          <a:xfrm>
            <a:off x="4910327" y="4718304"/>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niv_ins=1 implica &lt;= 5 años de escolaridad</a:t>
            </a:r>
          </a:p>
        </p:txBody>
      </p:sp>
      <p:sp>
        <p:nvSpPr>
          <p:cNvPr id="36" name="Prueba 11"/>
          <p:cNvSpPr/>
          <p:nvPr/>
        </p:nvSpPr>
        <p:spPr>
          <a:xfrm>
            <a:off x="8028431" y="1536192"/>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Prueba 11 marca"/>
          <p:cNvSpPr/>
          <p:nvPr/>
        </p:nvSpPr>
        <p:spPr>
          <a:xfrm>
            <a:off x="8138159" y="1664207"/>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38" name="Prueba 11 texto"/>
          <p:cNvSpPr txBox="1"/>
          <p:nvPr/>
        </p:nvSpPr>
        <p:spPr>
          <a:xfrm>
            <a:off x="8650224" y="1572768"/>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niv_ins=4 implica &gt;= 12 años de escolaridad</a:t>
            </a:r>
          </a:p>
        </p:txBody>
      </p:sp>
      <p:sp>
        <p:nvSpPr>
          <p:cNvPr id="39" name="Prueba 12"/>
          <p:cNvSpPr/>
          <p:nvPr/>
        </p:nvSpPr>
        <p:spPr>
          <a:xfrm>
            <a:off x="8028431" y="2322576"/>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Prueba 12 marca"/>
          <p:cNvSpPr/>
          <p:nvPr/>
        </p:nvSpPr>
        <p:spPr>
          <a:xfrm>
            <a:off x="8138159" y="2450592"/>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41" name="Prueba 12 texto"/>
          <p:cNvSpPr txBox="1"/>
          <p:nvPr/>
        </p:nvSpPr>
        <p:spPr>
          <a:xfrm>
            <a:off x="8650224" y="2359152"/>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horas entre 0 y 168 (crudas)</a:t>
            </a:r>
          </a:p>
        </p:txBody>
      </p:sp>
      <p:sp>
        <p:nvSpPr>
          <p:cNvPr id="42" name="Prueba 13"/>
          <p:cNvSpPr/>
          <p:nvPr/>
        </p:nvSpPr>
        <p:spPr>
          <a:xfrm>
            <a:off x="8028431" y="3108960"/>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rueba 13 marca"/>
          <p:cNvSpPr/>
          <p:nvPr/>
        </p:nvSpPr>
        <p:spPr>
          <a:xfrm>
            <a:off x="8138159" y="3236976"/>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44" name="Prueba 13 texto"/>
          <p:cNvSpPr txBox="1"/>
          <p:nvPr/>
        </p:nvSpPr>
        <p:spPr>
          <a:xfrm>
            <a:off x="8650224" y="3145536"/>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ingocup entre 0 y 1,000,000</a:t>
            </a:r>
          </a:p>
        </p:txBody>
      </p:sp>
      <p:sp>
        <p:nvSpPr>
          <p:cNvPr id="45" name="Prueba 14"/>
          <p:cNvSpPr/>
          <p:nvPr/>
        </p:nvSpPr>
        <p:spPr>
          <a:xfrm>
            <a:off x="8028431" y="3895344"/>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Prueba 14 marca"/>
          <p:cNvSpPr/>
          <p:nvPr/>
        </p:nvSpPr>
        <p:spPr>
          <a:xfrm>
            <a:off x="8138159" y="4023359"/>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47" name="Prueba 14 texto"/>
          <p:cNvSpPr txBox="1"/>
          <p:nvPr/>
        </p:nvSpPr>
        <p:spPr>
          <a:xfrm>
            <a:off x="8650224" y="3931920"/>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p6c (COE2T) reproduce ing7c (SDEMT)</a:t>
            </a:r>
          </a:p>
        </p:txBody>
      </p:sp>
      <p:sp>
        <p:nvSpPr>
          <p:cNvPr id="48" name="Prueba 15"/>
          <p:cNvSpPr/>
          <p:nvPr/>
        </p:nvSpPr>
        <p:spPr>
          <a:xfrm>
            <a:off x="8028431" y="4681728"/>
            <a:ext cx="3611880" cy="6583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rueba 15 marca"/>
          <p:cNvSpPr/>
          <p:nvPr/>
        </p:nvSpPr>
        <p:spPr>
          <a:xfrm>
            <a:off x="8138159" y="4809744"/>
            <a:ext cx="402336" cy="40233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600" b="1" i="0">
                <a:solidFill>
                  <a:schemeClr val="bg1"/>
                </a:solidFill>
              </a:rPr>
              <a:t>✓</a:t>
            </a:r>
          </a:p>
        </p:txBody>
      </p:sp>
      <p:sp>
        <p:nvSpPr>
          <p:cNvPr id="50" name="Prueba 15 texto"/>
          <p:cNvSpPr txBox="1"/>
          <p:nvPr/>
        </p:nvSpPr>
        <p:spPr>
          <a:xfrm>
            <a:off x="8650224" y="4718304"/>
            <a:ext cx="2898648" cy="585216"/>
          </a:xfrm>
          <a:prstGeom prst="rect">
            <a:avLst/>
          </a:prstGeom>
          <a:noFill/>
        </p:spPr>
        <p:txBody>
          <a:bodyPr wrap="square" lIns="0" rIns="0" tIns="0" bIns="0" anchor="ctr">
            <a:spAutoFit/>
          </a:bodyPr>
          <a:lstStyle/>
          <a:p>
            <a:pPr algn="l">
              <a:spcAft>
                <a:spcPts val="0"/>
              </a:spcAft>
            </a:pPr>
            <a:r>
              <a:rPr sz="1300" b="0" i="0">
                <a:solidFill>
                  <a:schemeClr val="tx1"/>
                </a:solidFill>
              </a:rPr>
              <a:t>ingocup = p6b2 (COE2T) en el grupo A</a:t>
            </a:r>
          </a:p>
        </p:txBody>
      </p:sp>
      <p:sp>
        <p:nvSpPr>
          <p:cNvPr id="51" name="Mensaje pruebas"/>
          <p:cNvSpPr/>
          <p:nvPr/>
        </p:nvSpPr>
        <p:spPr>
          <a:xfrm>
            <a:off x="548640" y="5532120"/>
            <a:ext cx="11091672" cy="68580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Mensaje pruebas texto"/>
          <p:cNvSpPr txBox="1"/>
          <p:nvPr/>
        </p:nvSpPr>
        <p:spPr>
          <a:xfrm>
            <a:off x="822959" y="5577840"/>
            <a:ext cx="10515600" cy="594360"/>
          </a:xfrm>
          <a:prstGeom prst="rect">
            <a:avLst/>
          </a:prstGeom>
          <a:noFill/>
        </p:spPr>
        <p:txBody>
          <a:bodyPr wrap="square" lIns="0" rIns="0" tIns="0" bIns="0" anchor="ctr">
            <a:spAutoFit/>
          </a:bodyPr>
          <a:lstStyle/>
          <a:p>
            <a:pPr algn="l">
              <a:spcAft>
                <a:spcPts val="0"/>
              </a:spcAft>
            </a:pPr>
            <a:r>
              <a:rPr sz="1600" b="1" i="0">
                <a:solidFill>
                  <a:schemeClr val="bg1"/>
                </a:solidFill>
              </a:rPr>
              <a:t>14 críticas + 1 informativa: </a:t>
            </a:r>
            <a:r>
              <a:rPr sz="1600" b="0" i="0">
                <a:solidFill>
                  <a:schemeClr val="bg1"/>
                </a:solidFill>
              </a:rPr>
              <a:t>si una crítica falla, el ETL se detiene en lugar de continuar con datos dudosos.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Arquitectura: SQLite para analizar, MongoDB para servir</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17</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D · INGENIERÍA DE DATOS  ·  ANGEL YIREH</a:t>
            </a:r>
          </a:p>
        </p:txBody>
      </p:sp>
      <p:sp>
        <p:nvSpPr>
          <p:cNvPr id="6" name="Caja 1"/>
          <p:cNvSpPr/>
          <p:nvPr/>
        </p:nvSpPr>
        <p:spPr>
          <a:xfrm>
            <a:off x="548640" y="1600200"/>
            <a:ext cx="210312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Microdatos INEGI</a:t>
            </a:r>
          </a:p>
          <a:p>
            <a:pPr algn="ctr">
              <a:spcAft>
                <a:spcPts val="200"/>
              </a:spcAft>
            </a:pPr>
            <a:r>
              <a:rPr sz="1300" b="0" i="0">
                <a:solidFill>
                  <a:schemeClr val="tx1"/>
                </a:solidFill>
              </a:rPr>
              <a:t>SDEMT · COE2T</a:t>
            </a:r>
          </a:p>
        </p:txBody>
      </p:sp>
      <p:sp>
        <p:nvSpPr>
          <p:cNvPr id="7" name="Caja 2"/>
          <p:cNvSpPr/>
          <p:nvPr/>
        </p:nvSpPr>
        <p:spPr>
          <a:xfrm>
            <a:off x="3200400" y="1600200"/>
            <a:ext cx="274320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Pipeline ETL (Python)</a:t>
            </a:r>
          </a:p>
          <a:p>
            <a:pPr algn="ctr">
              <a:spcAft>
                <a:spcPts val="200"/>
              </a:spcAft>
            </a:pPr>
            <a:r>
              <a:rPr sz="1300" b="0" i="0">
                <a:solidFill>
                  <a:schemeClr val="tx1"/>
                </a:solidFill>
              </a:rPr>
              <a:t>extract · clean · transform · validate</a:t>
            </a:r>
          </a:p>
        </p:txBody>
      </p:sp>
      <p:sp>
        <p:nvSpPr>
          <p:cNvPr id="8" name="Caja 3"/>
          <p:cNvSpPr/>
          <p:nvPr/>
        </p:nvSpPr>
        <p:spPr>
          <a:xfrm>
            <a:off x="6492240" y="1600200"/>
            <a:ext cx="2468880" cy="118872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bg1"/>
                </a:solidFill>
              </a:rPr>
              <a:t>SQLite · esquema en estrella</a:t>
            </a:r>
          </a:p>
          <a:p>
            <a:pPr algn="ctr">
              <a:spcAft>
                <a:spcPts val="200"/>
              </a:spcAft>
            </a:pPr>
            <a:r>
              <a:rPr sz="1300" b="0" i="0">
                <a:solidFill>
                  <a:srgbClr val="CADCFC"/>
                </a:solidFill>
              </a:rPr>
              <a:t>PK · FK · CHECK · vistas · auditoría</a:t>
            </a:r>
          </a:p>
        </p:txBody>
      </p:sp>
      <p:sp>
        <p:nvSpPr>
          <p:cNvPr id="9" name="Caja 4"/>
          <p:cNvSpPr/>
          <p:nvPr/>
        </p:nvSpPr>
        <p:spPr>
          <a:xfrm>
            <a:off x="9509760" y="1600200"/>
            <a:ext cx="2130552"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Análisis estadístico</a:t>
            </a:r>
          </a:p>
          <a:p>
            <a:pPr algn="ctr">
              <a:spcAft>
                <a:spcPts val="200"/>
              </a:spcAft>
            </a:pPr>
            <a:r>
              <a:rPr sz="1300" b="0" i="0">
                <a:solidFill>
                  <a:schemeClr val="tx1"/>
                </a:solidFill>
              </a:rPr>
              <a:t>Rao-Wu · modelos · Oaxaca-Blinder</a:t>
            </a:r>
          </a:p>
        </p:txBody>
      </p:sp>
      <p:sp>
        <p:nvSpPr>
          <p:cNvPr id="10" name="Caja 5"/>
          <p:cNvSpPr/>
          <p:nvPr/>
        </p:nvSpPr>
        <p:spPr>
          <a:xfrm>
            <a:off x="6492240" y="3246120"/>
            <a:ext cx="2468880" cy="118872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bg1"/>
                </a:solidFill>
              </a:rPr>
              <a:t>MongoDB · documentos</a:t>
            </a:r>
          </a:p>
          <a:p>
            <a:pPr algn="ctr">
              <a:spcAft>
                <a:spcPts val="200"/>
              </a:spcAft>
            </a:pPr>
            <a:r>
              <a:rPr sz="1300" b="0" i="0">
                <a:solidFill>
                  <a:srgbClr val="CADCFC"/>
                </a:solidFill>
              </a:rPr>
              <a:t>entidades · personas · metadatos</a:t>
            </a:r>
          </a:p>
        </p:txBody>
      </p:sp>
      <p:sp>
        <p:nvSpPr>
          <p:cNvPr id="11" name="Caja 6"/>
          <p:cNvSpPr/>
          <p:nvPr/>
        </p:nvSpPr>
        <p:spPr>
          <a:xfrm>
            <a:off x="9509760" y="3246120"/>
            <a:ext cx="2130552"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Tablero interactivo</a:t>
            </a:r>
          </a:p>
          <a:p>
            <a:pPr algn="ctr">
              <a:spcAft>
                <a:spcPts val="200"/>
              </a:spcAft>
            </a:pPr>
            <a:r>
              <a:rPr sz="1300" b="0" i="0">
                <a:solidFill>
                  <a:schemeClr val="tx1"/>
                </a:solidFill>
              </a:rPr>
              <a:t>HTML · 6 gráficas · ficha por entidad</a:t>
            </a:r>
          </a:p>
        </p:txBody>
      </p:sp>
      <p:sp>
        <p:nvSpPr>
          <p:cNvPr id="12" name="Flecha"/>
          <p:cNvSpPr/>
          <p:nvPr/>
        </p:nvSpPr>
        <p:spPr>
          <a:xfrm>
            <a:off x="2697480" y="201168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echa"/>
          <p:cNvSpPr/>
          <p:nvPr/>
        </p:nvSpPr>
        <p:spPr>
          <a:xfrm>
            <a:off x="5989320" y="201168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lecha"/>
          <p:cNvSpPr/>
          <p:nvPr/>
        </p:nvSpPr>
        <p:spPr>
          <a:xfrm>
            <a:off x="9006840" y="201168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echa"/>
          <p:cNvSpPr/>
          <p:nvPr/>
        </p:nvSpPr>
        <p:spPr>
          <a:xfrm>
            <a:off x="9006840" y="365760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lecha abajo"/>
          <p:cNvSpPr/>
          <p:nvPr/>
        </p:nvSpPr>
        <p:spPr>
          <a:xfrm>
            <a:off x="7543800" y="2834640"/>
            <a:ext cx="365760" cy="384048"/>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Justificación 1"/>
          <p:cNvSpPr/>
          <p:nvPr/>
        </p:nvSpPr>
        <p:spPr>
          <a:xfrm>
            <a:off x="548640" y="4663440"/>
            <a:ext cx="542239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Justificación 1 texto"/>
          <p:cNvSpPr txBox="1"/>
          <p:nvPr/>
        </p:nvSpPr>
        <p:spPr>
          <a:xfrm>
            <a:off x="777240" y="4754880"/>
            <a:ext cx="4965192" cy="1280160"/>
          </a:xfrm>
          <a:prstGeom prst="rect">
            <a:avLst/>
          </a:prstGeom>
          <a:noFill/>
        </p:spPr>
        <p:txBody>
          <a:bodyPr wrap="square" lIns="0" rIns="0" tIns="0" bIns="0" anchor="ctr">
            <a:spAutoFit/>
          </a:bodyPr>
          <a:lstStyle/>
          <a:p>
            <a:pPr algn="l">
              <a:spcAft>
                <a:spcPts val="400"/>
              </a:spcAft>
            </a:pPr>
            <a:r>
              <a:rPr sz="1700" b="1" i="0">
                <a:solidFill>
                  <a:schemeClr val="tx2"/>
                </a:solidFill>
              </a:rPr>
              <a:t>Relacional (SQLite): analizar</a:t>
            </a:r>
          </a:p>
          <a:p>
            <a:pPr algn="l">
              <a:spcAft>
                <a:spcPts val="400"/>
              </a:spcAft>
            </a:pPr>
            <a:r>
              <a:rPr sz="1400" b="0" i="0">
                <a:solidFill>
                  <a:schemeClr val="tx1"/>
                </a:solidFill>
              </a:rPr>
              <a:t>Datos tabulares de esquema fijo · agregaciones ponderadas y JOIN · integridad por restricciones · fuente de verdad</a:t>
            </a:r>
          </a:p>
        </p:txBody>
      </p:sp>
      <p:sp>
        <p:nvSpPr>
          <p:cNvPr id="19" name="Justificación 2"/>
          <p:cNvSpPr/>
          <p:nvPr/>
        </p:nvSpPr>
        <p:spPr>
          <a:xfrm>
            <a:off x="6217920" y="4663440"/>
            <a:ext cx="542239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Justificación 2 texto"/>
          <p:cNvSpPr txBox="1"/>
          <p:nvPr/>
        </p:nvSpPr>
        <p:spPr>
          <a:xfrm>
            <a:off x="6446520" y="4754880"/>
            <a:ext cx="4965192" cy="1280160"/>
          </a:xfrm>
          <a:prstGeom prst="rect">
            <a:avLst/>
          </a:prstGeom>
          <a:noFill/>
        </p:spPr>
        <p:txBody>
          <a:bodyPr wrap="square" lIns="0" rIns="0" tIns="0" bIns="0" anchor="ctr">
            <a:spAutoFit/>
          </a:bodyPr>
          <a:lstStyle/>
          <a:p>
            <a:pPr algn="l">
              <a:spcAft>
                <a:spcPts val="400"/>
              </a:spcAft>
            </a:pPr>
            <a:r>
              <a:rPr sz="1700" b="1" i="0">
                <a:solidFill>
                  <a:schemeClr val="tx2"/>
                </a:solidFill>
              </a:rPr>
              <a:t>Documental (MongoDB): servir</a:t>
            </a:r>
          </a:p>
          <a:p>
            <a:pPr algn="l">
              <a:spcAft>
                <a:spcPts val="400"/>
              </a:spcAft>
            </a:pPr>
            <a:r>
              <a:rPr sz="1400" b="0" i="0">
                <a:solidFill>
                  <a:schemeClr val="tx1"/>
                </a:solidFill>
              </a:rPr>
              <a:t>Una ficha por entidad (embedding) · el esquema crece sin migraciones · lectura por clave · vista que se regenera</a:t>
            </a:r>
          </a:p>
        </p:txBody>
      </p:sp>
      <p:sp>
        <p:nvSpPr>
          <p:cNvPr id="21"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Esquema en estrella: una tabla de hechos y diez dimensiones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18</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D · INGENIERÍA DE DATOS  ·  ANGEL YIREH</a:t>
            </a:r>
          </a:p>
        </p:txBody>
      </p:sp>
      <p:pic>
        <p:nvPicPr>
          <p:cNvPr id="6" name="D03_esquema_estrella.png" descr="Diagrama del esquema en estrella: la tabla de hechos fact_ocupado de 190,187 filas rodeada de diez tablas de dimensiones"/>
          <p:cNvPicPr>
            <a:picLocks noChangeAspect="1"/>
          </p:cNvPicPr>
          <p:nvPr/>
        </p:nvPicPr>
        <p:blipFill>
          <a:blip r:embed="rId3"/>
          <a:stretch>
            <a:fillRect/>
          </a:stretch>
        </p:blipFill>
        <p:spPr>
          <a:xfrm>
            <a:off x="548640" y="1816417"/>
            <a:ext cx="7772400" cy="4048124"/>
          </a:xfrm>
          <a:prstGeom prst="rect">
            <a:avLst/>
          </a:prstGeom>
        </p:spPr>
      </p:pic>
      <p:sp>
        <p:nvSpPr>
          <p:cNvPr id="7" name="Qué garantiza"/>
          <p:cNvSpPr/>
          <p:nvPr/>
        </p:nvSpPr>
        <p:spPr>
          <a:xfrm>
            <a:off x="8503920" y="1508760"/>
            <a:ext cx="3136392" cy="4709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Qué garantiza texto"/>
          <p:cNvSpPr txBox="1"/>
          <p:nvPr/>
        </p:nvSpPr>
        <p:spPr>
          <a:xfrm>
            <a:off x="8705088" y="1618488"/>
            <a:ext cx="2734056" cy="4489704"/>
          </a:xfrm>
          <a:prstGeom prst="rect">
            <a:avLst/>
          </a:prstGeom>
          <a:noFill/>
        </p:spPr>
        <p:txBody>
          <a:bodyPr wrap="square" lIns="0" rIns="0" tIns="0" bIns="0" anchor="ctr">
            <a:spAutoFit/>
          </a:bodyPr>
          <a:lstStyle/>
          <a:p>
            <a:pPr algn="l">
              <a:spcAft>
                <a:spcPts val="800"/>
              </a:spcAft>
            </a:pPr>
            <a:r>
              <a:rPr sz="1800" b="1" i="0">
                <a:solidFill>
                  <a:schemeClr val="tx2"/>
                </a:solidFill>
              </a:rPr>
              <a:t>Qué garantiza</a:t>
            </a:r>
          </a:p>
          <a:p>
            <a:pPr algn="l" marL="228600" indent="-228600">
              <a:spcAft>
                <a:spcPts val="800"/>
              </a:spcAft>
              <a:buChar char="•"/>
            </a:pPr>
            <a:r>
              <a:rPr sz="1500" b="0" i="0">
                <a:solidFill>
                  <a:schemeClr val="tx1"/>
                </a:solidFill>
              </a:rPr>
              <a:t>fact_ocupado: 190,187 filas · 36 columnas</a:t>
            </a:r>
          </a:p>
          <a:p>
            <a:pPr algn="l" marL="228600" indent="-228600">
              <a:spcAft>
                <a:spcPts val="800"/>
              </a:spcAft>
              <a:buChar char="•"/>
            </a:pPr>
            <a:r>
              <a:rPr sz="1500" b="0" i="0">
                <a:solidFill>
                  <a:schemeClr val="tx1"/>
                </a:solidFill>
              </a:rPr>
              <a:t>Llaves primarias y foráneas (foreign_keys = ON)</a:t>
            </a:r>
          </a:p>
          <a:p>
            <a:pPr algn="l" marL="228600" indent="-228600">
              <a:spcAft>
                <a:spcPts val="800"/>
              </a:spcAft>
              <a:buChar char="•"/>
            </a:pPr>
            <a:r>
              <a:rPr sz="1500" b="0" i="0">
                <a:solidFill>
                  <a:schemeClr val="tx1"/>
                </a:solidFill>
              </a:rPr>
              <a:t>CHECK: fac_tri &gt; 0, eda 15–98, emp_ppal ∈ {1, 2}</a:t>
            </a:r>
          </a:p>
          <a:p>
            <a:pPr algn="l" marL="228600" indent="-228600">
              <a:spcAft>
                <a:spcPts val="800"/>
              </a:spcAft>
              <a:buChar char="•"/>
            </a:pPr>
            <a:r>
              <a:rPr sz="1500" b="0" i="0">
                <a:solidFill>
                  <a:schemeClr val="tx1"/>
                </a:solidFill>
              </a:rPr>
              <a:t>5 índices y 4 vistas (TIL1, escolaridad, calidad, muestra salarial)</a:t>
            </a:r>
          </a:p>
          <a:p>
            <a:pPr algn="l" marL="228600" indent="-228600">
              <a:spcAft>
                <a:spcPts val="800"/>
              </a:spcAft>
              <a:buChar char="•"/>
            </a:pPr>
            <a:r>
              <a:rPr sz="1500" b="0" i="0">
                <a:solidFill>
                  <a:schemeClr val="tx1"/>
                </a:solidFill>
              </a:rPr>
              <a:t>integrity_check = ok · 0 violaciones de FK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misma pregunta en SQL y en MongoDB</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19</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D · INGENIERÍA DE DATOS  ·  ANGEL YIREH</a:t>
            </a:r>
          </a:p>
        </p:txBody>
      </p:sp>
      <p:sp>
        <p:nvSpPr>
          <p:cNvPr id="6" name="Código SQL"/>
          <p:cNvSpPr/>
          <p:nvPr/>
        </p:nvSpPr>
        <p:spPr>
          <a:xfrm>
            <a:off x="548640" y="1508760"/>
            <a:ext cx="5440680" cy="3246120"/>
          </a:xfrm>
          <a:prstGeom prst="roundRect">
            <a:avLst>
              <a:gd name="adj" fmla="val 3000"/>
            </a:avLst>
          </a:prstGeom>
          <a:solidFill>
            <a:srgbClr val="F2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ódigo SQL título"/>
          <p:cNvSpPr txBox="1"/>
          <p:nvPr/>
        </p:nvSpPr>
        <p:spPr>
          <a:xfrm>
            <a:off x="731520" y="1581912"/>
            <a:ext cx="5074920" cy="274320"/>
          </a:xfrm>
          <a:prstGeom prst="rect">
            <a:avLst/>
          </a:prstGeom>
          <a:noFill/>
        </p:spPr>
        <p:txBody>
          <a:bodyPr wrap="square" lIns="0" rIns="0" tIns="0" bIns="0" anchor="ctr">
            <a:spAutoFit/>
          </a:bodyPr>
          <a:lstStyle/>
          <a:p>
            <a:pPr algn="l">
              <a:spcAft>
                <a:spcPts val="0"/>
              </a:spcAft>
            </a:pPr>
            <a:r>
              <a:rPr sz="1300" b="1" i="0">
                <a:solidFill>
                  <a:schemeClr val="tx2"/>
                </a:solidFill>
              </a:rPr>
              <a:t>SQL · vista v_til_entidad</a:t>
            </a:r>
          </a:p>
        </p:txBody>
      </p:sp>
      <p:sp>
        <p:nvSpPr>
          <p:cNvPr id="8" name="Código SQL texto"/>
          <p:cNvSpPr txBox="1"/>
          <p:nvPr/>
        </p:nvSpPr>
        <p:spPr>
          <a:xfrm>
            <a:off x="731520" y="1965960"/>
            <a:ext cx="5074920" cy="2697479"/>
          </a:xfrm>
          <a:prstGeom prst="rect">
            <a:avLst/>
          </a:prstGeom>
          <a:noFill/>
        </p:spPr>
        <p:txBody>
          <a:bodyPr wrap="square" lIns="0" rIns="0" tIns="0" bIns="0" anchor="t">
            <a:spAutoFit/>
          </a:bodyPr>
          <a:lstStyle/>
          <a:p>
            <a:pPr algn="l">
              <a:spcAft>
                <a:spcPts val="0"/>
              </a:spcAft>
            </a:pPr>
            <a:r>
              <a:rPr sz="1500" b="0" i="0">
                <a:solidFill>
                  <a:srgbClr val="2B2F3A"/>
                </a:solidFill>
                <a:latin typeface="Courier New"/>
              </a:rPr>
              <a:t>SELECT e.entidad,</a:t>
            </a:r>
          </a:p>
          <a:p>
            <a:pPr algn="l">
              <a:spcAft>
                <a:spcPts val="0"/>
              </a:spcAft>
            </a:pPr>
            <a:r>
              <a:rPr sz="1500" b="0" i="0">
                <a:solidFill>
                  <a:srgbClr val="2B2F3A"/>
                </a:solidFill>
                <a:latin typeface="Courier New"/>
              </a:rPr>
              <a:t>  ROUND(100.0 *</a:t>
            </a:r>
          </a:p>
          <a:p>
            <a:pPr algn="l">
              <a:spcAft>
                <a:spcPts val="0"/>
              </a:spcAft>
            </a:pPr>
            <a:r>
              <a:rPr sz="1500" b="0" i="0">
                <a:solidFill>
                  <a:srgbClr val="2B2F3A"/>
                </a:solidFill>
                <a:latin typeface="Courier New"/>
              </a:rPr>
              <a:t>    SUM(f.fac_tri * f.informal)</a:t>
            </a:r>
          </a:p>
          <a:p>
            <a:pPr algn="l">
              <a:spcAft>
                <a:spcPts val="0"/>
              </a:spcAft>
            </a:pPr>
            <a:r>
              <a:rPr sz="1500" b="0" i="0">
                <a:solidFill>
                  <a:srgbClr val="2B2F3A"/>
                </a:solidFill>
                <a:latin typeface="Courier New"/>
              </a:rPr>
              <a:t>    / SUM(f.fac_tri), 2) AS til1_pct</a:t>
            </a:r>
          </a:p>
          <a:p>
            <a:pPr algn="l">
              <a:spcAft>
                <a:spcPts val="0"/>
              </a:spcAft>
            </a:pPr>
            <a:r>
              <a:rPr sz="1500" b="0" i="0">
                <a:solidFill>
                  <a:srgbClr val="2B2F3A"/>
                </a:solidFill>
                <a:latin typeface="Courier New"/>
              </a:rPr>
              <a:t>FROM fact_ocupado f</a:t>
            </a:r>
          </a:p>
          <a:p>
            <a:pPr algn="l">
              <a:spcAft>
                <a:spcPts val="0"/>
              </a:spcAft>
            </a:pPr>
            <a:r>
              <a:rPr sz="1500" b="0" i="0">
                <a:solidFill>
                  <a:srgbClr val="2B2F3A"/>
                </a:solidFill>
                <a:latin typeface="Courier New"/>
              </a:rPr>
              <a:t>JOIN dim_entidad e USING (cve_ent)</a:t>
            </a:r>
          </a:p>
          <a:p>
            <a:pPr algn="l">
              <a:spcAft>
                <a:spcPts val="0"/>
              </a:spcAft>
            </a:pPr>
            <a:r>
              <a:rPr sz="1500" b="0" i="0">
                <a:solidFill>
                  <a:srgbClr val="2B2F3A"/>
                </a:solidFill>
                <a:latin typeface="Courier New"/>
              </a:rPr>
              <a:t>GROUP BY e.entidad</a:t>
            </a:r>
          </a:p>
          <a:p>
            <a:pPr algn="l">
              <a:spcAft>
                <a:spcPts val="0"/>
              </a:spcAft>
            </a:pPr>
            <a:r>
              <a:rPr sz="1500" b="0" i="0">
                <a:solidFill>
                  <a:srgbClr val="2B2F3A"/>
                </a:solidFill>
                <a:latin typeface="Courier New"/>
              </a:rPr>
              <a:t>ORDER BY til1_pct DESC;</a:t>
            </a:r>
          </a:p>
        </p:txBody>
      </p:sp>
      <p:sp>
        <p:nvSpPr>
          <p:cNvPr id="9" name="Código MongoDB"/>
          <p:cNvSpPr/>
          <p:nvPr/>
        </p:nvSpPr>
        <p:spPr>
          <a:xfrm>
            <a:off x="6199632" y="1508760"/>
            <a:ext cx="5440680" cy="3246120"/>
          </a:xfrm>
          <a:prstGeom prst="roundRect">
            <a:avLst>
              <a:gd name="adj" fmla="val 3000"/>
            </a:avLst>
          </a:prstGeom>
          <a:solidFill>
            <a:srgbClr val="F2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ódigo MongoDB título"/>
          <p:cNvSpPr txBox="1"/>
          <p:nvPr/>
        </p:nvSpPr>
        <p:spPr>
          <a:xfrm>
            <a:off x="6382512" y="1581912"/>
            <a:ext cx="5074920" cy="274320"/>
          </a:xfrm>
          <a:prstGeom prst="rect">
            <a:avLst/>
          </a:prstGeom>
          <a:noFill/>
        </p:spPr>
        <p:txBody>
          <a:bodyPr wrap="square" lIns="0" rIns="0" tIns="0" bIns="0" anchor="ctr">
            <a:spAutoFit/>
          </a:bodyPr>
          <a:lstStyle/>
          <a:p>
            <a:pPr algn="l">
              <a:spcAft>
                <a:spcPts val="0"/>
              </a:spcAft>
            </a:pPr>
            <a:r>
              <a:rPr sz="1300" b="1" i="0">
                <a:solidFill>
                  <a:schemeClr val="tx2"/>
                </a:solidFill>
              </a:rPr>
              <a:t>MongoDB · pipeline de agregación</a:t>
            </a:r>
          </a:p>
        </p:txBody>
      </p:sp>
      <p:sp>
        <p:nvSpPr>
          <p:cNvPr id="11" name="Código MongoDB texto"/>
          <p:cNvSpPr txBox="1"/>
          <p:nvPr/>
        </p:nvSpPr>
        <p:spPr>
          <a:xfrm>
            <a:off x="6382512" y="1965960"/>
            <a:ext cx="5074920" cy="2697479"/>
          </a:xfrm>
          <a:prstGeom prst="rect">
            <a:avLst/>
          </a:prstGeom>
          <a:noFill/>
        </p:spPr>
        <p:txBody>
          <a:bodyPr wrap="square" lIns="0" rIns="0" tIns="0" bIns="0" anchor="t">
            <a:spAutoFit/>
          </a:bodyPr>
          <a:lstStyle/>
          <a:p>
            <a:pPr algn="l">
              <a:spcAft>
                <a:spcPts val="0"/>
              </a:spcAft>
            </a:pPr>
            <a:r>
              <a:rPr sz="1400" b="0" i="0">
                <a:solidFill>
                  <a:srgbClr val="2B2F3A"/>
                </a:solidFill>
                <a:latin typeface="Courier New"/>
              </a:rPr>
              <a:t>db.personas.aggregate([</a:t>
            </a:r>
          </a:p>
          <a:p>
            <a:pPr algn="l">
              <a:spcAft>
                <a:spcPts val="0"/>
              </a:spcAft>
            </a:pPr>
            <a:r>
              <a:rPr sz="1400" b="0" i="0">
                <a:solidFill>
                  <a:srgbClr val="2B2F3A"/>
                </a:solidFill>
                <a:latin typeface="Courier New"/>
              </a:rPr>
              <a:t>  {$group: {_id: "$cve_ent",</a:t>
            </a:r>
          </a:p>
          <a:p>
            <a:pPr algn="l">
              <a:spcAft>
                <a:spcPts val="0"/>
              </a:spcAft>
            </a:pPr>
            <a:r>
              <a:rPr sz="1400" b="0" i="0">
                <a:solidFill>
                  <a:srgbClr val="2B2F3A"/>
                </a:solidFill>
                <a:latin typeface="Courier New"/>
              </a:rPr>
              <a:t>    ocupados: {$sum: "$fac_tri"},</a:t>
            </a:r>
          </a:p>
          <a:p>
            <a:pPr algn="l">
              <a:spcAft>
                <a:spcPts val="0"/>
              </a:spcAft>
            </a:pPr>
            <a:r>
              <a:rPr sz="1400" b="0" i="0">
                <a:solidFill>
                  <a:srgbClr val="2B2F3A"/>
                </a:solidFill>
                <a:latin typeface="Courier New"/>
              </a:rPr>
              <a:t>    informales: {$sum: {$cond: [</a:t>
            </a:r>
          </a:p>
          <a:p>
            <a:pPr algn="l">
              <a:spcAft>
                <a:spcPts val="0"/>
              </a:spcAft>
            </a:pPr>
            <a:r>
              <a:rPr sz="1400" b="0" i="0">
                <a:solidFill>
                  <a:srgbClr val="2B2F3A"/>
                </a:solidFill>
                <a:latin typeface="Courier New"/>
              </a:rPr>
              <a:t>      "$trabajo.informal",</a:t>
            </a:r>
          </a:p>
          <a:p>
            <a:pPr algn="l">
              <a:spcAft>
                <a:spcPts val="0"/>
              </a:spcAft>
            </a:pPr>
            <a:r>
              <a:rPr sz="1400" b="0" i="0">
                <a:solidFill>
                  <a:srgbClr val="2B2F3A"/>
                </a:solidFill>
                <a:latin typeface="Courier New"/>
              </a:rPr>
              <a:t>      "$fac_tri", 0]}}}},</a:t>
            </a:r>
          </a:p>
          <a:p>
            <a:pPr algn="l">
              <a:spcAft>
                <a:spcPts val="0"/>
              </a:spcAft>
            </a:pPr>
            <a:r>
              <a:rPr sz="1400" b="0" i="0">
                <a:solidFill>
                  <a:srgbClr val="2B2F3A"/>
                </a:solidFill>
                <a:latin typeface="Courier New"/>
              </a:rPr>
              <a:t>  {$project: {til1_pct: {$multiply: [</a:t>
            </a:r>
          </a:p>
          <a:p>
            <a:pPr algn="l">
              <a:spcAft>
                <a:spcPts val="0"/>
              </a:spcAft>
            </a:pPr>
            <a:r>
              <a:rPr sz="1400" b="0" i="0">
                <a:solidFill>
                  <a:srgbClr val="2B2F3A"/>
                </a:solidFill>
                <a:latin typeface="Courier New"/>
              </a:rPr>
              <a:t>    100, {$divide: [</a:t>
            </a:r>
          </a:p>
          <a:p>
            <a:pPr algn="l">
              <a:spcAft>
                <a:spcPts val="0"/>
              </a:spcAft>
            </a:pPr>
            <a:r>
              <a:rPr sz="1400" b="0" i="0">
                <a:solidFill>
                  <a:srgbClr val="2B2F3A"/>
                </a:solidFill>
                <a:latin typeface="Courier New"/>
              </a:rPr>
              <a:t>      "$informales", "$ocupados"]}]}}}</a:t>
            </a:r>
          </a:p>
          <a:p>
            <a:pPr algn="l">
              <a:spcAft>
                <a:spcPts val="0"/>
              </a:spcAft>
            </a:pPr>
            <a:r>
              <a:rPr sz="1400" b="0" i="0">
                <a:solidFill>
                  <a:srgbClr val="2B2F3A"/>
                </a:solidFill>
                <a:latin typeface="Courier New"/>
              </a:rPr>
              <a:t>])</a:t>
            </a:r>
          </a:p>
        </p:txBody>
      </p:sp>
      <p:sp>
        <p:nvSpPr>
          <p:cNvPr id="12" name="Ficha"/>
          <p:cNvSpPr/>
          <p:nvPr/>
        </p:nvSpPr>
        <p:spPr>
          <a:xfrm>
            <a:off x="548640" y="4937760"/>
            <a:ext cx="6400800"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icha texto"/>
          <p:cNvSpPr txBox="1"/>
          <p:nvPr/>
        </p:nvSpPr>
        <p:spPr>
          <a:xfrm>
            <a:off x="749808" y="5047488"/>
            <a:ext cx="5998464" cy="1060704"/>
          </a:xfrm>
          <a:prstGeom prst="rect">
            <a:avLst/>
          </a:prstGeom>
          <a:noFill/>
        </p:spPr>
        <p:txBody>
          <a:bodyPr wrap="square" lIns="0" rIns="0" tIns="0" bIns="0" anchor="ctr">
            <a:spAutoFit/>
          </a:bodyPr>
          <a:lstStyle/>
          <a:p>
            <a:pPr algn="l">
              <a:spcAft>
                <a:spcPts val="800"/>
              </a:spcAft>
            </a:pPr>
            <a:r>
              <a:rPr sz="1500" b="1" i="0">
                <a:solidFill>
                  <a:schemeClr val="tx2"/>
                </a:solidFill>
              </a:rPr>
              <a:t>Ficha de una entidad: </a:t>
            </a:r>
            <a:r>
              <a:rPr sz="1500" b="0" i="0">
                <a:solidFill>
                  <a:schemeClr val="tx1"/>
                </a:solidFill>
              </a:rPr>
              <a:t>SQL necesita varias consultas con JOIN; MongoDB, una lectura por clave: </a:t>
            </a:r>
            <a:r>
              <a:rPr sz="1400" b="0" i="0">
                <a:solidFill>
                  <a:schemeClr val="tx1"/>
                </a:solidFill>
                <a:latin typeface="Courier New"/>
              </a:rPr>
              <a:t>db.entidades.findOne({cve_ent: 20})</a:t>
            </a:r>
          </a:p>
        </p:txBody>
      </p:sp>
      <p:sp>
        <p:nvSpPr>
          <p:cNvPr id="14" name="Equivalencia verificada"/>
          <p:cNvSpPr/>
          <p:nvPr/>
        </p:nvSpPr>
        <p:spPr>
          <a:xfrm>
            <a:off x="7132320" y="4937760"/>
            <a:ext cx="4507992"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quivalencia verificada texto"/>
          <p:cNvSpPr txBox="1"/>
          <p:nvPr/>
        </p:nvSpPr>
        <p:spPr>
          <a:xfrm>
            <a:off x="7315200" y="5029200"/>
            <a:ext cx="4142231" cy="1097280"/>
          </a:xfrm>
          <a:prstGeom prst="rect">
            <a:avLst/>
          </a:prstGeom>
          <a:noFill/>
        </p:spPr>
        <p:txBody>
          <a:bodyPr wrap="square" lIns="0" rIns="0" tIns="0" bIns="0" anchor="ctr">
            <a:spAutoFit/>
          </a:bodyPr>
          <a:lstStyle/>
          <a:p>
            <a:pPr algn="l">
              <a:spcAft>
                <a:spcPts val="0"/>
              </a:spcAft>
            </a:pPr>
            <a:r>
              <a:rPr sz="3400" b="1" i="0">
                <a:solidFill>
                  <a:schemeClr val="tx2"/>
                </a:solidFill>
              </a:rPr>
              <a:t>0.005 pp</a:t>
            </a:r>
          </a:p>
          <a:p>
            <a:r>
              <a:rPr sz="1300" b="0" i="0">
                <a:solidFill>
                  <a:schemeClr val="tx1"/>
                </a:solidFill>
              </a:rPr>
              <a:t>diferencia máxima entre ambas (redondeo del SQL)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Reproducibilidad: una orden, una semilla, 34 pruebas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20</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D · INGENIERÍA DE DATOS  ·  ANGEL YIREH</a:t>
            </a:r>
          </a:p>
        </p:txBody>
      </p:sp>
      <p:sp>
        <p:nvSpPr>
          <p:cNvPr id="6" name="Orden única"/>
          <p:cNvSpPr/>
          <p:nvPr/>
        </p:nvSpPr>
        <p:spPr>
          <a:xfrm>
            <a:off x="548640" y="1508760"/>
            <a:ext cx="11091672" cy="566928"/>
          </a:xfrm>
          <a:prstGeom prst="roundRect">
            <a:avLst>
              <a:gd name="adj" fmla="val 3000"/>
            </a:avLst>
          </a:prstGeom>
          <a:solidFill>
            <a:srgbClr val="F2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rden única texto"/>
          <p:cNvSpPr txBox="1"/>
          <p:nvPr/>
        </p:nvSpPr>
        <p:spPr>
          <a:xfrm>
            <a:off x="731520" y="1600200"/>
            <a:ext cx="10725912" cy="384048"/>
          </a:xfrm>
          <a:prstGeom prst="rect">
            <a:avLst/>
          </a:prstGeom>
          <a:noFill/>
        </p:spPr>
        <p:txBody>
          <a:bodyPr wrap="square" lIns="0" rIns="0" tIns="0" bIns="0" anchor="t">
            <a:spAutoFit/>
          </a:bodyPr>
          <a:lstStyle/>
          <a:p>
            <a:pPr algn="l">
              <a:spcAft>
                <a:spcPts val="0"/>
              </a:spcAft>
            </a:pPr>
            <a:r>
              <a:rPr sz="1500" b="0" i="0">
                <a:solidFill>
                  <a:srgbClr val="2B2F3A"/>
                </a:solidFill>
                <a:latin typeface="Courier New"/>
              </a:rPr>
              <a:t>python scripts/run_all.py            # todo el proyecto, de principio a fin, en ≈ 10 minutos</a:t>
            </a:r>
          </a:p>
        </p:txBody>
      </p:sp>
      <p:sp>
        <p:nvSpPr>
          <p:cNvPr id="8" name="Paso 1"/>
          <p:cNvSpPr/>
          <p:nvPr/>
        </p:nvSpPr>
        <p:spPr>
          <a:xfrm>
            <a:off x="548640"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ETL</a:t>
            </a:r>
          </a:p>
        </p:txBody>
      </p:sp>
      <p:sp>
        <p:nvSpPr>
          <p:cNvPr id="9" name="Paso 2"/>
          <p:cNvSpPr/>
          <p:nvPr/>
        </p:nvSpPr>
        <p:spPr>
          <a:xfrm>
            <a:off x="1665396"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Análisis</a:t>
            </a:r>
          </a:p>
        </p:txBody>
      </p:sp>
      <p:sp>
        <p:nvSpPr>
          <p:cNvPr id="10" name="Paso 3"/>
          <p:cNvSpPr/>
          <p:nvPr/>
        </p:nvSpPr>
        <p:spPr>
          <a:xfrm>
            <a:off x="2782153"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Figuras</a:t>
            </a:r>
          </a:p>
        </p:txBody>
      </p:sp>
      <p:sp>
        <p:nvSpPr>
          <p:cNvPr id="11" name="Paso 4"/>
          <p:cNvSpPr/>
          <p:nvPr/>
        </p:nvSpPr>
        <p:spPr>
          <a:xfrm>
            <a:off x="3898910"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NoSQL</a:t>
            </a:r>
          </a:p>
        </p:txBody>
      </p:sp>
      <p:sp>
        <p:nvSpPr>
          <p:cNvPr id="12" name="Paso 5"/>
          <p:cNvSpPr/>
          <p:nvPr/>
        </p:nvSpPr>
        <p:spPr>
          <a:xfrm>
            <a:off x="5015666"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Tablero</a:t>
            </a:r>
          </a:p>
        </p:txBody>
      </p:sp>
      <p:sp>
        <p:nvSpPr>
          <p:cNvPr id="13" name="Paso 6"/>
          <p:cNvSpPr/>
          <p:nvPr/>
        </p:nvSpPr>
        <p:spPr>
          <a:xfrm>
            <a:off x="6132423"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Cuaderno</a:t>
            </a:r>
          </a:p>
        </p:txBody>
      </p:sp>
      <p:sp>
        <p:nvSpPr>
          <p:cNvPr id="14" name="Paso 7"/>
          <p:cNvSpPr/>
          <p:nvPr/>
        </p:nvSpPr>
        <p:spPr>
          <a:xfrm>
            <a:off x="7249180"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Deck corto</a:t>
            </a:r>
          </a:p>
        </p:txBody>
      </p:sp>
      <p:sp>
        <p:nvSpPr>
          <p:cNvPr id="15" name="Paso 8"/>
          <p:cNvSpPr/>
          <p:nvPr/>
        </p:nvSpPr>
        <p:spPr>
          <a:xfrm>
            <a:off x="8365937"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Deck completo</a:t>
            </a:r>
          </a:p>
        </p:txBody>
      </p:sp>
      <p:sp>
        <p:nvSpPr>
          <p:cNvPr id="16" name="Paso 9"/>
          <p:cNvSpPr/>
          <p:nvPr/>
        </p:nvSpPr>
        <p:spPr>
          <a:xfrm>
            <a:off x="9482693"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Informe</a:t>
            </a:r>
          </a:p>
        </p:txBody>
      </p:sp>
      <p:sp>
        <p:nvSpPr>
          <p:cNvPr id="17" name="Paso 10"/>
          <p:cNvSpPr/>
          <p:nvPr/>
        </p:nvSpPr>
        <p:spPr>
          <a:xfrm>
            <a:off x="10599450" y="2286000"/>
            <a:ext cx="1043604" cy="7315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0"/>
              </a:spcAft>
            </a:pPr>
            <a:r>
              <a:rPr sz="1200" b="1" i="0">
                <a:solidFill>
                  <a:schemeClr val="bg1"/>
                </a:solidFill>
              </a:rPr>
              <a:t>Pruebas</a:t>
            </a:r>
          </a:p>
        </p:txBody>
      </p:sp>
      <p:sp>
        <p:nvSpPr>
          <p:cNvPr id="18" name="Dato 1"/>
          <p:cNvSpPr/>
          <p:nvPr/>
        </p:nvSpPr>
        <p:spPr>
          <a:xfrm>
            <a:off x="548640" y="3246120"/>
            <a:ext cx="2679192"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ato 1 texto"/>
          <p:cNvSpPr txBox="1"/>
          <p:nvPr/>
        </p:nvSpPr>
        <p:spPr>
          <a:xfrm>
            <a:off x="731520" y="3337560"/>
            <a:ext cx="2313432" cy="1417320"/>
          </a:xfrm>
          <a:prstGeom prst="rect">
            <a:avLst/>
          </a:prstGeom>
          <a:noFill/>
        </p:spPr>
        <p:txBody>
          <a:bodyPr wrap="square" lIns="0" rIns="0" tIns="0" bIns="0" anchor="ctr">
            <a:spAutoFit/>
          </a:bodyPr>
          <a:lstStyle/>
          <a:p>
            <a:pPr algn="l">
              <a:spcAft>
                <a:spcPts val="0"/>
              </a:spcAft>
            </a:pPr>
            <a:r>
              <a:rPr sz="3000" b="1" i="0">
                <a:solidFill>
                  <a:schemeClr val="tx2"/>
                </a:solidFill>
              </a:rPr>
              <a:t>20251231</a:t>
            </a:r>
          </a:p>
          <a:p>
            <a:r>
              <a:rPr sz="1300" b="0" i="0">
                <a:solidFill>
                  <a:schemeClr val="tx1"/>
                </a:solidFill>
              </a:rPr>
              <a:t>semilla única para todo lo aleatorio</a:t>
            </a:r>
          </a:p>
        </p:txBody>
      </p:sp>
      <p:sp>
        <p:nvSpPr>
          <p:cNvPr id="20" name="Dato 2"/>
          <p:cNvSpPr/>
          <p:nvPr/>
        </p:nvSpPr>
        <p:spPr>
          <a:xfrm>
            <a:off x="3355848" y="3246120"/>
            <a:ext cx="2679192"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ato 2 texto"/>
          <p:cNvSpPr txBox="1"/>
          <p:nvPr/>
        </p:nvSpPr>
        <p:spPr>
          <a:xfrm>
            <a:off x="3538728" y="3337560"/>
            <a:ext cx="2313432" cy="1417320"/>
          </a:xfrm>
          <a:prstGeom prst="rect">
            <a:avLst/>
          </a:prstGeom>
          <a:noFill/>
        </p:spPr>
        <p:txBody>
          <a:bodyPr wrap="square" lIns="0" rIns="0" tIns="0" bIns="0" anchor="ctr">
            <a:spAutoFit/>
          </a:bodyPr>
          <a:lstStyle/>
          <a:p>
            <a:pPr algn="l">
              <a:spcAft>
                <a:spcPts val="0"/>
              </a:spcAft>
            </a:pPr>
            <a:r>
              <a:rPr sz="3000" b="1" i="0">
                <a:solidFill>
                  <a:schemeClr val="tx2"/>
                </a:solidFill>
              </a:rPr>
              <a:t>30 de 30</a:t>
            </a:r>
          </a:p>
          <a:p>
            <a:r>
              <a:rPr sz="1300" b="0" i="0">
                <a:solidFill>
                  <a:schemeClr val="tx1"/>
                </a:solidFill>
              </a:rPr>
              <a:t>archivos de resultados idénticos en dos corridas</a:t>
            </a:r>
          </a:p>
        </p:txBody>
      </p:sp>
      <p:sp>
        <p:nvSpPr>
          <p:cNvPr id="22" name="Dato 3"/>
          <p:cNvSpPr/>
          <p:nvPr/>
        </p:nvSpPr>
        <p:spPr>
          <a:xfrm>
            <a:off x="6163055" y="3246120"/>
            <a:ext cx="2679192"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ato 3 texto"/>
          <p:cNvSpPr txBox="1"/>
          <p:nvPr/>
        </p:nvSpPr>
        <p:spPr>
          <a:xfrm>
            <a:off x="6345936" y="3337560"/>
            <a:ext cx="2313432" cy="1417320"/>
          </a:xfrm>
          <a:prstGeom prst="rect">
            <a:avLst/>
          </a:prstGeom>
          <a:noFill/>
        </p:spPr>
        <p:txBody>
          <a:bodyPr wrap="square" lIns="0" rIns="0" tIns="0" bIns="0" anchor="ctr">
            <a:spAutoFit/>
          </a:bodyPr>
          <a:lstStyle/>
          <a:p>
            <a:pPr algn="l">
              <a:spcAft>
                <a:spcPts val="0"/>
              </a:spcAft>
            </a:pPr>
            <a:r>
              <a:rPr sz="3000" b="1" i="0">
                <a:solidFill>
                  <a:schemeClr val="tx2"/>
                </a:solidFill>
              </a:rPr>
              <a:t>34</a:t>
            </a:r>
          </a:p>
          <a:p>
            <a:r>
              <a:rPr sz="1300" b="0" i="0">
                <a:solidFill>
                  <a:schemeClr val="tx1"/>
                </a:solidFill>
              </a:rPr>
              <a:t>pruebas automáticas (limpieza, encuestas, modelos, integración)</a:t>
            </a:r>
          </a:p>
        </p:txBody>
      </p:sp>
      <p:sp>
        <p:nvSpPr>
          <p:cNvPr id="24" name="Dato 4"/>
          <p:cNvSpPr/>
          <p:nvPr/>
        </p:nvSpPr>
        <p:spPr>
          <a:xfrm>
            <a:off x="8970263" y="3246120"/>
            <a:ext cx="2679192"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ato 4 texto"/>
          <p:cNvSpPr txBox="1"/>
          <p:nvPr/>
        </p:nvSpPr>
        <p:spPr>
          <a:xfrm>
            <a:off x="9153143" y="3337560"/>
            <a:ext cx="2313432" cy="1417320"/>
          </a:xfrm>
          <a:prstGeom prst="rect">
            <a:avLst/>
          </a:prstGeom>
          <a:noFill/>
        </p:spPr>
        <p:txBody>
          <a:bodyPr wrap="square" lIns="0" rIns="0" tIns="0" bIns="0" anchor="ctr">
            <a:spAutoFit/>
          </a:bodyPr>
          <a:lstStyle/>
          <a:p>
            <a:pPr algn="l">
              <a:spcAft>
                <a:spcPts val="0"/>
              </a:spcAft>
            </a:pPr>
            <a:r>
              <a:rPr sz="3000" b="1" i="0">
                <a:solidFill>
                  <a:schemeClr val="tx2"/>
                </a:solidFill>
              </a:rPr>
              <a:t>SHA-256</a:t>
            </a:r>
          </a:p>
          <a:p>
            <a:r>
              <a:rPr sz="1300" b="0" i="0">
                <a:solidFill>
                  <a:schemeClr val="tx1"/>
                </a:solidFill>
              </a:rPr>
              <a:t>huella de cada archivo de origen (tabla etl_run)</a:t>
            </a:r>
          </a:p>
        </p:txBody>
      </p:sp>
      <p:sp>
        <p:nvSpPr>
          <p:cNvPr id="26" name="Garantías"/>
          <p:cNvSpPr/>
          <p:nvPr/>
        </p:nvSpPr>
        <p:spPr>
          <a:xfrm>
            <a:off x="548640" y="5029200"/>
            <a:ext cx="11091672"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Garantías texto"/>
          <p:cNvSpPr txBox="1"/>
          <p:nvPr/>
        </p:nvSpPr>
        <p:spPr>
          <a:xfrm>
            <a:off x="749808" y="5138928"/>
            <a:ext cx="10689336" cy="969264"/>
          </a:xfrm>
          <a:prstGeom prst="rect">
            <a:avLst/>
          </a:prstGeom>
          <a:noFill/>
        </p:spPr>
        <p:txBody>
          <a:bodyPr wrap="square" lIns="0" rIns="0" tIns="0" bIns="0" anchor="ctr">
            <a:spAutoFit/>
          </a:bodyPr>
          <a:lstStyle/>
          <a:p>
            <a:pPr algn="l">
              <a:spcAft>
                <a:spcPts val="800"/>
              </a:spcAft>
            </a:pPr>
            <a:r>
              <a:rPr sz="1500" b="1" i="0">
                <a:solidFill>
                  <a:schemeClr val="tx2"/>
                </a:solidFill>
              </a:rPr>
              <a:t>Idempotente: </a:t>
            </a:r>
            <a:r>
              <a:rPr sz="1500" b="0" i="0">
                <a:solidFill>
                  <a:schemeClr val="tx1"/>
                </a:solidFill>
              </a:rPr>
              <a:t>la base se recrea desde cero.  </a:t>
            </a:r>
            <a:r>
              <a:rPr sz="1500" b="1" i="0">
                <a:solidFill>
                  <a:schemeClr val="tx2"/>
                </a:solidFill>
              </a:rPr>
              <a:t>Auditable: </a:t>
            </a:r>
            <a:r>
              <a:rPr sz="1500" b="0" i="0">
                <a:solidFill>
                  <a:schemeClr val="tx1"/>
                </a:solidFill>
              </a:rPr>
              <a:t>bitácora de cada regla.  </a:t>
            </a:r>
            <a:r>
              <a:rPr sz="1500" b="1" i="0">
                <a:solidFill>
                  <a:schemeClr val="tx2"/>
                </a:solidFill>
              </a:rPr>
              <a:t>Transparente: </a:t>
            </a:r>
            <a:r>
              <a:rPr sz="1500" b="0" i="0">
                <a:solidFill>
                  <a:schemeClr val="tx1"/>
                </a:solidFill>
              </a:rPr>
              <a:t>todas las decisiones viven en config.py.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Mapa del código: un módulo, una responsabilidad</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21</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D · INGENIERÍA DE DATOS  ·  ANGEL YIREH</a:t>
            </a:r>
          </a:p>
        </p:txBody>
      </p:sp>
      <p:sp>
        <p:nvSpPr>
          <p:cNvPr id="6" name="Módulo 1"/>
          <p:cNvSpPr/>
          <p:nvPr/>
        </p:nvSpPr>
        <p:spPr>
          <a:xfrm>
            <a:off x="548640" y="1508760"/>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ódulo 1 texto"/>
          <p:cNvSpPr txBox="1"/>
          <p:nvPr/>
        </p:nvSpPr>
        <p:spPr>
          <a:xfrm>
            <a:off x="731520" y="1600200"/>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config.py</a:t>
            </a:r>
          </a:p>
          <a:p>
            <a:pPr algn="l">
              <a:spcAft>
                <a:spcPts val="300"/>
              </a:spcAft>
            </a:pPr>
            <a:r>
              <a:rPr sz="1300" b="0" i="0">
                <a:solidFill>
                  <a:schemeClr val="tx1"/>
                </a:solidFill>
              </a:rPr>
              <a:t>Rutas, parámetros, catálogos y cifras de referencia: la única fuente de decisiones</a:t>
            </a:r>
          </a:p>
        </p:txBody>
      </p:sp>
      <p:sp>
        <p:nvSpPr>
          <p:cNvPr id="8" name="Módulo 2"/>
          <p:cNvSpPr/>
          <p:nvPr/>
        </p:nvSpPr>
        <p:spPr>
          <a:xfrm>
            <a:off x="4288536" y="1508760"/>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Módulo 2 texto"/>
          <p:cNvSpPr txBox="1"/>
          <p:nvPr/>
        </p:nvSpPr>
        <p:spPr>
          <a:xfrm>
            <a:off x="4471416" y="1600200"/>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extract.py · validacion.py</a:t>
            </a:r>
          </a:p>
          <a:p>
            <a:pPr algn="l">
              <a:spcAft>
                <a:spcPts val="300"/>
              </a:spcAft>
            </a:pPr>
            <a:r>
              <a:rPr sz="1300" b="0" i="0">
                <a:solidFill>
                  <a:schemeClr val="tx1"/>
                </a:solidFill>
              </a:rPr>
              <a:t>Lectura de los CSV (latin-1) con huella SHA-256; comparación con las cifras del INEGI</a:t>
            </a:r>
          </a:p>
        </p:txBody>
      </p:sp>
      <p:sp>
        <p:nvSpPr>
          <p:cNvPr id="10" name="Módulo 3"/>
          <p:cNvSpPr/>
          <p:nvPr/>
        </p:nvSpPr>
        <p:spPr>
          <a:xfrm>
            <a:off x="8028431" y="1508760"/>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ódulo 3 texto"/>
          <p:cNvSpPr txBox="1"/>
          <p:nvPr/>
        </p:nvSpPr>
        <p:spPr>
          <a:xfrm>
            <a:off x="8211311" y="1600200"/>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clean.py</a:t>
            </a:r>
          </a:p>
          <a:p>
            <a:pPr algn="l">
              <a:spcAft>
                <a:spcPts val="300"/>
              </a:spcAft>
            </a:pPr>
            <a:r>
              <a:rPr sz="1300" b="0" i="0">
                <a:solidFill>
                  <a:schemeClr val="tx1"/>
                </a:solidFill>
              </a:rPr>
              <a:t>Cobertura, faltantes, grupos de ingreso, atípicos, muestras y 15 expectativas</a:t>
            </a:r>
          </a:p>
        </p:txBody>
      </p:sp>
      <p:sp>
        <p:nvSpPr>
          <p:cNvPr id="12" name="Módulo 4"/>
          <p:cNvSpPr/>
          <p:nvPr/>
        </p:nvSpPr>
        <p:spPr>
          <a:xfrm>
            <a:off x="548640" y="3081528"/>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ódulo 4 texto"/>
          <p:cNvSpPr txBox="1"/>
          <p:nvPr/>
        </p:nvSpPr>
        <p:spPr>
          <a:xfrm>
            <a:off x="731520" y="3172968"/>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transform.py</a:t>
            </a:r>
          </a:p>
          <a:p>
            <a:pPr algn="l">
              <a:spcAft>
                <a:spcPts val="300"/>
              </a:spcAft>
            </a:pPr>
            <a:r>
              <a:rPr sz="1300" b="0" i="0">
                <a:solidFill>
                  <a:schemeClr val="tx1"/>
                </a:solidFill>
              </a:rPr>
              <a:t>Llave de persona, unión 1 a 1, variables derivadas e imputación</a:t>
            </a:r>
          </a:p>
        </p:txBody>
      </p:sp>
      <p:sp>
        <p:nvSpPr>
          <p:cNvPr id="14" name="Módulo 5"/>
          <p:cNvSpPr/>
          <p:nvPr/>
        </p:nvSpPr>
        <p:spPr>
          <a:xfrm>
            <a:off x="4288536" y="3081528"/>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ódulo 5 texto"/>
          <p:cNvSpPr txBox="1"/>
          <p:nvPr/>
        </p:nvSpPr>
        <p:spPr>
          <a:xfrm>
            <a:off x="4471416" y="3172968"/>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pipeline.py</a:t>
            </a:r>
          </a:p>
          <a:p>
            <a:pPr algn="l">
              <a:spcAft>
                <a:spcPts val="300"/>
              </a:spcAft>
            </a:pPr>
            <a:r>
              <a:rPr sz="1300" b="0" i="0">
                <a:solidFill>
                  <a:schemeClr val="tx1"/>
                </a:solidFill>
              </a:rPr>
              <a:t>Orquesta el ETL completo y escribe los metadatos y la bitácora</a:t>
            </a:r>
          </a:p>
        </p:txBody>
      </p:sp>
      <p:sp>
        <p:nvSpPr>
          <p:cNvPr id="16" name="Módulo 6"/>
          <p:cNvSpPr/>
          <p:nvPr/>
        </p:nvSpPr>
        <p:spPr>
          <a:xfrm>
            <a:off x="8028431" y="3081528"/>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ódulo 6 texto"/>
          <p:cNvSpPr txBox="1"/>
          <p:nvPr/>
        </p:nvSpPr>
        <p:spPr>
          <a:xfrm>
            <a:off x="8211311" y="3172968"/>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load_sqlite.py · load_mongo.py</a:t>
            </a:r>
          </a:p>
          <a:p>
            <a:pPr algn="l">
              <a:spcAft>
                <a:spcPts val="300"/>
              </a:spcAft>
            </a:pPr>
            <a:r>
              <a:rPr sz="1300" b="0" i="0">
                <a:solidFill>
                  <a:schemeClr val="tx1"/>
                </a:solidFill>
              </a:rPr>
              <a:t>Esquema en estrella con restricciones y documentos NoSQL</a:t>
            </a:r>
          </a:p>
        </p:txBody>
      </p:sp>
      <p:sp>
        <p:nvSpPr>
          <p:cNvPr id="18" name="Módulo 7"/>
          <p:cNvSpPr/>
          <p:nvPr/>
        </p:nvSpPr>
        <p:spPr>
          <a:xfrm>
            <a:off x="548640" y="4654296"/>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ódulo 7 texto"/>
          <p:cNvSpPr txBox="1"/>
          <p:nvPr/>
        </p:nvSpPr>
        <p:spPr>
          <a:xfrm>
            <a:off x="731520" y="4745736"/>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survey.py</a:t>
            </a:r>
          </a:p>
          <a:p>
            <a:pPr algn="l">
              <a:spcAft>
                <a:spcPts val="300"/>
              </a:spcAft>
            </a:pPr>
            <a:r>
              <a:rPr sz="1300" b="0" i="0">
                <a:solidFill>
                  <a:schemeClr val="tx1"/>
                </a:solidFill>
              </a:rPr>
              <a:t>Rao-Wu, Taylor, Spearman ponderado, WLS y logit con diseño, Holm</a:t>
            </a:r>
          </a:p>
        </p:txBody>
      </p:sp>
      <p:sp>
        <p:nvSpPr>
          <p:cNvPr id="20" name="Módulo 8"/>
          <p:cNvSpPr/>
          <p:nvPr/>
        </p:nvSpPr>
        <p:spPr>
          <a:xfrm>
            <a:off x="4288536" y="4654296"/>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ódulo 8 texto"/>
          <p:cNvSpPr txBox="1"/>
          <p:nvPr/>
        </p:nvSpPr>
        <p:spPr>
          <a:xfrm>
            <a:off x="4471416" y="4745736"/>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datos · estimadores · modelos · analisis</a:t>
            </a:r>
          </a:p>
          <a:p>
            <a:pPr algn="l">
              <a:spcAft>
                <a:spcPts val="300"/>
              </a:spcAft>
            </a:pPr>
            <a:r>
              <a:rPr sz="1300" b="0" i="0">
                <a:solidFill>
                  <a:schemeClr val="tx1"/>
                </a:solidFill>
              </a:rPr>
              <a:t>Todo el análisis estadístico: 30 tablas de resultados</a:t>
            </a:r>
          </a:p>
        </p:txBody>
      </p:sp>
      <p:sp>
        <p:nvSpPr>
          <p:cNvPr id="22" name="Módulo 9"/>
          <p:cNvSpPr/>
          <p:nvPr/>
        </p:nvSpPr>
        <p:spPr>
          <a:xfrm>
            <a:off x="8028431" y="4654296"/>
            <a:ext cx="3611880" cy="14447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Módulo 9 texto"/>
          <p:cNvSpPr txBox="1"/>
          <p:nvPr/>
        </p:nvSpPr>
        <p:spPr>
          <a:xfrm>
            <a:off x="8211311" y="4745736"/>
            <a:ext cx="3246120" cy="1261872"/>
          </a:xfrm>
          <a:prstGeom prst="rect">
            <a:avLst/>
          </a:prstGeom>
          <a:noFill/>
        </p:spPr>
        <p:txBody>
          <a:bodyPr wrap="square" lIns="0" rIns="0" tIns="0" bIns="0" anchor="ctr">
            <a:spAutoFit/>
          </a:bodyPr>
          <a:lstStyle/>
          <a:p>
            <a:pPr algn="l">
              <a:spcAft>
                <a:spcPts val="300"/>
              </a:spcAft>
            </a:pPr>
            <a:r>
              <a:rPr sz="1400" b="1" i="0">
                <a:solidFill>
                  <a:schemeClr val="tx2"/>
                </a:solidFill>
                <a:latin typeface="Courier New"/>
              </a:rPr>
              <a:t>viz · viz_diagramas · figuras</a:t>
            </a:r>
          </a:p>
          <a:p>
            <a:pPr algn="l">
              <a:spcAft>
                <a:spcPts val="300"/>
              </a:spcAft>
            </a:pPr>
            <a:r>
              <a:rPr sz="1300" b="0" i="0">
                <a:solidFill>
                  <a:schemeClr val="tx1"/>
                </a:solidFill>
              </a:rPr>
              <a:t>17 figuras de datos y 8 diagramas explicativos</a:t>
            </a:r>
          </a:p>
        </p:txBody>
      </p:sp>
      <p:sp>
        <p:nvSpPr>
          <p:cNvPr id="24" name="Nota módulos"/>
          <p:cNvSpPr txBox="1"/>
          <p:nvPr/>
        </p:nvSpPr>
        <p:spPr>
          <a:xfrm>
            <a:off x="548640" y="6263640"/>
            <a:ext cx="11091672" cy="274320"/>
          </a:xfrm>
          <a:prstGeom prst="rect">
            <a:avLst/>
          </a:prstGeom>
          <a:noFill/>
        </p:spPr>
        <p:txBody>
          <a:bodyPr wrap="square" lIns="0" rIns="0" tIns="0" bIns="0" anchor="t">
            <a:spAutoFit/>
          </a:bodyPr>
          <a:lstStyle/>
          <a:p>
            <a:pPr algn="l">
              <a:spcAft>
                <a:spcPts val="0"/>
              </a:spcAft>
            </a:pPr>
            <a:r>
              <a:rPr sz="1200" b="0" i="0">
                <a:solidFill>
                  <a:srgbClr val="5F6368"/>
                </a:solidFill>
              </a:rPr>
              <a:t>Paquete src/enoe/ (16 módulos) + scripts/ (ejecutables) + tests/ (34 pruebas).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Ignorar el diseño muestral subestimaría el error a la mitad</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22</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E · ESTADÍSTICA EXPLICADA  ·  LUIS ANDRE</a:t>
            </a:r>
          </a:p>
        </p:txBody>
      </p:sp>
      <p:sp>
        <p:nvSpPr>
          <p:cNvPr id="6" name="Subtítulo de la gráfica"/>
          <p:cNvSpPr txBox="1"/>
          <p:nvPr/>
        </p:nvSpPr>
        <p:spPr>
          <a:xfrm>
            <a:off x="548640" y="1508760"/>
            <a:ext cx="6949440" cy="365760"/>
          </a:xfrm>
          <a:prstGeom prst="rect">
            <a:avLst/>
          </a:prstGeom>
          <a:noFill/>
        </p:spPr>
        <p:txBody>
          <a:bodyPr wrap="square" lIns="0" rIns="0" tIns="0" bIns="0" anchor="t">
            <a:spAutoFit/>
          </a:bodyPr>
          <a:lstStyle/>
          <a:p>
            <a:pPr algn="l">
              <a:spcAft>
                <a:spcPts val="0"/>
              </a:spcAft>
            </a:pPr>
            <a:r>
              <a:rPr sz="1600" b="1" i="0">
                <a:solidFill>
                  <a:schemeClr val="tx2"/>
                </a:solidFill>
              </a:rPr>
              <a:t>Error estándar de dos estimaciones clave</a:t>
            </a:r>
          </a:p>
        </p:txBody>
      </p:sp>
      <p:graphicFrame>
        <p:nvGraphicFramePr>
          <p:cNvPr id="7" name="Gráfica de errores estándar"/>
          <p:cNvGraphicFramePr>
            <a:graphicFrameLocks noGrp="1"/>
          </p:cNvGraphicFramePr>
          <p:nvPr/>
        </p:nvGraphicFramePr>
        <p:xfrm>
          <a:off x="548640" y="1920240"/>
          <a:ext cx="6949440" cy="4114800"/>
        </p:xfrm>
        <a:graphic>
          <a:graphicData uri="http://schemas.openxmlformats.org/drawingml/2006/chart">
            <c:chart xmlns:c="http://schemas.openxmlformats.org/drawingml/2006/chart" r:id="rId3"/>
          </a:graphicData>
        </a:graphic>
      </p:graphicFrame>
      <p:sp>
        <p:nvSpPr>
          <p:cNvPr id="8" name="Efecto de diseño"/>
          <p:cNvSpPr/>
          <p:nvPr/>
        </p:nvSpPr>
        <p:spPr>
          <a:xfrm>
            <a:off x="7863840" y="150876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fecto de diseño texto"/>
          <p:cNvSpPr txBox="1"/>
          <p:nvPr/>
        </p:nvSpPr>
        <p:spPr>
          <a:xfrm>
            <a:off x="8046719" y="1600200"/>
            <a:ext cx="3410712" cy="1188720"/>
          </a:xfrm>
          <a:prstGeom prst="rect">
            <a:avLst/>
          </a:prstGeom>
          <a:noFill/>
        </p:spPr>
        <p:txBody>
          <a:bodyPr wrap="square" lIns="0" rIns="0" tIns="0" bIns="0" anchor="ctr">
            <a:spAutoFit/>
          </a:bodyPr>
          <a:lstStyle/>
          <a:p>
            <a:pPr algn="l">
              <a:spcAft>
                <a:spcPts val="0"/>
              </a:spcAft>
            </a:pPr>
            <a:r>
              <a:rPr sz="3800" b="1" i="0">
                <a:solidFill>
                  <a:schemeClr val="tx2"/>
                </a:solidFill>
              </a:rPr>
              <a:t>×4.8</a:t>
            </a:r>
          </a:p>
          <a:p>
            <a:r>
              <a:rPr sz="1400" b="0" i="0">
                <a:solidFill>
                  <a:schemeClr val="tx1"/>
                </a:solidFill>
              </a:rPr>
              <a:t>efecto de diseño en la informalidad</a:t>
            </a:r>
          </a:p>
        </p:txBody>
      </p:sp>
      <p:sp>
        <p:nvSpPr>
          <p:cNvPr id="10" name="Observaciones efectivas"/>
          <p:cNvSpPr/>
          <p:nvPr/>
        </p:nvSpPr>
        <p:spPr>
          <a:xfrm>
            <a:off x="7863840" y="301752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bservaciones efectivas texto"/>
          <p:cNvSpPr txBox="1"/>
          <p:nvPr/>
        </p:nvSpPr>
        <p:spPr>
          <a:xfrm>
            <a:off x="8046719" y="3108960"/>
            <a:ext cx="3410712" cy="1188720"/>
          </a:xfrm>
          <a:prstGeom prst="rect">
            <a:avLst/>
          </a:prstGeom>
          <a:noFill/>
        </p:spPr>
        <p:txBody>
          <a:bodyPr wrap="square" lIns="0" rIns="0" tIns="0" bIns="0" anchor="ctr">
            <a:spAutoFit/>
          </a:bodyPr>
          <a:lstStyle/>
          <a:p>
            <a:pPr algn="l">
              <a:spcAft>
                <a:spcPts val="0"/>
              </a:spcAft>
            </a:pPr>
            <a:r>
              <a:rPr sz="3800" b="1" i="0">
                <a:solidFill>
                  <a:schemeClr val="tx2"/>
                </a:solidFill>
              </a:rPr>
              <a:t>40 mil</a:t>
            </a:r>
          </a:p>
          <a:p>
            <a:r>
              <a:rPr sz="1400" b="0" i="0">
                <a:solidFill>
                  <a:schemeClr val="tx1"/>
                </a:solidFill>
              </a:rPr>
              <a:t>observaciones efectivas de 190 mil</a:t>
            </a:r>
          </a:p>
        </p:txBody>
      </p:sp>
      <p:sp>
        <p:nvSpPr>
          <p:cNvPr id="12" name="Réplicas"/>
          <p:cNvSpPr/>
          <p:nvPr/>
        </p:nvSpPr>
        <p:spPr>
          <a:xfrm>
            <a:off x="7863840" y="452628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éplicas texto"/>
          <p:cNvSpPr txBox="1"/>
          <p:nvPr/>
        </p:nvSpPr>
        <p:spPr>
          <a:xfrm>
            <a:off x="8046719" y="4617720"/>
            <a:ext cx="3410712" cy="1188720"/>
          </a:xfrm>
          <a:prstGeom prst="rect">
            <a:avLst/>
          </a:prstGeom>
          <a:noFill/>
        </p:spPr>
        <p:txBody>
          <a:bodyPr wrap="square" lIns="0" rIns="0" tIns="0" bIns="0" anchor="ctr">
            <a:spAutoFit/>
          </a:bodyPr>
          <a:lstStyle/>
          <a:p>
            <a:pPr algn="l">
              <a:spcAft>
                <a:spcPts val="0"/>
              </a:spcAft>
            </a:pPr>
            <a:r>
              <a:rPr sz="3800" b="1" i="0">
                <a:solidFill>
                  <a:schemeClr val="tx2"/>
                </a:solidFill>
              </a:rPr>
              <a:t>1,000</a:t>
            </a:r>
          </a:p>
          <a:p>
            <a:r>
              <a:rPr sz="1400" b="0" i="0">
                <a:solidFill>
                  <a:schemeClr val="tx1"/>
                </a:solidFill>
              </a:rPr>
              <a:t>réplicas de Rao-Wu · 713 estratos · 21,194 UPM</a:t>
            </a:r>
          </a:p>
        </p:txBody>
      </p:sp>
      <p:sp>
        <p:nvSpPr>
          <p:cNvPr id="14"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El bootstrap de Rao–Wu, paso a paso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23</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E · ESTADÍSTICA EXPLICADA  ·  LUIS ANDRE</a:t>
            </a:r>
          </a:p>
        </p:txBody>
      </p:sp>
      <p:pic>
        <p:nvPicPr>
          <p:cNvPr id="6" name="D05_rao_wu.png" descr="Diagrama en cuatro pasos del bootstrap de Rao-Wu con un estrato de cuatro unidades primarias de muestreo"/>
          <p:cNvPicPr>
            <a:picLocks noChangeAspect="1"/>
          </p:cNvPicPr>
          <p:nvPr/>
        </p:nvPicPr>
        <p:blipFill>
          <a:blip r:embed="rId3"/>
          <a:stretch>
            <a:fillRect/>
          </a:stretch>
        </p:blipFill>
        <p:spPr>
          <a:xfrm>
            <a:off x="548640" y="1480661"/>
            <a:ext cx="7772400" cy="3805237"/>
          </a:xfrm>
          <a:prstGeom prst="rect">
            <a:avLst/>
          </a:prstGeom>
        </p:spPr>
      </p:pic>
      <p:sp>
        <p:nvSpPr>
          <p:cNvPr id="7" name="Paso 1"/>
          <p:cNvSpPr/>
          <p:nvPr/>
        </p:nvSpPr>
        <p:spPr>
          <a:xfrm>
            <a:off x="8503920" y="1508760"/>
            <a:ext cx="3136392" cy="1033271"/>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Número 1"/>
          <p:cNvSpPr/>
          <p:nvPr/>
        </p:nvSpPr>
        <p:spPr>
          <a:xfrm>
            <a:off x="8595360" y="178308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1</a:t>
            </a:r>
          </a:p>
        </p:txBody>
      </p:sp>
      <p:sp>
        <p:nvSpPr>
          <p:cNvPr id="9" name="Paso 1 texto"/>
          <p:cNvSpPr txBox="1"/>
          <p:nvPr/>
        </p:nvSpPr>
        <p:spPr>
          <a:xfrm>
            <a:off x="9162288" y="1563624"/>
            <a:ext cx="2377440" cy="914400"/>
          </a:xfrm>
          <a:prstGeom prst="rect">
            <a:avLst/>
          </a:prstGeom>
          <a:noFill/>
        </p:spPr>
        <p:txBody>
          <a:bodyPr wrap="square" lIns="0" rIns="0" tIns="0" bIns="0" anchor="ctr">
            <a:spAutoFit/>
          </a:bodyPr>
          <a:lstStyle/>
          <a:p>
            <a:pPr algn="l">
              <a:spcAft>
                <a:spcPts val="0"/>
              </a:spcAft>
            </a:pPr>
            <a:r>
              <a:rPr sz="1300" b="0" i="0">
                <a:solidFill>
                  <a:schemeClr val="tx1"/>
                </a:solidFill>
              </a:rPr>
              <a:t>En cada estrato con n UPM se sortean n − 1 con reemplazo</a:t>
            </a:r>
          </a:p>
        </p:txBody>
      </p:sp>
      <p:sp>
        <p:nvSpPr>
          <p:cNvPr id="10" name="Paso 2"/>
          <p:cNvSpPr/>
          <p:nvPr/>
        </p:nvSpPr>
        <p:spPr>
          <a:xfrm>
            <a:off x="8503920" y="2679191"/>
            <a:ext cx="3136392" cy="1033271"/>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úmero 2"/>
          <p:cNvSpPr/>
          <p:nvPr/>
        </p:nvSpPr>
        <p:spPr>
          <a:xfrm>
            <a:off x="8595360" y="2953511"/>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2</a:t>
            </a:r>
          </a:p>
        </p:txBody>
      </p:sp>
      <p:sp>
        <p:nvSpPr>
          <p:cNvPr id="12" name="Paso 2 texto"/>
          <p:cNvSpPr txBox="1"/>
          <p:nvPr/>
        </p:nvSpPr>
        <p:spPr>
          <a:xfrm>
            <a:off x="9162288" y="2734056"/>
            <a:ext cx="2377440" cy="914400"/>
          </a:xfrm>
          <a:prstGeom prst="rect">
            <a:avLst/>
          </a:prstGeom>
          <a:noFill/>
        </p:spPr>
        <p:txBody>
          <a:bodyPr wrap="square" lIns="0" rIns="0" tIns="0" bIns="0" anchor="ctr">
            <a:spAutoFit/>
          </a:bodyPr>
          <a:lstStyle/>
          <a:p>
            <a:pPr algn="l">
              <a:spcAft>
                <a:spcPts val="0"/>
              </a:spcAft>
            </a:pPr>
            <a:r>
              <a:rPr sz="1300" b="0" i="0">
                <a:solidFill>
                  <a:schemeClr val="tx1"/>
                </a:solidFill>
              </a:rPr>
              <a:t>Los pesos se reescalan: × n/(n − 1) × veces que salió la UPM</a:t>
            </a:r>
          </a:p>
        </p:txBody>
      </p:sp>
      <p:sp>
        <p:nvSpPr>
          <p:cNvPr id="13" name="Paso 3"/>
          <p:cNvSpPr/>
          <p:nvPr/>
        </p:nvSpPr>
        <p:spPr>
          <a:xfrm>
            <a:off x="8503920" y="3849624"/>
            <a:ext cx="3136392" cy="1033271"/>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Número 3"/>
          <p:cNvSpPr/>
          <p:nvPr/>
        </p:nvSpPr>
        <p:spPr>
          <a:xfrm>
            <a:off x="8595360" y="4123944"/>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3</a:t>
            </a:r>
          </a:p>
        </p:txBody>
      </p:sp>
      <p:sp>
        <p:nvSpPr>
          <p:cNvPr id="15" name="Paso 3 texto"/>
          <p:cNvSpPr txBox="1"/>
          <p:nvPr/>
        </p:nvSpPr>
        <p:spPr>
          <a:xfrm>
            <a:off x="9162288" y="3904487"/>
            <a:ext cx="2377440" cy="914400"/>
          </a:xfrm>
          <a:prstGeom prst="rect">
            <a:avLst/>
          </a:prstGeom>
          <a:noFill/>
        </p:spPr>
        <p:txBody>
          <a:bodyPr wrap="square" lIns="0" rIns="0" tIns="0" bIns="0" anchor="ctr">
            <a:spAutoFit/>
          </a:bodyPr>
          <a:lstStyle/>
          <a:p>
            <a:pPr algn="l">
              <a:spcAft>
                <a:spcPts val="0"/>
              </a:spcAft>
            </a:pPr>
            <a:r>
              <a:rPr sz="1300" b="0" i="0">
                <a:solidFill>
                  <a:schemeClr val="tx1"/>
                </a:solidFill>
              </a:rPr>
              <a:t>Se repite 1,000 veces con la misma semilla</a:t>
            </a:r>
          </a:p>
        </p:txBody>
      </p:sp>
      <p:sp>
        <p:nvSpPr>
          <p:cNvPr id="16" name="Paso 4"/>
          <p:cNvSpPr/>
          <p:nvPr/>
        </p:nvSpPr>
        <p:spPr>
          <a:xfrm>
            <a:off x="8503920" y="5020056"/>
            <a:ext cx="3136392" cy="1033271"/>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úmero 4"/>
          <p:cNvSpPr/>
          <p:nvPr/>
        </p:nvSpPr>
        <p:spPr>
          <a:xfrm>
            <a:off x="8595360" y="5294376"/>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4</a:t>
            </a:r>
          </a:p>
        </p:txBody>
      </p:sp>
      <p:sp>
        <p:nvSpPr>
          <p:cNvPr id="18" name="Paso 4 texto"/>
          <p:cNvSpPr txBox="1"/>
          <p:nvPr/>
        </p:nvSpPr>
        <p:spPr>
          <a:xfrm>
            <a:off x="9162288" y="5074920"/>
            <a:ext cx="2377440" cy="914400"/>
          </a:xfrm>
          <a:prstGeom prst="rect">
            <a:avLst/>
          </a:prstGeom>
          <a:noFill/>
        </p:spPr>
        <p:txBody>
          <a:bodyPr wrap="square" lIns="0" rIns="0" tIns="0" bIns="0" anchor="ctr">
            <a:spAutoFit/>
          </a:bodyPr>
          <a:lstStyle/>
          <a:p>
            <a:pPr algn="l">
              <a:spcAft>
                <a:spcPts val="0"/>
              </a:spcAft>
            </a:pPr>
            <a:r>
              <a:rPr sz="1300" b="0" i="0">
                <a:solidFill>
                  <a:schemeClr val="tx1"/>
                </a:solidFill>
              </a:rPr>
              <a:t>Error estándar = desviación estándar; IC = percentiles 2.5 y 97.5</a:t>
            </a:r>
          </a:p>
        </p:txBody>
      </p:sp>
      <p:sp>
        <p:nvSpPr>
          <p:cNvPr id="19" name="Verificado"/>
          <p:cNvSpPr/>
          <p:nvPr/>
        </p:nvSpPr>
        <p:spPr>
          <a:xfrm>
            <a:off x="548640" y="5440680"/>
            <a:ext cx="7772400" cy="7772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Verificado texto"/>
          <p:cNvSpPr txBox="1"/>
          <p:nvPr/>
        </p:nvSpPr>
        <p:spPr>
          <a:xfrm>
            <a:off x="749808" y="5550408"/>
            <a:ext cx="7370064" cy="557784"/>
          </a:xfrm>
          <a:prstGeom prst="rect">
            <a:avLst/>
          </a:prstGeom>
          <a:noFill/>
        </p:spPr>
        <p:txBody>
          <a:bodyPr wrap="square" lIns="0" rIns="0" tIns="0" bIns="0" anchor="ctr">
            <a:spAutoFit/>
          </a:bodyPr>
          <a:lstStyle/>
          <a:p>
            <a:pPr algn="l">
              <a:spcAft>
                <a:spcPts val="800"/>
              </a:spcAft>
            </a:pPr>
            <a:r>
              <a:rPr sz="1500" b="1" i="0">
                <a:solidFill>
                  <a:schemeClr val="tx2"/>
                </a:solidFill>
              </a:rPr>
              <a:t>Verificado con pruebas: </a:t>
            </a:r>
            <a:r>
              <a:rPr sz="1500" b="0" i="0">
                <a:solidFill>
                  <a:schemeClr val="tx1"/>
                </a:solidFill>
              </a:rPr>
              <a:t>la varianza bootstrap coincide con la de linealización de Taylor (± 8 %).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Cómo leer un intervalo de confianza y un valor p</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24</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E · ESTADÍSTICA EXPLICADA  ·  LUIS ANDRE</a:t>
            </a:r>
          </a:p>
        </p:txBody>
      </p:sp>
      <p:pic>
        <p:nvPicPr>
          <p:cNvPr id="6" name="D06_como_leer_ic.png" descr="Tres intervalos de confianza reales del proyecto: uno que excluye el cero, uno que lo toca y uno que lo incluye"/>
          <p:cNvPicPr>
            <a:picLocks noChangeAspect="1"/>
          </p:cNvPicPr>
          <p:nvPr/>
        </p:nvPicPr>
        <p:blipFill>
          <a:blip r:embed="rId3"/>
          <a:stretch>
            <a:fillRect/>
          </a:stretch>
        </p:blipFill>
        <p:spPr>
          <a:xfrm>
            <a:off x="548640" y="1547522"/>
            <a:ext cx="7955279" cy="2939994"/>
          </a:xfrm>
          <a:prstGeom prst="rect">
            <a:avLst/>
          </a:prstGeom>
        </p:spPr>
      </p:pic>
      <p:sp>
        <p:nvSpPr>
          <p:cNvPr id="7" name="Definiciones"/>
          <p:cNvSpPr/>
          <p:nvPr/>
        </p:nvSpPr>
        <p:spPr>
          <a:xfrm>
            <a:off x="8686800" y="1508760"/>
            <a:ext cx="2953512" cy="30632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efiniciones texto"/>
          <p:cNvSpPr txBox="1"/>
          <p:nvPr/>
        </p:nvSpPr>
        <p:spPr>
          <a:xfrm>
            <a:off x="8887968" y="1618488"/>
            <a:ext cx="2551176" cy="2843784"/>
          </a:xfrm>
          <a:prstGeom prst="rect">
            <a:avLst/>
          </a:prstGeom>
          <a:noFill/>
        </p:spPr>
        <p:txBody>
          <a:bodyPr wrap="square" lIns="0" rIns="0" tIns="0" bIns="0" anchor="ctr">
            <a:spAutoFit/>
          </a:bodyPr>
          <a:lstStyle/>
          <a:p>
            <a:pPr algn="l">
              <a:spcAft>
                <a:spcPts val="1000"/>
              </a:spcAft>
            </a:pPr>
            <a:r>
              <a:rPr sz="1400" b="1" i="0">
                <a:solidFill>
                  <a:schemeClr val="tx2"/>
                </a:solidFill>
              </a:rPr>
              <a:t>IC 95 %: </a:t>
            </a:r>
            <a:r>
              <a:rPr sz="1400" b="0" i="0">
                <a:solidFill>
                  <a:schemeClr val="tx1"/>
                </a:solidFill>
              </a:rPr>
              <a:t>rango de valores plausibles; si no incluye el 0, la diferencia es significativa.</a:t>
            </a:r>
          </a:p>
          <a:p>
            <a:pPr algn="l">
              <a:spcAft>
                <a:spcPts val="1000"/>
              </a:spcAft>
            </a:pPr>
            <a:r>
              <a:rPr sz="1400" b="1" i="0">
                <a:solidFill>
                  <a:schemeClr val="tx2"/>
                </a:solidFill>
              </a:rPr>
              <a:t>Valor p: </a:t>
            </a:r>
            <a:r>
              <a:rPr sz="1400" b="0" i="0">
                <a:solidFill>
                  <a:schemeClr val="tx1"/>
                </a:solidFill>
              </a:rPr>
              <a:t>probabilidad de ver una diferencia así si no hubiera brecha; p &lt; 0.05 = significativa.</a:t>
            </a:r>
          </a:p>
        </p:txBody>
      </p:sp>
      <p:sp>
        <p:nvSpPr>
          <p:cNvPr id="9" name="Caso 1"/>
          <p:cNvSpPr/>
          <p:nvPr/>
        </p:nvSpPr>
        <p:spPr>
          <a:xfrm>
            <a:off x="548640" y="4754880"/>
            <a:ext cx="361188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so 1 número"/>
          <p:cNvSpPr/>
          <p:nvPr/>
        </p:nvSpPr>
        <p:spPr>
          <a:xfrm>
            <a:off x="713232" y="4919472"/>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400" b="1" i="0">
                <a:solidFill>
                  <a:schemeClr val="bg1"/>
                </a:solidFill>
              </a:rPr>
              <a:t>1</a:t>
            </a:r>
          </a:p>
        </p:txBody>
      </p:sp>
      <p:sp>
        <p:nvSpPr>
          <p:cNvPr id="11" name="Caso 1 texto"/>
          <p:cNvSpPr txBox="1"/>
          <p:nvPr/>
        </p:nvSpPr>
        <p:spPr>
          <a:xfrm>
            <a:off x="1188719" y="4846320"/>
            <a:ext cx="2834640" cy="1280160"/>
          </a:xfrm>
          <a:prstGeom prst="rect">
            <a:avLst/>
          </a:prstGeom>
          <a:noFill/>
        </p:spPr>
        <p:txBody>
          <a:bodyPr wrap="square" lIns="0" rIns="0" tIns="0" bIns="0" anchor="ctr">
            <a:spAutoFit/>
          </a:bodyPr>
          <a:lstStyle/>
          <a:p>
            <a:pPr algn="l">
              <a:spcAft>
                <a:spcPts val="300"/>
              </a:spcAft>
            </a:pPr>
            <a:r>
              <a:rPr sz="1500" b="1" i="0">
                <a:solidFill>
                  <a:schemeClr val="tx2"/>
                </a:solidFill>
              </a:rPr>
              <a:t>Excluye el 0</a:t>
            </a:r>
          </a:p>
          <a:p>
            <a:pPr algn="l">
              <a:spcAft>
                <a:spcPts val="300"/>
              </a:spcAft>
            </a:pPr>
            <a:r>
              <a:rPr sz="1300" b="0" i="0">
                <a:solidFill>
                  <a:schemeClr val="tx1"/>
                </a:solidFill>
              </a:rPr>
              <a:t>Brecha por hora total: 3.7 % (2.3 a 5.0). Hay brecha demostrable.</a:t>
            </a:r>
          </a:p>
        </p:txBody>
      </p:sp>
      <p:sp>
        <p:nvSpPr>
          <p:cNvPr id="12" name="Caso 2"/>
          <p:cNvSpPr/>
          <p:nvPr/>
        </p:nvSpPr>
        <p:spPr>
          <a:xfrm>
            <a:off x="4297679" y="4754880"/>
            <a:ext cx="361188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so 2 número"/>
          <p:cNvSpPr/>
          <p:nvPr/>
        </p:nvSpPr>
        <p:spPr>
          <a:xfrm>
            <a:off x="4462271" y="4919472"/>
            <a:ext cx="365760" cy="36576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400" b="1" i="0">
                <a:solidFill>
                  <a:schemeClr val="bg1"/>
                </a:solidFill>
              </a:rPr>
              <a:t>2</a:t>
            </a:r>
          </a:p>
        </p:txBody>
      </p:sp>
      <p:sp>
        <p:nvSpPr>
          <p:cNvPr id="14" name="Caso 2 texto"/>
          <p:cNvSpPr txBox="1"/>
          <p:nvPr/>
        </p:nvSpPr>
        <p:spPr>
          <a:xfrm>
            <a:off x="4937759" y="4846320"/>
            <a:ext cx="2834640" cy="1280160"/>
          </a:xfrm>
          <a:prstGeom prst="rect">
            <a:avLst/>
          </a:prstGeom>
          <a:noFill/>
        </p:spPr>
        <p:txBody>
          <a:bodyPr wrap="square" lIns="0" rIns="0" tIns="0" bIns="0" anchor="ctr">
            <a:spAutoFit/>
          </a:bodyPr>
          <a:lstStyle/>
          <a:p>
            <a:pPr algn="l">
              <a:spcAft>
                <a:spcPts val="300"/>
              </a:spcAft>
            </a:pPr>
            <a:r>
              <a:rPr sz="1500" b="1" i="0">
                <a:solidFill>
                  <a:schemeClr val="tx2"/>
                </a:solidFill>
              </a:rPr>
              <a:t>Toca el 0</a:t>
            </a:r>
          </a:p>
          <a:p>
            <a:pPr algn="l">
              <a:spcAft>
                <a:spcPts val="300"/>
              </a:spcAft>
            </a:pPr>
            <a:r>
              <a:rPr sz="1300" b="0" i="0">
                <a:solidFill>
                  <a:schemeClr val="tx1"/>
                </a:solidFill>
              </a:rPr>
              <a:t>Brecha en la mediana: 2.1 % (p = 0.11). Evidencia débil.</a:t>
            </a:r>
          </a:p>
        </p:txBody>
      </p:sp>
      <p:sp>
        <p:nvSpPr>
          <p:cNvPr id="15" name="Caso 3"/>
          <p:cNvSpPr/>
          <p:nvPr/>
        </p:nvSpPr>
        <p:spPr>
          <a:xfrm>
            <a:off x="8046719" y="4754880"/>
            <a:ext cx="361188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so 3 número"/>
          <p:cNvSpPr/>
          <p:nvPr/>
        </p:nvSpPr>
        <p:spPr>
          <a:xfrm>
            <a:off x="8211311" y="4919472"/>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0"/>
              </a:spcAft>
            </a:pPr>
            <a:r>
              <a:rPr sz="1400" b="1" i="0">
                <a:solidFill>
                  <a:schemeClr val="bg1"/>
                </a:solidFill>
              </a:rPr>
              <a:t>3</a:t>
            </a:r>
          </a:p>
        </p:txBody>
      </p:sp>
      <p:sp>
        <p:nvSpPr>
          <p:cNvPr id="17" name="Caso 3 texto"/>
          <p:cNvSpPr txBox="1"/>
          <p:nvPr/>
        </p:nvSpPr>
        <p:spPr>
          <a:xfrm>
            <a:off x="8686799" y="4846320"/>
            <a:ext cx="2834640" cy="1280160"/>
          </a:xfrm>
          <a:prstGeom prst="rect">
            <a:avLst/>
          </a:prstGeom>
          <a:noFill/>
        </p:spPr>
        <p:txBody>
          <a:bodyPr wrap="square" lIns="0" rIns="0" tIns="0" bIns="0" anchor="ctr">
            <a:spAutoFit/>
          </a:bodyPr>
          <a:lstStyle/>
          <a:p>
            <a:pPr algn="l">
              <a:spcAft>
                <a:spcPts val="300"/>
              </a:spcAft>
            </a:pPr>
            <a:r>
              <a:rPr sz="1500" b="1" i="0">
                <a:solidFill>
                  <a:schemeClr val="tx2"/>
                </a:solidFill>
              </a:rPr>
              <a:t>Incluye el 0</a:t>
            </a:r>
          </a:p>
          <a:p>
            <a:pPr algn="l">
              <a:spcAft>
                <a:spcPts val="300"/>
              </a:spcAft>
            </a:pPr>
            <a:r>
              <a:rPr sz="1300" b="0" i="0">
                <a:solidFill>
                  <a:schemeClr val="tx1"/>
                </a:solidFill>
              </a:rPr>
              <a:t>Brecha en la región Sur: 1.1 % (p = 0.53). No se puede afirmar.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Spearman: la correlación entre rangos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25</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E · ESTADÍSTICA EXPLICADA  ·  LUIS ANDRE</a:t>
            </a:r>
          </a:p>
        </p:txBody>
      </p:sp>
      <p:pic>
        <p:nvPicPr>
          <p:cNvPr id="6" name="D08_spearman_ejemplo.png" descr="Ejemplo con seis personas: a la izquierda los valores originales y a la derecha sus rangos, donde el Spearman resulta 0.93"/>
          <p:cNvPicPr>
            <a:picLocks noChangeAspect="1"/>
          </p:cNvPicPr>
          <p:nvPr/>
        </p:nvPicPr>
        <p:blipFill>
          <a:blip r:embed="rId3"/>
          <a:stretch>
            <a:fillRect/>
          </a:stretch>
        </p:blipFill>
        <p:spPr>
          <a:xfrm>
            <a:off x="553720" y="1463040"/>
            <a:ext cx="7945119" cy="3108960"/>
          </a:xfrm>
          <a:prstGeom prst="rect">
            <a:avLst/>
          </a:prstGeom>
        </p:spPr>
      </p:pic>
      <p:sp>
        <p:nvSpPr>
          <p:cNvPr id="7" name="Cómo se calcula"/>
          <p:cNvSpPr/>
          <p:nvPr/>
        </p:nvSpPr>
        <p:spPr>
          <a:xfrm>
            <a:off x="8686800" y="1508760"/>
            <a:ext cx="2953512" cy="30632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ómo se calcula texto"/>
          <p:cNvSpPr txBox="1"/>
          <p:nvPr/>
        </p:nvSpPr>
        <p:spPr>
          <a:xfrm>
            <a:off x="8887968" y="1618488"/>
            <a:ext cx="2551176" cy="2843784"/>
          </a:xfrm>
          <a:prstGeom prst="rect">
            <a:avLst/>
          </a:prstGeom>
          <a:noFill/>
        </p:spPr>
        <p:txBody>
          <a:bodyPr wrap="square" lIns="0" rIns="0" tIns="0" bIns="0" anchor="ctr">
            <a:spAutoFit/>
          </a:bodyPr>
          <a:lstStyle/>
          <a:p>
            <a:pPr algn="l">
              <a:spcAft>
                <a:spcPts val="800"/>
              </a:spcAft>
            </a:pPr>
            <a:r>
              <a:rPr sz="1700" b="1" i="0">
                <a:solidFill>
                  <a:schemeClr val="tx2"/>
                </a:solidFill>
              </a:rPr>
              <a:t>Cómo se calcula</a:t>
            </a:r>
          </a:p>
          <a:p>
            <a:pPr algn="l">
              <a:spcAft>
                <a:spcPts val="800"/>
              </a:spcAft>
            </a:pPr>
            <a:r>
              <a:rPr sz="1400" b="1" i="0">
                <a:solidFill>
                  <a:schemeClr val="accent1"/>
                </a:solidFill>
              </a:rPr>
              <a:t>1  </a:t>
            </a:r>
            <a:r>
              <a:rPr sz="1400" b="0" i="0">
                <a:solidFill>
                  <a:schemeClr val="tx1"/>
                </a:solidFill>
              </a:rPr>
              <a:t>Ordenar cada variable</a:t>
            </a:r>
          </a:p>
          <a:p>
            <a:pPr algn="l">
              <a:spcAft>
                <a:spcPts val="800"/>
              </a:spcAft>
            </a:pPr>
            <a:r>
              <a:rPr sz="1400" b="1" i="0">
                <a:solidFill>
                  <a:schemeClr val="accent1"/>
                </a:solidFill>
              </a:rPr>
              <a:t>2  </a:t>
            </a:r>
            <a:r>
              <a:rPr sz="1400" b="0" i="0">
                <a:solidFill>
                  <a:schemeClr val="tx1"/>
                </a:solidFill>
              </a:rPr>
              <a:t>Cambiar valores por rangos (empates: rango medio)</a:t>
            </a:r>
          </a:p>
          <a:p>
            <a:pPr algn="l">
              <a:spcAft>
                <a:spcPts val="800"/>
              </a:spcAft>
            </a:pPr>
            <a:r>
              <a:rPr sz="1400" b="1" i="0">
                <a:solidFill>
                  <a:schemeClr val="accent1"/>
                </a:solidFill>
              </a:rPr>
              <a:t>3  </a:t>
            </a:r>
            <a:r>
              <a:rPr sz="1400" b="0" i="0">
                <a:solidFill>
                  <a:schemeClr val="tx1"/>
                </a:solidFill>
              </a:rPr>
              <a:t>Pearson entre rangos, ponderado por fac_tri</a:t>
            </a:r>
          </a:p>
        </p:txBody>
      </p:sp>
      <p:sp>
        <p:nvSpPr>
          <p:cNvPr id="9" name="Escala 1"/>
          <p:cNvSpPr/>
          <p:nvPr/>
        </p:nvSpPr>
        <p:spPr>
          <a:xfrm>
            <a:off x="548640" y="4754880"/>
            <a:ext cx="267919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cala 1 texto"/>
          <p:cNvSpPr txBox="1"/>
          <p:nvPr/>
        </p:nvSpPr>
        <p:spPr>
          <a:xfrm>
            <a:off x="731520" y="4846320"/>
            <a:ext cx="2313432" cy="1280160"/>
          </a:xfrm>
          <a:prstGeom prst="rect">
            <a:avLst/>
          </a:prstGeom>
          <a:noFill/>
        </p:spPr>
        <p:txBody>
          <a:bodyPr wrap="square" lIns="0" rIns="0" tIns="0" bIns="0" anchor="ctr">
            <a:spAutoFit/>
          </a:bodyPr>
          <a:lstStyle/>
          <a:p>
            <a:pPr algn="l">
              <a:spcAft>
                <a:spcPts val="0"/>
              </a:spcAft>
            </a:pPr>
            <a:r>
              <a:rPr sz="3400" b="1" i="0">
                <a:solidFill>
                  <a:schemeClr val="tx2"/>
                </a:solidFill>
              </a:rPr>
              <a:t>≈ 0.1</a:t>
            </a:r>
          </a:p>
          <a:p>
            <a:r>
              <a:rPr sz="1400" b="0" i="0">
                <a:solidFill>
                  <a:schemeClr val="tx1"/>
                </a:solidFill>
              </a:rPr>
              <a:t>débil</a:t>
            </a:r>
          </a:p>
        </p:txBody>
      </p:sp>
      <p:sp>
        <p:nvSpPr>
          <p:cNvPr id="11" name="Escala 2"/>
          <p:cNvSpPr/>
          <p:nvPr/>
        </p:nvSpPr>
        <p:spPr>
          <a:xfrm>
            <a:off x="3355848" y="4754880"/>
            <a:ext cx="267919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cala 2 texto"/>
          <p:cNvSpPr txBox="1"/>
          <p:nvPr/>
        </p:nvSpPr>
        <p:spPr>
          <a:xfrm>
            <a:off x="3538728" y="4846320"/>
            <a:ext cx="2313432" cy="1280160"/>
          </a:xfrm>
          <a:prstGeom prst="rect">
            <a:avLst/>
          </a:prstGeom>
          <a:noFill/>
        </p:spPr>
        <p:txBody>
          <a:bodyPr wrap="square" lIns="0" rIns="0" tIns="0" bIns="0" anchor="ctr">
            <a:spAutoFit/>
          </a:bodyPr>
          <a:lstStyle/>
          <a:p>
            <a:pPr algn="l">
              <a:spcAft>
                <a:spcPts val="0"/>
              </a:spcAft>
            </a:pPr>
            <a:r>
              <a:rPr sz="3400" b="1" i="0">
                <a:solidFill>
                  <a:schemeClr val="tx2"/>
                </a:solidFill>
              </a:rPr>
              <a:t>≈ 0.3</a:t>
            </a:r>
          </a:p>
          <a:p>
            <a:r>
              <a:rPr sz="1400" b="0" i="0">
                <a:solidFill>
                  <a:schemeClr val="tx1"/>
                </a:solidFill>
              </a:rPr>
              <a:t>moderada</a:t>
            </a:r>
          </a:p>
        </p:txBody>
      </p:sp>
      <p:sp>
        <p:nvSpPr>
          <p:cNvPr id="13" name="Escala 3"/>
          <p:cNvSpPr/>
          <p:nvPr/>
        </p:nvSpPr>
        <p:spPr>
          <a:xfrm>
            <a:off x="6163055" y="4754880"/>
            <a:ext cx="267919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cala 3 texto"/>
          <p:cNvSpPr txBox="1"/>
          <p:nvPr/>
        </p:nvSpPr>
        <p:spPr>
          <a:xfrm>
            <a:off x="6345936" y="4846320"/>
            <a:ext cx="2313432" cy="1280160"/>
          </a:xfrm>
          <a:prstGeom prst="rect">
            <a:avLst/>
          </a:prstGeom>
          <a:noFill/>
        </p:spPr>
        <p:txBody>
          <a:bodyPr wrap="square" lIns="0" rIns="0" tIns="0" bIns="0" anchor="ctr">
            <a:spAutoFit/>
          </a:bodyPr>
          <a:lstStyle/>
          <a:p>
            <a:pPr algn="l">
              <a:spcAft>
                <a:spcPts val="0"/>
              </a:spcAft>
            </a:pPr>
            <a:r>
              <a:rPr sz="3400" b="1" i="0">
                <a:solidFill>
                  <a:schemeClr val="tx2"/>
                </a:solidFill>
              </a:rPr>
              <a:t>≈ 0.5</a:t>
            </a:r>
          </a:p>
          <a:p>
            <a:r>
              <a:rPr sz="1400" b="0" i="0">
                <a:solidFill>
                  <a:schemeClr val="tx1"/>
                </a:solidFill>
              </a:rPr>
              <a:t>fuerte</a:t>
            </a:r>
          </a:p>
        </p:txBody>
      </p:sp>
      <p:sp>
        <p:nvSpPr>
          <p:cNvPr id="15" name="Escala 4"/>
          <p:cNvSpPr/>
          <p:nvPr/>
        </p:nvSpPr>
        <p:spPr>
          <a:xfrm>
            <a:off x="8970263" y="4754880"/>
            <a:ext cx="2679192" cy="146304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cala 4 texto"/>
          <p:cNvSpPr txBox="1"/>
          <p:nvPr/>
        </p:nvSpPr>
        <p:spPr>
          <a:xfrm>
            <a:off x="9153143" y="4846320"/>
            <a:ext cx="2313432" cy="1280160"/>
          </a:xfrm>
          <a:prstGeom prst="rect">
            <a:avLst/>
          </a:prstGeom>
          <a:noFill/>
        </p:spPr>
        <p:txBody>
          <a:bodyPr wrap="square" lIns="0" rIns="0" tIns="0" bIns="0" anchor="ctr">
            <a:spAutoFit/>
          </a:bodyPr>
          <a:lstStyle/>
          <a:p>
            <a:pPr algn="l">
              <a:spcAft>
                <a:spcPts val="0"/>
              </a:spcAft>
            </a:pPr>
            <a:r>
              <a:rPr sz="3400" b="1" i="0">
                <a:solidFill>
                  <a:schemeClr val="bg1"/>
                </a:solidFill>
              </a:rPr>
              <a:t>0.34</a:t>
            </a:r>
          </a:p>
          <a:p>
            <a:r>
              <a:rPr sz="1400" b="0" i="0">
                <a:solidFill>
                  <a:schemeClr val="bg1"/>
                </a:solidFill>
              </a:rPr>
              <a:t>escolaridad e ingreso por hora, nacional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ecuación de Mincer: cómo se lee el 5.1 %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26</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E · ESTADÍSTICA EXPLICADA  ·  LUIS ANDRE</a:t>
            </a:r>
          </a:p>
        </p:txBody>
      </p:sp>
      <p:sp>
        <p:nvSpPr>
          <p:cNvPr id="6" name="Ecuación"/>
          <p:cNvSpPr/>
          <p:nvPr/>
        </p:nvSpPr>
        <p:spPr>
          <a:xfrm>
            <a:off x="548640" y="1508760"/>
            <a:ext cx="11091672" cy="128016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Ecuación texto"/>
          <p:cNvSpPr txBox="1"/>
          <p:nvPr/>
        </p:nvSpPr>
        <p:spPr>
          <a:xfrm>
            <a:off x="822959" y="1554480"/>
            <a:ext cx="10515600" cy="1188720"/>
          </a:xfrm>
          <a:prstGeom prst="rect">
            <a:avLst/>
          </a:prstGeom>
          <a:noFill/>
        </p:spPr>
        <p:txBody>
          <a:bodyPr wrap="square" lIns="0" rIns="0" tIns="0" bIns="0" anchor="ctr">
            <a:spAutoFit/>
          </a:bodyPr>
          <a:lstStyle/>
          <a:p>
            <a:pPr algn="ctr">
              <a:spcAft>
                <a:spcPts val="300"/>
              </a:spcAft>
            </a:pPr>
            <a:r>
              <a:rPr sz="2000" b="1" i="0">
                <a:solidFill>
                  <a:schemeClr val="bg1"/>
                </a:solidFill>
              </a:rPr>
              <a:t>ln(ingreso por hora) = α + β · escolaridad + γ₁ · edad + γ₂ · edad²</a:t>
            </a:r>
          </a:p>
          <a:p>
            <a:pPr algn="ctr">
              <a:spcAft>
                <a:spcPts val="300"/>
              </a:spcAft>
            </a:pPr>
            <a:r>
              <a:rPr sz="2000" b="1" i="0">
                <a:solidFill>
                  <a:schemeClr val="bg1"/>
                </a:solidFill>
              </a:rPr>
              <a:t>+ δ · mujer + efectos de entidad y de localidad + error</a:t>
            </a:r>
          </a:p>
          <a:p>
            <a:pPr algn="ctr">
              <a:spcAft>
                <a:spcPts val="300"/>
              </a:spcAft>
            </a:pPr>
            <a:r>
              <a:rPr sz="1500" b="0" i="0">
                <a:solidFill>
                  <a:srgbClr val="CADCFC"/>
                </a:solidFill>
              </a:rPr>
              <a:t>β = aumento del logaritmo del ingreso por año de estudio  →  rendimiento (%) = 100 × (e^β − 1)</a:t>
            </a:r>
          </a:p>
        </p:txBody>
      </p:sp>
      <p:graphicFrame>
        <p:nvGraphicFramePr>
          <p:cNvPr id="8" name="Modelos de Mincer"/>
          <p:cNvGraphicFramePr>
            <a:graphicFrameLocks noGrp="1"/>
          </p:cNvGraphicFramePr>
          <p:nvPr/>
        </p:nvGraphicFramePr>
        <p:xfrm>
          <a:off x="548640" y="3017520"/>
          <a:ext cx="7863840" cy="2377440"/>
        </p:xfrm>
        <a:graphic>
          <a:graphicData uri="http://schemas.openxmlformats.org/drawingml/2006/table">
            <a:tbl>
              <a:tblPr firstRow="1" bandRow="1">
                <a:tableStyleId>{5C22544A-7EE6-4342-B048-85BDC9FD1C3A}</a:tableStyleId>
              </a:tblPr>
              <a:tblGrid>
                <a:gridCol w="4023360"/>
                <a:gridCol w="1188720"/>
                <a:gridCol w="2651760"/>
              </a:tblGrid>
              <a:tr h="475488">
                <a:tc>
                  <a:txBody>
                    <a:bodyPr/>
                    <a:lstStyle/>
                    <a:p>
                      <a:pPr algn="l"/>
                      <a:r>
                        <a:rPr sz="1300" b="1" i="0">
                          <a:solidFill>
                            <a:schemeClr val="bg1"/>
                          </a:solidFill>
                        </a:rPr>
                        <a:t>Modelo (controles acumulados)</a:t>
                      </a:r>
                    </a:p>
                  </a:txBody>
                  <a:tcPr anchor="ctr">
                    <a:solidFill>
                      <a:schemeClr val="tx2"/>
                    </a:solidFill>
                  </a:tcPr>
                </a:tc>
                <a:tc>
                  <a:txBody>
                    <a:bodyPr/>
                    <a:lstStyle/>
                    <a:p>
                      <a:pPr algn="r"/>
                      <a:r>
                        <a:rPr sz="1300" b="1" i="0">
                          <a:solidFill>
                            <a:schemeClr val="bg1"/>
                          </a:solidFill>
                        </a:rPr>
                        <a:t>β</a:t>
                      </a:r>
                    </a:p>
                  </a:txBody>
                  <a:tcPr anchor="ctr">
                    <a:solidFill>
                      <a:schemeClr val="tx2"/>
                    </a:solidFill>
                  </a:tcPr>
                </a:tc>
                <a:tc>
                  <a:txBody>
                    <a:bodyPr/>
                    <a:lstStyle/>
                    <a:p>
                      <a:pPr algn="r"/>
                      <a:r>
                        <a:rPr sz="1300" b="1" i="0">
                          <a:solidFill>
                            <a:schemeClr val="bg1"/>
                          </a:solidFill>
                        </a:rPr>
                        <a:t>Rendimiento por año (IC 95 %)</a:t>
                      </a:r>
                    </a:p>
                  </a:txBody>
                  <a:tcPr anchor="ctr">
                    <a:solidFill>
                      <a:schemeClr val="tx2"/>
                    </a:solidFill>
                  </a:tcPr>
                </a:tc>
              </a:tr>
              <a:tr h="475488">
                <a:tc>
                  <a:txBody>
                    <a:bodyPr wrap="square"/>
                    <a:lstStyle/>
                    <a:p>
                      <a:pPr algn="l"/>
                      <a:r>
                        <a:rPr sz="1300" b="0" i="0">
                          <a:solidFill>
                            <a:schemeClr val="tx1"/>
                          </a:solidFill>
                        </a:rPr>
                        <a:t>M1 Mincer simple</a:t>
                      </a:r>
                    </a:p>
                  </a:txBody>
                  <a:tcPr anchor="ctr" marL="73152" marR="73152">
                    <a:solidFill>
                      <a:schemeClr val="bg1"/>
                    </a:solidFill>
                  </a:tcPr>
                </a:tc>
                <a:tc>
                  <a:txBody>
                    <a:bodyPr wrap="square"/>
                    <a:lstStyle/>
                    <a:p>
                      <a:pPr algn="r"/>
                      <a:r>
                        <a:rPr sz="1300" b="0" i="0">
                          <a:solidFill>
                            <a:schemeClr val="tx1"/>
                          </a:solidFill>
                        </a:rPr>
                        <a:t>0.0561</a:t>
                      </a:r>
                    </a:p>
                  </a:txBody>
                  <a:tcPr anchor="ctr" marL="73152" marR="73152">
                    <a:solidFill>
                      <a:schemeClr val="bg1"/>
                    </a:solidFill>
                  </a:tcPr>
                </a:tc>
                <a:tc>
                  <a:txBody>
                    <a:bodyPr wrap="square"/>
                    <a:lstStyle/>
                    <a:p>
                      <a:pPr algn="r"/>
                      <a:r>
                        <a:rPr sz="1300" b="0" i="0">
                          <a:solidFill>
                            <a:schemeClr val="tx1"/>
                          </a:solidFill>
                        </a:rPr>
                        <a:t>5.77 % (5.57 a 5.97)</a:t>
                      </a:r>
                    </a:p>
                  </a:txBody>
                  <a:tcPr anchor="ctr" marL="73152" marR="73152">
                    <a:solidFill>
                      <a:schemeClr val="bg1"/>
                    </a:solidFill>
                  </a:tcPr>
                </a:tc>
              </a:tr>
              <a:tr h="475488">
                <a:tc>
                  <a:txBody>
                    <a:bodyPr wrap="square"/>
                    <a:lstStyle/>
                    <a:p>
                      <a:pPr algn="l"/>
                      <a:r>
                        <a:rPr sz="1300" b="0" i="0">
                          <a:solidFill>
                            <a:schemeClr val="tx1"/>
                          </a:solidFill>
                        </a:rPr>
                        <a:t>M2 + edad, edad² y sexo</a:t>
                      </a:r>
                    </a:p>
                  </a:txBody>
                  <a:tcPr anchor="ctr" marL="73152" marR="73152">
                    <a:solidFill>
                      <a:schemeClr val="bg2"/>
                    </a:solidFill>
                  </a:tcPr>
                </a:tc>
                <a:tc>
                  <a:txBody>
                    <a:bodyPr wrap="square"/>
                    <a:lstStyle/>
                    <a:p>
                      <a:pPr algn="r"/>
                      <a:r>
                        <a:rPr sz="1300" b="0" i="0">
                          <a:solidFill>
                            <a:schemeClr val="tx1"/>
                          </a:solidFill>
                        </a:rPr>
                        <a:t>0.0597</a:t>
                      </a:r>
                    </a:p>
                  </a:txBody>
                  <a:tcPr anchor="ctr" marL="73152" marR="73152">
                    <a:solidFill>
                      <a:schemeClr val="bg2"/>
                    </a:solidFill>
                  </a:tcPr>
                </a:tc>
                <a:tc>
                  <a:txBody>
                    <a:bodyPr wrap="square"/>
                    <a:lstStyle/>
                    <a:p>
                      <a:pPr algn="r"/>
                      <a:r>
                        <a:rPr sz="1300" b="0" i="0">
                          <a:solidFill>
                            <a:schemeClr val="tx1"/>
                          </a:solidFill>
                        </a:rPr>
                        <a:t>6.15 % (5.94 a 6.36)</a:t>
                      </a:r>
                    </a:p>
                  </a:txBody>
                  <a:tcPr anchor="ctr" marL="73152" marR="73152">
                    <a:solidFill>
                      <a:schemeClr val="bg2"/>
                    </a:solidFill>
                  </a:tcPr>
                </a:tc>
              </a:tr>
              <a:tr h="475488">
                <a:tc>
                  <a:txBody>
                    <a:bodyPr wrap="square"/>
                    <a:lstStyle/>
                    <a:p>
                      <a:pPr algn="l"/>
                      <a:r>
                        <a:rPr sz="1300" b="1" i="0">
                          <a:solidFill>
                            <a:schemeClr val="tx1"/>
                          </a:solidFill>
                        </a:rPr>
                        <a:t>M3 + entidad y localidad</a:t>
                      </a:r>
                    </a:p>
                  </a:txBody>
                  <a:tcPr anchor="ctr" marL="73152" marR="73152">
                    <a:solidFill>
                      <a:schemeClr val="bg1"/>
                    </a:solidFill>
                  </a:tcPr>
                </a:tc>
                <a:tc>
                  <a:txBody>
                    <a:bodyPr wrap="square"/>
                    <a:lstStyle/>
                    <a:p>
                      <a:pPr algn="r"/>
                      <a:r>
                        <a:rPr sz="1300" b="1" i="0">
                          <a:solidFill>
                            <a:schemeClr val="tx1"/>
                          </a:solidFill>
                        </a:rPr>
                        <a:t>0.0501</a:t>
                      </a:r>
                    </a:p>
                  </a:txBody>
                  <a:tcPr anchor="ctr" marL="73152" marR="73152">
                    <a:solidFill>
                      <a:schemeClr val="bg1"/>
                    </a:solidFill>
                  </a:tcPr>
                </a:tc>
                <a:tc>
                  <a:txBody>
                    <a:bodyPr wrap="square"/>
                    <a:lstStyle/>
                    <a:p>
                      <a:pPr algn="r"/>
                      <a:r>
                        <a:rPr sz="1300" b="1" i="0">
                          <a:solidFill>
                            <a:schemeClr val="tx1"/>
                          </a:solidFill>
                        </a:rPr>
                        <a:t>5.14 % (4.96 a 5.32)</a:t>
                      </a:r>
                    </a:p>
                  </a:txBody>
                  <a:tcPr anchor="ctr" marL="73152" marR="73152">
                    <a:solidFill>
                      <a:schemeClr val="bg1"/>
                    </a:solidFill>
                  </a:tcPr>
                </a:tc>
              </a:tr>
              <a:tr h="475488">
                <a:tc>
                  <a:txBody>
                    <a:bodyPr wrap="square"/>
                    <a:lstStyle/>
                    <a:p>
                      <a:pPr algn="l"/>
                      <a:r>
                        <a:rPr sz="1300" b="0" i="0">
                          <a:solidFill>
                            <a:schemeClr val="tx1"/>
                          </a:solidFill>
                        </a:rPr>
                        <a:t>M4 + posición, informalidad y rama</a:t>
                      </a:r>
                    </a:p>
                  </a:txBody>
                  <a:tcPr anchor="ctr" marL="73152" marR="73152">
                    <a:solidFill>
                      <a:schemeClr val="bg2"/>
                    </a:solidFill>
                  </a:tcPr>
                </a:tc>
                <a:tc>
                  <a:txBody>
                    <a:bodyPr wrap="square"/>
                    <a:lstStyle/>
                    <a:p>
                      <a:pPr algn="r"/>
                      <a:r>
                        <a:rPr sz="1300" b="0" i="0">
                          <a:solidFill>
                            <a:schemeClr val="tx1"/>
                          </a:solidFill>
                        </a:rPr>
                        <a:t>0.0375</a:t>
                      </a:r>
                    </a:p>
                  </a:txBody>
                  <a:tcPr anchor="ctr" marL="73152" marR="73152">
                    <a:solidFill>
                      <a:schemeClr val="bg2"/>
                    </a:solidFill>
                  </a:tcPr>
                </a:tc>
                <a:tc>
                  <a:txBody>
                    <a:bodyPr wrap="square"/>
                    <a:lstStyle/>
                    <a:p>
                      <a:pPr algn="r"/>
                      <a:r>
                        <a:rPr sz="1300" b="0" i="0">
                          <a:solidFill>
                            <a:schemeClr val="tx1"/>
                          </a:solidFill>
                        </a:rPr>
                        <a:t>3.82 % (3.64 a 4.00)</a:t>
                      </a:r>
                    </a:p>
                  </a:txBody>
                  <a:tcPr anchor="ctr" marL="73152" marR="73152">
                    <a:solidFill>
                      <a:schemeClr val="bg2"/>
                    </a:solidFill>
                  </a:tcPr>
                </a:tc>
              </a:tr>
            </a:tbl>
          </a:graphicData>
        </a:graphic>
      </p:graphicFrame>
      <p:sp>
        <p:nvSpPr>
          <p:cNvPr id="9" name="Nota modelos"/>
          <p:cNvSpPr txBox="1"/>
          <p:nvPr/>
        </p:nvSpPr>
        <p:spPr>
          <a:xfrm>
            <a:off x="548640" y="5486400"/>
            <a:ext cx="7863840" cy="731520"/>
          </a:xfrm>
          <a:prstGeom prst="rect">
            <a:avLst/>
          </a:prstGeom>
          <a:noFill/>
        </p:spPr>
        <p:txBody>
          <a:bodyPr wrap="square" lIns="0" rIns="0" tIns="0" bIns="0" anchor="t">
            <a:spAutoFit/>
          </a:bodyPr>
          <a:lstStyle/>
          <a:p>
            <a:pPr algn="l">
              <a:spcAft>
                <a:spcPts val="0"/>
              </a:spcAft>
            </a:pPr>
            <a:r>
              <a:rPr sz="1300" b="0" i="0">
                <a:solidFill>
                  <a:srgbClr val="5F6368"/>
                </a:solidFill>
              </a:rPr>
              <a:t>M3 (con entidad y localidad) es el resultado de referencia. M4 baja a 3.8 % porque parte del beneficio de estudiar actúa a través de conseguir un mejor empleo (formal, asalariado).</a:t>
            </a:r>
          </a:p>
        </p:txBody>
      </p:sp>
      <p:sp>
        <p:nvSpPr>
          <p:cNvPr id="10" name="Un año"/>
          <p:cNvSpPr/>
          <p:nvPr/>
        </p:nvSpPr>
        <p:spPr>
          <a:xfrm>
            <a:off x="8732520" y="3017520"/>
            <a:ext cx="2907792"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Un año texto"/>
          <p:cNvSpPr txBox="1"/>
          <p:nvPr/>
        </p:nvSpPr>
        <p:spPr>
          <a:xfrm>
            <a:off x="8915400" y="3108960"/>
            <a:ext cx="2542032" cy="1143000"/>
          </a:xfrm>
          <a:prstGeom prst="rect">
            <a:avLst/>
          </a:prstGeom>
          <a:noFill/>
        </p:spPr>
        <p:txBody>
          <a:bodyPr wrap="square" lIns="0" rIns="0" tIns="0" bIns="0" anchor="ctr">
            <a:spAutoFit/>
          </a:bodyPr>
          <a:lstStyle/>
          <a:p>
            <a:pPr algn="l">
              <a:spcAft>
                <a:spcPts val="0"/>
              </a:spcAft>
            </a:pPr>
            <a:r>
              <a:rPr sz="3600" b="1" i="0">
                <a:solidFill>
                  <a:schemeClr val="tx2"/>
                </a:solidFill>
              </a:rPr>
              <a:t>+5.1 %</a:t>
            </a:r>
          </a:p>
          <a:p>
            <a:r>
              <a:rPr sz="1300" b="0" i="0">
                <a:solidFill>
                  <a:schemeClr val="tx1"/>
                </a:solidFill>
              </a:rPr>
              <a:t>por cada año de estudio (M3)</a:t>
            </a:r>
          </a:p>
        </p:txBody>
      </p:sp>
      <p:sp>
        <p:nvSpPr>
          <p:cNvPr id="12" name="Dos años"/>
          <p:cNvSpPr/>
          <p:nvPr/>
        </p:nvSpPr>
        <p:spPr>
          <a:xfrm>
            <a:off x="8732520" y="4480560"/>
            <a:ext cx="2907792" cy="1325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os años texto"/>
          <p:cNvSpPr txBox="1"/>
          <p:nvPr/>
        </p:nvSpPr>
        <p:spPr>
          <a:xfrm>
            <a:off x="8915400" y="4572000"/>
            <a:ext cx="2542032" cy="1143000"/>
          </a:xfrm>
          <a:prstGeom prst="rect">
            <a:avLst/>
          </a:prstGeom>
          <a:noFill/>
        </p:spPr>
        <p:txBody>
          <a:bodyPr wrap="square" lIns="0" rIns="0" tIns="0" bIns="0" anchor="ctr">
            <a:spAutoFit/>
          </a:bodyPr>
          <a:lstStyle/>
          <a:p>
            <a:pPr algn="l">
              <a:spcAft>
                <a:spcPts val="0"/>
              </a:spcAft>
            </a:pPr>
            <a:r>
              <a:rPr sz="3600" b="1" i="0">
                <a:solidFill>
                  <a:schemeClr val="tx2"/>
                </a:solidFill>
              </a:rPr>
              <a:t>+10.5 %</a:t>
            </a:r>
          </a:p>
          <a:p>
            <a:r>
              <a:rPr sz="1300" b="0" i="0">
                <a:solidFill>
                  <a:schemeClr val="tx1"/>
                </a:solidFill>
              </a:rPr>
              <a:t>dos años: (1.051)² − 1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Tres herramientas para leer la brecha: porcentaje, tamaño del efecto y Holm</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27</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E · ESTADÍSTICA EXPLICADA  ·  LUIS ANDRE</a:t>
            </a:r>
          </a:p>
        </p:txBody>
      </p:sp>
      <p:sp>
        <p:nvSpPr>
          <p:cNvPr id="6" name="Herramienta 1"/>
          <p:cNvSpPr/>
          <p:nvPr/>
        </p:nvSpPr>
        <p:spPr>
          <a:xfrm>
            <a:off x="548640" y="1508760"/>
            <a:ext cx="361188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Herramienta 1 texto"/>
          <p:cNvSpPr txBox="1"/>
          <p:nvPr/>
        </p:nvSpPr>
        <p:spPr>
          <a:xfrm>
            <a:off x="731520" y="1600200"/>
            <a:ext cx="3246120" cy="2057400"/>
          </a:xfrm>
          <a:prstGeom prst="rect">
            <a:avLst/>
          </a:prstGeom>
          <a:noFill/>
        </p:spPr>
        <p:txBody>
          <a:bodyPr wrap="square" lIns="0" rIns="0" tIns="0" bIns="0" anchor="ctr">
            <a:spAutoFit/>
          </a:bodyPr>
          <a:lstStyle/>
          <a:p>
            <a:pPr algn="l">
              <a:spcAft>
                <a:spcPts val="600"/>
              </a:spcAft>
            </a:pPr>
            <a:r>
              <a:rPr sz="1800" b="1" i="0">
                <a:solidFill>
                  <a:schemeClr val="tx2"/>
                </a:solidFill>
              </a:rPr>
              <a:t>Brecha (%)</a:t>
            </a:r>
          </a:p>
          <a:p>
            <a:pPr algn="l">
              <a:spcAft>
                <a:spcPts val="600"/>
              </a:spcAft>
            </a:pPr>
            <a:r>
              <a:rPr sz="1400" b="1" i="0">
                <a:solidFill>
                  <a:schemeClr val="accent1"/>
                </a:solidFill>
              </a:rPr>
              <a:t>1 − (50.60 ÷ 52.53) = 3.7 %</a:t>
            </a:r>
          </a:p>
          <a:p>
            <a:pPr algn="l">
              <a:spcAft>
                <a:spcPts val="600"/>
              </a:spcAft>
            </a:pPr>
            <a:r>
              <a:rPr sz="1400" b="0" i="0">
                <a:solidFill>
                  <a:schemeClr val="tx1"/>
                </a:solidFill>
              </a:rPr>
              <a:t>Las mujeres ganan 3.7 % menos por hora, comparando medias geométricas.</a:t>
            </a:r>
          </a:p>
        </p:txBody>
      </p:sp>
      <p:sp>
        <p:nvSpPr>
          <p:cNvPr id="8" name="Herramienta 2"/>
          <p:cNvSpPr/>
          <p:nvPr/>
        </p:nvSpPr>
        <p:spPr>
          <a:xfrm>
            <a:off x="4297679" y="1508760"/>
            <a:ext cx="361188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rramienta 2 texto"/>
          <p:cNvSpPr txBox="1"/>
          <p:nvPr/>
        </p:nvSpPr>
        <p:spPr>
          <a:xfrm>
            <a:off x="4480559" y="1600200"/>
            <a:ext cx="3246120" cy="2057400"/>
          </a:xfrm>
          <a:prstGeom prst="rect">
            <a:avLst/>
          </a:prstGeom>
          <a:noFill/>
        </p:spPr>
        <p:txBody>
          <a:bodyPr wrap="square" lIns="0" rIns="0" tIns="0" bIns="0" anchor="ctr">
            <a:spAutoFit/>
          </a:bodyPr>
          <a:lstStyle/>
          <a:p>
            <a:pPr algn="l">
              <a:spcAft>
                <a:spcPts val="600"/>
              </a:spcAft>
            </a:pPr>
            <a:r>
              <a:rPr sz="1800" b="1" i="0">
                <a:solidFill>
                  <a:schemeClr val="tx2"/>
                </a:solidFill>
              </a:rPr>
              <a:t>d de Cohen</a:t>
            </a:r>
          </a:p>
          <a:p>
            <a:pPr algn="l">
              <a:spcAft>
                <a:spcPts val="600"/>
              </a:spcAft>
            </a:pPr>
            <a:r>
              <a:rPr sz="1400" b="1" i="0">
                <a:solidFill>
                  <a:schemeClr val="accent1"/>
                </a:solidFill>
              </a:rPr>
              <a:t>diferencia de medias ÷ desviación estándar</a:t>
            </a:r>
          </a:p>
          <a:p>
            <a:pPr algn="l">
              <a:spcAft>
                <a:spcPts val="600"/>
              </a:spcAft>
            </a:pPr>
            <a:r>
              <a:rPr sz="1400" b="0" i="0">
                <a:solidFill>
                  <a:schemeClr val="tx1"/>
                </a:solidFill>
              </a:rPr>
              <a:t>0.2 pequeño · 0.5 mediano · 0.8 grande. Aquí: 0.06 a 0.24.</a:t>
            </a:r>
          </a:p>
        </p:txBody>
      </p:sp>
      <p:sp>
        <p:nvSpPr>
          <p:cNvPr id="10" name="Herramienta 3"/>
          <p:cNvSpPr/>
          <p:nvPr/>
        </p:nvSpPr>
        <p:spPr>
          <a:xfrm>
            <a:off x="8046719" y="1508760"/>
            <a:ext cx="361188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Herramienta 3 texto"/>
          <p:cNvSpPr txBox="1"/>
          <p:nvPr/>
        </p:nvSpPr>
        <p:spPr>
          <a:xfrm>
            <a:off x="8229599" y="1600200"/>
            <a:ext cx="3246120" cy="2057400"/>
          </a:xfrm>
          <a:prstGeom prst="rect">
            <a:avLst/>
          </a:prstGeom>
          <a:noFill/>
        </p:spPr>
        <p:txBody>
          <a:bodyPr wrap="square" lIns="0" rIns="0" tIns="0" bIns="0" anchor="ctr">
            <a:spAutoFit/>
          </a:bodyPr>
          <a:lstStyle/>
          <a:p>
            <a:pPr algn="l">
              <a:spcAft>
                <a:spcPts val="600"/>
              </a:spcAft>
            </a:pPr>
            <a:r>
              <a:rPr sz="1800" b="1" i="0">
                <a:solidFill>
                  <a:schemeClr val="tx2"/>
                </a:solidFill>
              </a:rPr>
              <a:t>Corrección de Holm</a:t>
            </a:r>
          </a:p>
          <a:p>
            <a:pPr algn="l">
              <a:spcAft>
                <a:spcPts val="600"/>
              </a:spcAft>
            </a:pPr>
            <a:r>
              <a:rPr sz="1400" b="1" i="0">
                <a:solidFill>
                  <a:schemeClr val="accent1"/>
                </a:solidFill>
              </a:rPr>
              <a:t>4 pruebas → p ordenados y umbrales crecientes</a:t>
            </a:r>
          </a:p>
          <a:p>
            <a:pPr algn="l">
              <a:spcAft>
                <a:spcPts val="600"/>
              </a:spcAft>
            </a:pPr>
            <a:r>
              <a:rPr sz="1400" b="0" i="0">
                <a:solidFill>
                  <a:schemeClr val="tx1"/>
                </a:solidFill>
              </a:rPr>
              <a:t>Controla el error del conjunto; las 4 brechas siguen siendo significativas.</a:t>
            </a:r>
          </a:p>
        </p:txBody>
      </p:sp>
      <p:graphicFrame>
        <p:nvGraphicFramePr>
          <p:cNvPr id="12" name="Brecha por nivel"/>
          <p:cNvGraphicFramePr>
            <a:graphicFrameLocks noGrp="1"/>
          </p:cNvGraphicFramePr>
          <p:nvPr/>
        </p:nvGraphicFramePr>
        <p:xfrm>
          <a:off x="548640" y="3931920"/>
          <a:ext cx="7680960" cy="2304288"/>
        </p:xfrm>
        <a:graphic>
          <a:graphicData uri="http://schemas.openxmlformats.org/drawingml/2006/table">
            <a:tbl>
              <a:tblPr firstRow="1" bandRow="1">
                <a:tableStyleId>{5C22544A-7EE6-4342-B048-85BDC9FD1C3A}</a:tableStyleId>
              </a:tblPr>
              <a:tblGrid>
                <a:gridCol w="2743200"/>
                <a:gridCol w="1097280"/>
                <a:gridCol w="1737360"/>
                <a:gridCol w="1051560"/>
                <a:gridCol w="1051560"/>
              </a:tblGrid>
              <a:tr h="384048">
                <a:tc>
                  <a:txBody>
                    <a:bodyPr/>
                    <a:lstStyle/>
                    <a:p>
                      <a:pPr algn="l"/>
                      <a:r>
                        <a:rPr sz="1300" b="1" i="0">
                          <a:solidFill>
                            <a:schemeClr val="bg1"/>
                          </a:solidFill>
                        </a:rPr>
                        <a:t>Nivel de instrucción</a:t>
                      </a:r>
                    </a:p>
                  </a:txBody>
                  <a:tcPr anchor="ctr">
                    <a:solidFill>
                      <a:schemeClr val="tx2"/>
                    </a:solidFill>
                  </a:tcPr>
                </a:tc>
                <a:tc>
                  <a:txBody>
                    <a:bodyPr/>
                    <a:lstStyle/>
                    <a:p>
                      <a:pPr algn="r"/>
                      <a:r>
                        <a:rPr sz="1300" b="1" i="0">
                          <a:solidFill>
                            <a:schemeClr val="bg1"/>
                          </a:solidFill>
                        </a:rPr>
                        <a:t>Brecha</a:t>
                      </a:r>
                    </a:p>
                  </a:txBody>
                  <a:tcPr anchor="ctr">
                    <a:solidFill>
                      <a:schemeClr val="tx2"/>
                    </a:solidFill>
                  </a:tcPr>
                </a:tc>
                <a:tc>
                  <a:txBody>
                    <a:bodyPr/>
                    <a:lstStyle/>
                    <a:p>
                      <a:pPr algn="ctr"/>
                      <a:r>
                        <a:rPr sz="1300" b="1" i="0">
                          <a:solidFill>
                            <a:schemeClr val="bg1"/>
                          </a:solidFill>
                        </a:rPr>
                        <a:t>IC 95 %</a:t>
                      </a:r>
                    </a:p>
                  </a:txBody>
                  <a:tcPr anchor="ctr">
                    <a:solidFill>
                      <a:schemeClr val="tx2"/>
                    </a:solidFill>
                  </a:tcPr>
                </a:tc>
                <a:tc>
                  <a:txBody>
                    <a:bodyPr/>
                    <a:lstStyle/>
                    <a:p>
                      <a:pPr algn="r"/>
                      <a:r>
                        <a:rPr sz="1300" b="1" i="0">
                          <a:solidFill>
                            <a:schemeClr val="bg1"/>
                          </a:solidFill>
                        </a:rPr>
                        <a:t>d de Cohen</a:t>
                      </a:r>
                    </a:p>
                  </a:txBody>
                  <a:tcPr anchor="ctr">
                    <a:solidFill>
                      <a:schemeClr val="tx2"/>
                    </a:solidFill>
                  </a:tcPr>
                </a:tc>
                <a:tc>
                  <a:txBody>
                    <a:bodyPr/>
                    <a:lstStyle/>
                    <a:p>
                      <a:pPr algn="r"/>
                      <a:r>
                        <a:rPr sz="1300" b="1" i="0">
                          <a:solidFill>
                            <a:schemeClr val="bg1"/>
                          </a:solidFill>
                        </a:rPr>
                        <a:t>p (Holm)</a:t>
                      </a:r>
                    </a:p>
                  </a:txBody>
                  <a:tcPr anchor="ctr">
                    <a:solidFill>
                      <a:schemeClr val="tx2"/>
                    </a:solidFill>
                  </a:tcPr>
                </a:tc>
              </a:tr>
              <a:tr h="384048">
                <a:tc>
                  <a:txBody>
                    <a:bodyPr wrap="square"/>
                    <a:lstStyle/>
                    <a:p>
                      <a:pPr algn="l"/>
                      <a:r>
                        <a:rPr sz="1300" b="0" i="0">
                          <a:solidFill>
                            <a:schemeClr val="tx1"/>
                          </a:solidFill>
                        </a:rPr>
                        <a:t>Primaria incompleta</a:t>
                      </a:r>
                    </a:p>
                  </a:txBody>
                  <a:tcPr anchor="ctr" marL="73152" marR="73152">
                    <a:solidFill>
                      <a:schemeClr val="bg1"/>
                    </a:solidFill>
                  </a:tcPr>
                </a:tc>
                <a:tc>
                  <a:txBody>
                    <a:bodyPr wrap="square"/>
                    <a:lstStyle/>
                    <a:p>
                      <a:pPr algn="r"/>
                      <a:r>
                        <a:rPr sz="1300" b="0" i="0">
                          <a:solidFill>
                            <a:schemeClr val="tx1"/>
                          </a:solidFill>
                        </a:rPr>
                        <a:t>8.4 %</a:t>
                      </a:r>
                    </a:p>
                  </a:txBody>
                  <a:tcPr anchor="ctr" marL="73152" marR="73152">
                    <a:solidFill>
                      <a:schemeClr val="bg1"/>
                    </a:solidFill>
                  </a:tcPr>
                </a:tc>
                <a:tc>
                  <a:txBody>
                    <a:bodyPr wrap="square"/>
                    <a:lstStyle/>
                    <a:p>
                      <a:pPr algn="ctr"/>
                      <a:r>
                        <a:rPr sz="1300" b="0" i="0">
                          <a:solidFill>
                            <a:schemeClr val="tx1"/>
                          </a:solidFill>
                        </a:rPr>
                        <a:t>4.1 a 12.9</a:t>
                      </a:r>
                    </a:p>
                  </a:txBody>
                  <a:tcPr anchor="ctr" marL="73152" marR="73152">
                    <a:solidFill>
                      <a:schemeClr val="bg1"/>
                    </a:solidFill>
                  </a:tcPr>
                </a:tc>
                <a:tc>
                  <a:txBody>
                    <a:bodyPr wrap="square"/>
                    <a:lstStyle/>
                    <a:p>
                      <a:pPr algn="r"/>
                      <a:r>
                        <a:rPr sz="1300" b="0" i="0">
                          <a:solidFill>
                            <a:schemeClr val="tx1"/>
                          </a:solidFill>
                        </a:rPr>
                        <a:t>0.24</a:t>
                      </a:r>
                    </a:p>
                  </a:txBody>
                  <a:tcPr anchor="ctr" marL="73152" marR="73152">
                    <a:solidFill>
                      <a:schemeClr val="bg1"/>
                    </a:solidFill>
                  </a:tcPr>
                </a:tc>
                <a:tc>
                  <a:txBody>
                    <a:bodyPr wrap="square"/>
                    <a:lstStyle/>
                    <a:p>
                      <a:pPr algn="r"/>
                      <a:r>
                        <a:rPr sz="1300" b="0" i="0">
                          <a:solidFill>
                            <a:schemeClr val="tx1"/>
                          </a:solidFill>
                        </a:rPr>
                        <a:t>&lt; 0.001</a:t>
                      </a:r>
                    </a:p>
                  </a:txBody>
                  <a:tcPr anchor="ctr" marL="73152" marR="73152">
                    <a:solidFill>
                      <a:schemeClr val="bg1"/>
                    </a:solidFill>
                  </a:tcPr>
                </a:tc>
              </a:tr>
              <a:tr h="384048">
                <a:tc>
                  <a:txBody>
                    <a:bodyPr wrap="square"/>
                    <a:lstStyle/>
                    <a:p>
                      <a:pPr algn="l"/>
                      <a:r>
                        <a:rPr sz="1300" b="0" i="0">
                          <a:solidFill>
                            <a:schemeClr val="tx1"/>
                          </a:solidFill>
                        </a:rPr>
                        <a:t>Primaria completa</a:t>
                      </a:r>
                    </a:p>
                  </a:txBody>
                  <a:tcPr anchor="ctr" marL="73152" marR="73152">
                    <a:solidFill>
                      <a:schemeClr val="bg2"/>
                    </a:solidFill>
                  </a:tcPr>
                </a:tc>
                <a:tc>
                  <a:txBody>
                    <a:bodyPr wrap="square"/>
                    <a:lstStyle/>
                    <a:p>
                      <a:pPr algn="r"/>
                      <a:r>
                        <a:rPr sz="1300" b="0" i="0">
                          <a:solidFill>
                            <a:schemeClr val="tx1"/>
                          </a:solidFill>
                        </a:rPr>
                        <a:t>10.1 %</a:t>
                      </a:r>
                    </a:p>
                  </a:txBody>
                  <a:tcPr anchor="ctr" marL="73152" marR="73152">
                    <a:solidFill>
                      <a:schemeClr val="bg2"/>
                    </a:solidFill>
                  </a:tcPr>
                </a:tc>
                <a:tc>
                  <a:txBody>
                    <a:bodyPr wrap="square"/>
                    <a:lstStyle/>
                    <a:p>
                      <a:pPr algn="ctr"/>
                      <a:r>
                        <a:rPr sz="1300" b="0" i="0">
                          <a:solidFill>
                            <a:schemeClr val="tx1"/>
                          </a:solidFill>
                        </a:rPr>
                        <a:t>7.3 a 12.9</a:t>
                      </a:r>
                    </a:p>
                  </a:txBody>
                  <a:tcPr anchor="ctr" marL="73152" marR="73152">
                    <a:solidFill>
                      <a:schemeClr val="bg2"/>
                    </a:solidFill>
                  </a:tcPr>
                </a:tc>
                <a:tc>
                  <a:txBody>
                    <a:bodyPr wrap="square"/>
                    <a:lstStyle/>
                    <a:p>
                      <a:pPr algn="r"/>
                      <a:r>
                        <a:rPr sz="1300" b="0" i="0">
                          <a:solidFill>
                            <a:schemeClr val="tx1"/>
                          </a:solidFill>
                        </a:rPr>
                        <a:t>0.20</a:t>
                      </a:r>
                    </a:p>
                  </a:txBody>
                  <a:tcPr anchor="ctr" marL="73152" marR="73152">
                    <a:solidFill>
                      <a:schemeClr val="bg2"/>
                    </a:solidFill>
                  </a:tcPr>
                </a:tc>
                <a:tc>
                  <a:txBody>
                    <a:bodyPr wrap="square"/>
                    <a:lstStyle/>
                    <a:p>
                      <a:pPr algn="r"/>
                      <a:r>
                        <a:rPr sz="1300" b="0" i="0">
                          <a:solidFill>
                            <a:schemeClr val="tx1"/>
                          </a:solidFill>
                        </a:rPr>
                        <a:t>&lt; 0.001</a:t>
                      </a:r>
                    </a:p>
                  </a:txBody>
                  <a:tcPr anchor="ctr" marL="73152" marR="73152">
                    <a:solidFill>
                      <a:schemeClr val="bg2"/>
                    </a:solidFill>
                  </a:tcPr>
                </a:tc>
              </a:tr>
              <a:tr h="384048">
                <a:tc>
                  <a:txBody>
                    <a:bodyPr wrap="square"/>
                    <a:lstStyle/>
                    <a:p>
                      <a:pPr algn="l"/>
                      <a:r>
                        <a:rPr sz="1300" b="0" i="0">
                          <a:solidFill>
                            <a:schemeClr val="tx1"/>
                          </a:solidFill>
                        </a:rPr>
                        <a:t>Secundaria completa</a:t>
                      </a:r>
                    </a:p>
                  </a:txBody>
                  <a:tcPr anchor="ctr" marL="73152" marR="73152">
                    <a:solidFill>
                      <a:schemeClr val="bg1"/>
                    </a:solidFill>
                  </a:tcPr>
                </a:tc>
                <a:tc>
                  <a:txBody>
                    <a:bodyPr wrap="square"/>
                    <a:lstStyle/>
                    <a:p>
                      <a:pPr algn="r"/>
                      <a:r>
                        <a:rPr sz="1300" b="0" i="0">
                          <a:solidFill>
                            <a:schemeClr val="tx1"/>
                          </a:solidFill>
                        </a:rPr>
                        <a:t>7.6 %</a:t>
                      </a:r>
                    </a:p>
                  </a:txBody>
                  <a:tcPr anchor="ctr" marL="73152" marR="73152">
                    <a:solidFill>
                      <a:schemeClr val="bg1"/>
                    </a:solidFill>
                  </a:tcPr>
                </a:tc>
                <a:tc>
                  <a:txBody>
                    <a:bodyPr wrap="square"/>
                    <a:lstStyle/>
                    <a:p>
                      <a:pPr algn="ctr"/>
                      <a:r>
                        <a:rPr sz="1300" b="0" i="0">
                          <a:solidFill>
                            <a:schemeClr val="tx1"/>
                          </a:solidFill>
                        </a:rPr>
                        <a:t>5.9 a 9.3</a:t>
                      </a:r>
                    </a:p>
                  </a:txBody>
                  <a:tcPr anchor="ctr" marL="73152" marR="73152">
                    <a:solidFill>
                      <a:schemeClr val="bg1"/>
                    </a:solidFill>
                  </a:tcPr>
                </a:tc>
                <a:tc>
                  <a:txBody>
                    <a:bodyPr wrap="square"/>
                    <a:lstStyle/>
                    <a:p>
                      <a:pPr algn="r"/>
                      <a:r>
                        <a:rPr sz="1300" b="0" i="0">
                          <a:solidFill>
                            <a:schemeClr val="tx1"/>
                          </a:solidFill>
                        </a:rPr>
                        <a:t>0.15</a:t>
                      </a:r>
                    </a:p>
                  </a:txBody>
                  <a:tcPr anchor="ctr" marL="73152" marR="73152">
                    <a:solidFill>
                      <a:schemeClr val="bg1"/>
                    </a:solidFill>
                  </a:tcPr>
                </a:tc>
                <a:tc>
                  <a:txBody>
                    <a:bodyPr wrap="square"/>
                    <a:lstStyle/>
                    <a:p>
                      <a:pPr algn="r"/>
                      <a:r>
                        <a:rPr sz="1300" b="0" i="0">
                          <a:solidFill>
                            <a:schemeClr val="tx1"/>
                          </a:solidFill>
                        </a:rPr>
                        <a:t>&lt; 0.001</a:t>
                      </a:r>
                    </a:p>
                  </a:txBody>
                  <a:tcPr anchor="ctr" marL="73152" marR="73152">
                    <a:solidFill>
                      <a:schemeClr val="bg1"/>
                    </a:solidFill>
                  </a:tcPr>
                </a:tc>
              </a:tr>
              <a:tr h="384048">
                <a:tc>
                  <a:txBody>
                    <a:bodyPr wrap="square"/>
                    <a:lstStyle/>
                    <a:p>
                      <a:pPr algn="l"/>
                      <a:r>
                        <a:rPr sz="1300" b="0" i="0">
                          <a:solidFill>
                            <a:schemeClr val="tx1"/>
                          </a:solidFill>
                        </a:rPr>
                        <a:t>Medio superior y superior</a:t>
                      </a:r>
                    </a:p>
                  </a:txBody>
                  <a:tcPr anchor="ctr" marL="73152" marR="73152">
                    <a:solidFill>
                      <a:schemeClr val="bg2"/>
                    </a:solidFill>
                  </a:tcPr>
                </a:tc>
                <a:tc>
                  <a:txBody>
                    <a:bodyPr wrap="square"/>
                    <a:lstStyle/>
                    <a:p>
                      <a:pPr algn="r"/>
                      <a:r>
                        <a:rPr sz="1300" b="0" i="0">
                          <a:solidFill>
                            <a:schemeClr val="tx1"/>
                          </a:solidFill>
                        </a:rPr>
                        <a:t>3.9 %</a:t>
                      </a:r>
                    </a:p>
                  </a:txBody>
                  <a:tcPr anchor="ctr" marL="73152" marR="73152">
                    <a:solidFill>
                      <a:schemeClr val="bg2"/>
                    </a:solidFill>
                  </a:tcPr>
                </a:tc>
                <a:tc>
                  <a:txBody>
                    <a:bodyPr wrap="square"/>
                    <a:lstStyle/>
                    <a:p>
                      <a:pPr algn="ctr"/>
                      <a:r>
                        <a:rPr sz="1300" b="0" i="0">
                          <a:solidFill>
                            <a:schemeClr val="tx1"/>
                          </a:solidFill>
                        </a:rPr>
                        <a:t>2.0 a 5.5</a:t>
                      </a:r>
                    </a:p>
                  </a:txBody>
                  <a:tcPr anchor="ctr" marL="73152" marR="73152">
                    <a:solidFill>
                      <a:schemeClr val="bg2"/>
                    </a:solidFill>
                  </a:tcPr>
                </a:tc>
                <a:tc>
                  <a:txBody>
                    <a:bodyPr wrap="square"/>
                    <a:lstStyle/>
                    <a:p>
                      <a:pPr algn="r"/>
                      <a:r>
                        <a:rPr sz="1300" b="0" i="0">
                          <a:solidFill>
                            <a:schemeClr val="tx1"/>
                          </a:solidFill>
                        </a:rPr>
                        <a:t>0.06</a:t>
                      </a:r>
                    </a:p>
                  </a:txBody>
                  <a:tcPr anchor="ctr" marL="73152" marR="73152">
                    <a:solidFill>
                      <a:schemeClr val="bg2"/>
                    </a:solidFill>
                  </a:tcPr>
                </a:tc>
                <a:tc>
                  <a:txBody>
                    <a:bodyPr wrap="square"/>
                    <a:lstStyle/>
                    <a:p>
                      <a:pPr algn="r"/>
                      <a:r>
                        <a:rPr sz="1300" b="0" i="0">
                          <a:solidFill>
                            <a:schemeClr val="tx1"/>
                          </a:solidFill>
                        </a:rPr>
                        <a:t>&lt; 0.001</a:t>
                      </a:r>
                    </a:p>
                  </a:txBody>
                  <a:tcPr anchor="ctr" marL="73152" marR="73152">
                    <a:solidFill>
                      <a:schemeClr val="bg2"/>
                    </a:solidFill>
                  </a:tcPr>
                </a:tc>
              </a:tr>
              <a:tr h="384048">
                <a:tc>
                  <a:txBody>
                    <a:bodyPr wrap="square"/>
                    <a:lstStyle/>
                    <a:p>
                      <a:pPr algn="l"/>
                      <a:r>
                        <a:rPr sz="1300" b="1" i="0">
                          <a:solidFill>
                            <a:schemeClr val="tx1"/>
                          </a:solidFill>
                        </a:rPr>
                        <a:t>Total</a:t>
                      </a:r>
                    </a:p>
                  </a:txBody>
                  <a:tcPr anchor="ctr" marL="73152" marR="73152">
                    <a:solidFill>
                      <a:schemeClr val="bg1"/>
                    </a:solidFill>
                  </a:tcPr>
                </a:tc>
                <a:tc>
                  <a:txBody>
                    <a:bodyPr wrap="square"/>
                    <a:lstStyle/>
                    <a:p>
                      <a:pPr algn="r"/>
                      <a:r>
                        <a:rPr sz="1300" b="1" i="0">
                          <a:solidFill>
                            <a:schemeClr val="tx1"/>
                          </a:solidFill>
                        </a:rPr>
                        <a:t>3.7 %</a:t>
                      </a:r>
                    </a:p>
                  </a:txBody>
                  <a:tcPr anchor="ctr" marL="73152" marR="73152">
                    <a:solidFill>
                      <a:schemeClr val="bg1"/>
                    </a:solidFill>
                  </a:tcPr>
                </a:tc>
                <a:tc>
                  <a:txBody>
                    <a:bodyPr wrap="square"/>
                    <a:lstStyle/>
                    <a:p>
                      <a:pPr algn="ctr"/>
                      <a:r>
                        <a:rPr sz="1300" b="1" i="0">
                          <a:solidFill>
                            <a:schemeClr val="tx1"/>
                          </a:solidFill>
                        </a:rPr>
                        <a:t>2.3 a 5.0</a:t>
                      </a:r>
                    </a:p>
                  </a:txBody>
                  <a:tcPr anchor="ctr" marL="73152" marR="73152">
                    <a:solidFill>
                      <a:schemeClr val="bg1"/>
                    </a:solidFill>
                  </a:tcPr>
                </a:tc>
                <a:tc>
                  <a:txBody>
                    <a:bodyPr wrap="square"/>
                    <a:lstStyle/>
                    <a:p>
                      <a:pPr algn="r"/>
                      <a:r>
                        <a:rPr sz="1300" b="1" i="0">
                          <a:solidFill>
                            <a:schemeClr val="tx1"/>
                          </a:solidFill>
                        </a:rPr>
                        <a:t>0.08</a:t>
                      </a:r>
                    </a:p>
                  </a:txBody>
                  <a:tcPr anchor="ctr" marL="73152" marR="73152">
                    <a:solidFill>
                      <a:schemeClr val="bg1"/>
                    </a:solidFill>
                  </a:tcPr>
                </a:tc>
                <a:tc>
                  <a:txBody>
                    <a:bodyPr wrap="square"/>
                    <a:lstStyle/>
                    <a:p>
                      <a:pPr algn="r"/>
                      <a:r>
                        <a:rPr sz="1300" b="1" i="0">
                          <a:solidFill>
                            <a:schemeClr val="tx1"/>
                          </a:solidFill>
                        </a:rPr>
                        <a:t>&lt; 0.001</a:t>
                      </a:r>
                    </a:p>
                  </a:txBody>
                  <a:tcPr anchor="ctr" marL="73152" marR="73152">
                    <a:solidFill>
                      <a:schemeClr val="bg1"/>
                    </a:solidFill>
                  </a:tcPr>
                </a:tc>
              </a:tr>
            </a:tbl>
          </a:graphicData>
        </a:graphic>
      </p:graphicFrame>
      <p:sp>
        <p:nvSpPr>
          <p:cNvPr id="13" name="Lectura brecha"/>
          <p:cNvSpPr/>
          <p:nvPr/>
        </p:nvSpPr>
        <p:spPr>
          <a:xfrm>
            <a:off x="8458200" y="3931920"/>
            <a:ext cx="3182112" cy="230428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ectura brecha texto"/>
          <p:cNvSpPr txBox="1"/>
          <p:nvPr/>
        </p:nvSpPr>
        <p:spPr>
          <a:xfrm>
            <a:off x="8659368" y="4041648"/>
            <a:ext cx="2779776" cy="2084832"/>
          </a:xfrm>
          <a:prstGeom prst="rect">
            <a:avLst/>
          </a:prstGeom>
          <a:noFill/>
        </p:spPr>
        <p:txBody>
          <a:bodyPr wrap="square" lIns="0" rIns="0" tIns="0" bIns="0" anchor="ctr">
            <a:spAutoFit/>
          </a:bodyPr>
          <a:lstStyle/>
          <a:p>
            <a:pPr algn="l">
              <a:spcAft>
                <a:spcPts val="600"/>
              </a:spcAft>
            </a:pPr>
            <a:r>
              <a:rPr sz="1700" b="1" i="0">
                <a:solidFill>
                  <a:schemeClr val="tx2"/>
                </a:solidFill>
              </a:rPr>
              <a:t>Lectura</a:t>
            </a:r>
          </a:p>
          <a:p>
            <a:pPr algn="l">
              <a:spcAft>
                <a:spcPts val="600"/>
              </a:spcAft>
            </a:pPr>
            <a:r>
              <a:rPr sz="1400" b="0" i="0">
                <a:solidFill>
                  <a:schemeClr val="tx1"/>
                </a:solidFill>
              </a:rPr>
              <a:t>Hay brecha en los cuatro niveles, pero el efecto es pequeño: hombres y mujeres se traslapan mucho.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Cada año de estudio eleva el ingreso por hora 5.1 %, y la licenciatura casi lo duplica</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28</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F1 · ESCOLARIDAD E INGRESO  ·  LUIS ANDRE</a:t>
            </a:r>
          </a:p>
        </p:txBody>
      </p:sp>
      <p:sp>
        <p:nvSpPr>
          <p:cNvPr id="6" name="Subtítulo de la gráfica"/>
          <p:cNvSpPr txBox="1"/>
          <p:nvPr/>
        </p:nvSpPr>
        <p:spPr>
          <a:xfrm>
            <a:off x="548640" y="1508760"/>
            <a:ext cx="6949440" cy="365760"/>
          </a:xfrm>
          <a:prstGeom prst="rect">
            <a:avLst/>
          </a:prstGeom>
          <a:noFill/>
        </p:spPr>
        <p:txBody>
          <a:bodyPr wrap="square" lIns="0" rIns="0" tIns="0" bIns="0" anchor="t">
            <a:spAutoFit/>
          </a:bodyPr>
          <a:lstStyle/>
          <a:p>
            <a:pPr algn="l">
              <a:spcAft>
                <a:spcPts val="0"/>
              </a:spcAft>
            </a:pPr>
            <a:r>
              <a:rPr sz="1600" b="1" i="0">
                <a:solidFill>
                  <a:schemeClr val="tx2"/>
                </a:solidFill>
              </a:rPr>
              <a:t>Premio salarial frente a no terminar primaria (%, con IC en el cuaderno)</a:t>
            </a:r>
          </a:p>
        </p:txBody>
      </p:sp>
      <p:graphicFrame>
        <p:nvGraphicFramePr>
          <p:cNvPr id="7" name="Gráfica del premio por nivel"/>
          <p:cNvGraphicFramePr>
            <a:graphicFrameLocks noGrp="1"/>
          </p:cNvGraphicFramePr>
          <p:nvPr/>
        </p:nvGraphicFramePr>
        <p:xfrm>
          <a:off x="548640" y="1920240"/>
          <a:ext cx="6949440" cy="4114800"/>
        </p:xfrm>
        <a:graphic>
          <a:graphicData uri="http://schemas.openxmlformats.org/drawingml/2006/chart">
            <c:chart xmlns:c="http://schemas.openxmlformats.org/drawingml/2006/chart" r:id="rId3"/>
          </a:graphicData>
        </a:graphic>
      </p:graphicFrame>
      <p:sp>
        <p:nvSpPr>
          <p:cNvPr id="8" name="Rendimiento"/>
          <p:cNvSpPr/>
          <p:nvPr/>
        </p:nvSpPr>
        <p:spPr>
          <a:xfrm>
            <a:off x="7863840" y="1508760"/>
            <a:ext cx="3776472"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ndimiento texto"/>
          <p:cNvSpPr txBox="1"/>
          <p:nvPr/>
        </p:nvSpPr>
        <p:spPr>
          <a:xfrm>
            <a:off x="8046719" y="1600200"/>
            <a:ext cx="3410712" cy="1417320"/>
          </a:xfrm>
          <a:prstGeom prst="rect">
            <a:avLst/>
          </a:prstGeom>
          <a:noFill/>
        </p:spPr>
        <p:txBody>
          <a:bodyPr wrap="square" lIns="0" rIns="0" tIns="0" bIns="0" anchor="ctr">
            <a:spAutoFit/>
          </a:bodyPr>
          <a:lstStyle/>
          <a:p>
            <a:pPr algn="l">
              <a:spcAft>
                <a:spcPts val="0"/>
              </a:spcAft>
            </a:pPr>
            <a:r>
              <a:rPr sz="4400" b="1" i="0">
                <a:solidFill>
                  <a:schemeClr val="tx2"/>
                </a:solidFill>
              </a:rPr>
              <a:t>+5.1 %</a:t>
            </a:r>
          </a:p>
          <a:p>
            <a:r>
              <a:rPr sz="1400" b="0" i="0">
                <a:solidFill>
                  <a:schemeClr val="tx1"/>
                </a:solidFill>
              </a:rPr>
              <a:t>por año de escolaridad (IC 95 %: 5.0 a 5.3)</a:t>
            </a:r>
          </a:p>
        </p:txBody>
      </p:sp>
      <p:sp>
        <p:nvSpPr>
          <p:cNvPr id="10" name="Detalles del rendimiento"/>
          <p:cNvSpPr/>
          <p:nvPr/>
        </p:nvSpPr>
        <p:spPr>
          <a:xfrm>
            <a:off x="7863840" y="3246120"/>
            <a:ext cx="3776472" cy="27889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talles del rendimiento texto"/>
          <p:cNvSpPr txBox="1"/>
          <p:nvPr/>
        </p:nvSpPr>
        <p:spPr>
          <a:xfrm>
            <a:off x="8092440" y="3383280"/>
            <a:ext cx="3337560" cy="2514600"/>
          </a:xfrm>
          <a:prstGeom prst="rect">
            <a:avLst/>
          </a:prstGeom>
          <a:noFill/>
        </p:spPr>
        <p:txBody>
          <a:bodyPr wrap="square" lIns="0" rIns="0" tIns="0" bIns="0" anchor="ctr">
            <a:spAutoFit/>
          </a:bodyPr>
          <a:lstStyle/>
          <a:p>
            <a:pPr algn="l" marL="256032" indent="-256032">
              <a:spcAft>
                <a:spcPts val="1000"/>
              </a:spcAft>
              <a:buChar char="•"/>
            </a:pPr>
            <a:r>
              <a:rPr sz="1600" b="0" i="0">
                <a:solidFill>
                  <a:schemeClr val="tx1"/>
                </a:solidFill>
              </a:rPr>
              <a:t>Mujeres 5.9 % vs. hombres 4.6 % por año</a:t>
            </a:r>
          </a:p>
          <a:p>
            <a:pPr algn="l" marL="256032" indent="-256032">
              <a:spcAft>
                <a:spcPts val="1000"/>
              </a:spcAft>
              <a:buChar char="•"/>
            </a:pPr>
            <a:r>
              <a:rPr sz="1600" b="0" i="0">
                <a:solidFill>
                  <a:schemeClr val="tx1"/>
                </a:solidFill>
              </a:rPr>
              <a:t>Robusto: 4.9 %–5.7 % en 7 especificaciones</a:t>
            </a:r>
          </a:p>
          <a:p>
            <a:pPr algn="l" marL="256032" indent="-256032">
              <a:spcAft>
                <a:spcPts val="1000"/>
              </a:spcAft>
              <a:buChar char="•"/>
            </a:pPr>
            <a:r>
              <a:rPr sz="1600" b="0" i="0">
                <a:solidFill>
                  <a:schemeClr val="tx1"/>
                </a:solidFill>
              </a:rPr>
              <a:t>Spearman nacional ρ = 0.34</a:t>
            </a:r>
          </a:p>
        </p:txBody>
      </p:sp>
      <p:sp>
        <p:nvSpPr>
          <p:cNvPr id="12"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Estudiar rinde parecido en estados ricos y pobres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29</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F1 · ESCOLARIDAD E INGRESO  ·  LUIS ANDRE</a:t>
            </a:r>
          </a:p>
        </p:txBody>
      </p:sp>
      <p:pic>
        <p:nvPicPr>
          <p:cNvPr id="6" name="05_retorno_estados.png" descr="Gráfica de puntos con intervalos de confianza del rendimiento por año de escolaridad en cada entidad, coloreados por cuartil de ingreso estatal"/>
          <p:cNvPicPr>
            <a:picLocks noChangeAspect="1"/>
          </p:cNvPicPr>
          <p:nvPr/>
        </p:nvPicPr>
        <p:blipFill>
          <a:blip r:embed="rId3"/>
          <a:stretch>
            <a:fillRect/>
          </a:stretch>
        </p:blipFill>
        <p:spPr>
          <a:xfrm>
            <a:off x="548640" y="1393545"/>
            <a:ext cx="6675120" cy="4939588"/>
          </a:xfrm>
          <a:prstGeom prst="rect">
            <a:avLst/>
          </a:prstGeom>
        </p:spPr>
      </p:pic>
      <p:sp>
        <p:nvSpPr>
          <p:cNvPr id="7" name="Q4 menos Q1"/>
          <p:cNvSpPr/>
          <p:nvPr/>
        </p:nvSpPr>
        <p:spPr>
          <a:xfrm>
            <a:off x="7498079" y="1508760"/>
            <a:ext cx="414223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Q4 menos Q1 texto"/>
          <p:cNvSpPr txBox="1"/>
          <p:nvPr/>
        </p:nvSpPr>
        <p:spPr>
          <a:xfrm>
            <a:off x="7680959" y="1600200"/>
            <a:ext cx="3776472" cy="1234440"/>
          </a:xfrm>
          <a:prstGeom prst="rect">
            <a:avLst/>
          </a:prstGeom>
          <a:noFill/>
        </p:spPr>
        <p:txBody>
          <a:bodyPr wrap="square" lIns="0" rIns="0" tIns="0" bIns="0" anchor="ctr">
            <a:spAutoFit/>
          </a:bodyPr>
          <a:lstStyle/>
          <a:p>
            <a:pPr algn="l">
              <a:spcAft>
                <a:spcPts val="0"/>
              </a:spcAft>
            </a:pPr>
            <a:r>
              <a:rPr sz="4000" b="1" i="0">
                <a:solidFill>
                  <a:schemeClr val="tx2"/>
                </a:solidFill>
              </a:rPr>
              <a:t>≈ 0</a:t>
            </a:r>
          </a:p>
          <a:p>
            <a:r>
              <a:rPr sz="1400" b="0" i="0">
                <a:solidFill>
                  <a:schemeClr val="tx1"/>
                </a:solidFill>
              </a:rPr>
              <a:t>diferencia de rendimiento entre estados ricos (Q4) y pobres (Q1): +0.000 log-puntos, p = 0.91</a:t>
            </a:r>
          </a:p>
        </p:txBody>
      </p:sp>
      <p:sp>
        <p:nvSpPr>
          <p:cNvPr id="9" name="Rango"/>
          <p:cNvSpPr/>
          <p:nvPr/>
        </p:nvSpPr>
        <p:spPr>
          <a:xfrm>
            <a:off x="7498079" y="3063240"/>
            <a:ext cx="414223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ango texto"/>
          <p:cNvSpPr txBox="1"/>
          <p:nvPr/>
        </p:nvSpPr>
        <p:spPr>
          <a:xfrm>
            <a:off x="7680959" y="3154680"/>
            <a:ext cx="3776472" cy="1234440"/>
          </a:xfrm>
          <a:prstGeom prst="rect">
            <a:avLst/>
          </a:prstGeom>
          <a:noFill/>
        </p:spPr>
        <p:txBody>
          <a:bodyPr wrap="square" lIns="0" rIns="0" tIns="0" bIns="0" anchor="ctr">
            <a:spAutoFit/>
          </a:bodyPr>
          <a:lstStyle/>
          <a:p>
            <a:pPr algn="l">
              <a:spcAft>
                <a:spcPts val="0"/>
              </a:spcAft>
            </a:pPr>
            <a:r>
              <a:rPr sz="3600" b="1" i="0">
                <a:solidFill>
                  <a:schemeClr val="tx2"/>
                </a:solidFill>
              </a:rPr>
              <a:t>3.7–9.1 %</a:t>
            </a:r>
          </a:p>
          <a:p>
            <a:r>
              <a:rPr sz="1400" b="0" i="0">
                <a:solidFill>
                  <a:schemeClr val="tx1"/>
                </a:solidFill>
              </a:rPr>
              <a:t>rango entre estados: de Nayarit a Ciudad de México</a:t>
            </a:r>
          </a:p>
        </p:txBody>
      </p:sp>
      <p:sp>
        <p:nvSpPr>
          <p:cNvPr id="11" name="Por sexo"/>
          <p:cNvSpPr/>
          <p:nvPr/>
        </p:nvSpPr>
        <p:spPr>
          <a:xfrm>
            <a:off x="7498079" y="4617720"/>
            <a:ext cx="414223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or sexo texto"/>
          <p:cNvSpPr txBox="1"/>
          <p:nvPr/>
        </p:nvSpPr>
        <p:spPr>
          <a:xfrm>
            <a:off x="7680959" y="4709159"/>
            <a:ext cx="3776472" cy="1234440"/>
          </a:xfrm>
          <a:prstGeom prst="rect">
            <a:avLst/>
          </a:prstGeom>
          <a:noFill/>
        </p:spPr>
        <p:txBody>
          <a:bodyPr wrap="square" lIns="0" rIns="0" tIns="0" bIns="0" anchor="ctr">
            <a:spAutoFit/>
          </a:bodyPr>
          <a:lstStyle/>
          <a:p>
            <a:pPr algn="l">
              <a:spcAft>
                <a:spcPts val="0"/>
              </a:spcAft>
            </a:pPr>
            <a:r>
              <a:rPr sz="3600" b="1" i="0">
                <a:solidFill>
                  <a:schemeClr val="tx2"/>
                </a:solidFill>
              </a:rPr>
              <a:t>5.9 vs. 4.6 %</a:t>
            </a:r>
          </a:p>
          <a:p>
            <a:r>
              <a:rPr sz="1400" b="0" i="0">
                <a:solidFill>
                  <a:schemeClr val="tx1"/>
                </a:solidFill>
              </a:rPr>
              <a:t>rendimiento por año de mujeres vs. hombres</a:t>
            </a:r>
          </a:p>
        </p:txBody>
      </p:sp>
      <p:sp>
        <p:nvSpPr>
          <p:cNvPr id="13"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Un ranking defendible distingue solo los extremos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30</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F1 · ESCOLARIDAD E INGRESO  ·  LUIS ANDRE</a:t>
            </a:r>
          </a:p>
        </p:txBody>
      </p:sp>
      <p:pic>
        <p:nvPicPr>
          <p:cNvPr id="6" name="06_spearman_estados.png" descr="Gráfica de puntos con intervalos de confianza del Spearman por entidad y su lugar en el ranking con intervalo"/>
          <p:cNvPicPr>
            <a:picLocks noChangeAspect="1"/>
          </p:cNvPicPr>
          <p:nvPr/>
        </p:nvPicPr>
        <p:blipFill>
          <a:blip r:embed="rId3"/>
          <a:stretch>
            <a:fillRect/>
          </a:stretch>
        </p:blipFill>
        <p:spPr>
          <a:xfrm>
            <a:off x="656143" y="1371600"/>
            <a:ext cx="6734432" cy="4983480"/>
          </a:xfrm>
          <a:prstGeom prst="rect">
            <a:avLst/>
          </a:prstGeom>
        </p:spPr>
      </p:pic>
      <p:sp>
        <p:nvSpPr>
          <p:cNvPr id="7" name="Nacional"/>
          <p:cNvSpPr/>
          <p:nvPr/>
        </p:nvSpPr>
        <p:spPr>
          <a:xfrm>
            <a:off x="7772400" y="1508760"/>
            <a:ext cx="386791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Nacional texto"/>
          <p:cNvSpPr txBox="1"/>
          <p:nvPr/>
        </p:nvSpPr>
        <p:spPr>
          <a:xfrm>
            <a:off x="7955279" y="1600200"/>
            <a:ext cx="3502152" cy="1234440"/>
          </a:xfrm>
          <a:prstGeom prst="rect">
            <a:avLst/>
          </a:prstGeom>
          <a:noFill/>
        </p:spPr>
        <p:txBody>
          <a:bodyPr wrap="square" lIns="0" rIns="0" tIns="0" bIns="0" anchor="ctr">
            <a:spAutoFit/>
          </a:bodyPr>
          <a:lstStyle/>
          <a:p>
            <a:pPr algn="l">
              <a:spcAft>
                <a:spcPts val="0"/>
              </a:spcAft>
            </a:pPr>
            <a:r>
              <a:rPr sz="4000" b="1" i="0">
                <a:solidFill>
                  <a:schemeClr val="tx2"/>
                </a:solidFill>
              </a:rPr>
              <a:t>0.34</a:t>
            </a:r>
          </a:p>
          <a:p>
            <a:r>
              <a:rPr sz="1400" b="0" i="0">
                <a:solidFill>
                  <a:schemeClr val="tx1"/>
                </a:solidFill>
              </a:rPr>
              <a:t>Spearman nacional: asociación positiva y moderada</a:t>
            </a:r>
          </a:p>
        </p:txBody>
      </p:sp>
      <p:sp>
        <p:nvSpPr>
          <p:cNvPr id="9" name="Extremos"/>
          <p:cNvSpPr/>
          <p:nvPr/>
        </p:nvSpPr>
        <p:spPr>
          <a:xfrm>
            <a:off x="7772400" y="3063240"/>
            <a:ext cx="386791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xtremos texto"/>
          <p:cNvSpPr txBox="1"/>
          <p:nvPr/>
        </p:nvSpPr>
        <p:spPr>
          <a:xfrm>
            <a:off x="7955279" y="3154680"/>
            <a:ext cx="3502152" cy="1234440"/>
          </a:xfrm>
          <a:prstGeom prst="rect">
            <a:avLst/>
          </a:prstGeom>
          <a:noFill/>
        </p:spPr>
        <p:txBody>
          <a:bodyPr wrap="square" lIns="0" rIns="0" tIns="0" bIns="0" anchor="ctr">
            <a:spAutoFit/>
          </a:bodyPr>
          <a:lstStyle/>
          <a:p>
            <a:pPr algn="l">
              <a:spcAft>
                <a:spcPts val="0"/>
              </a:spcAft>
            </a:pPr>
            <a:r>
              <a:rPr sz="3400" b="1" i="0">
                <a:solidFill>
                  <a:schemeClr val="tx2"/>
                </a:solidFill>
              </a:rPr>
              <a:t>0.49 → 0.21</a:t>
            </a:r>
          </a:p>
          <a:p>
            <a:r>
              <a:rPr sz="1400" b="0" i="0">
                <a:solidFill>
                  <a:schemeClr val="tx1"/>
                </a:solidFill>
              </a:rPr>
              <a:t>de Ciudad de México (lugar 1–2) a Baja California Sur (23–32)</a:t>
            </a:r>
          </a:p>
        </p:txBody>
      </p:sp>
      <p:sp>
        <p:nvSpPr>
          <p:cNvPr id="11" name="Interpretación del ranking"/>
          <p:cNvSpPr/>
          <p:nvPr/>
        </p:nvSpPr>
        <p:spPr>
          <a:xfrm>
            <a:off x="7772400" y="4617720"/>
            <a:ext cx="386791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terpretación del ranking texto"/>
          <p:cNvSpPr txBox="1"/>
          <p:nvPr/>
        </p:nvSpPr>
        <p:spPr>
          <a:xfrm>
            <a:off x="7955279" y="4709160"/>
            <a:ext cx="3520440" cy="1234440"/>
          </a:xfrm>
          <a:prstGeom prst="rect">
            <a:avLst/>
          </a:prstGeom>
          <a:noFill/>
        </p:spPr>
        <p:txBody>
          <a:bodyPr wrap="square" lIns="0" rIns="0" tIns="0" bIns="0" anchor="ctr">
            <a:spAutoFit/>
          </a:bodyPr>
          <a:lstStyle/>
          <a:p>
            <a:pPr algn="l">
              <a:spcAft>
                <a:spcPts val="0"/>
              </a:spcAft>
            </a:pPr>
            <a:r>
              <a:rPr sz="1500" b="1" i="0">
                <a:solidFill>
                  <a:schemeClr val="tx1"/>
                </a:solidFill>
              </a:rPr>
              <a:t>Los lugares centrales abarcan 15 o más posiciones: </a:t>
            </a:r>
            <a:r>
              <a:rPr sz="1500" b="0" i="0">
                <a:solidFill>
                  <a:schemeClr val="tx1"/>
                </a:solidFill>
              </a:rPr>
              <a:t>no son estadísticamente distinguibles.</a:t>
            </a:r>
          </a:p>
        </p:txBody>
      </p:sp>
      <p:sp>
        <p:nvSpPr>
          <p:cNvPr id="13"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Por hora la brecha es de 3.7 %; por mes, de 26.9 %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31</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F2 · BRECHA DE GÉNERO  ·  ANGEL YIREH</a:t>
            </a:r>
          </a:p>
        </p:txBody>
      </p:sp>
      <p:pic>
        <p:nvPicPr>
          <p:cNvPr id="6" name="09_brecha_por_nivel.png" descr="Dos paneles de barras con intervalos: brecha de género por hora y por mes, por nivel de instrucción y total"/>
          <p:cNvPicPr>
            <a:picLocks noChangeAspect="1"/>
          </p:cNvPicPr>
          <p:nvPr/>
        </p:nvPicPr>
        <p:blipFill>
          <a:blip r:embed="rId3"/>
          <a:stretch>
            <a:fillRect/>
          </a:stretch>
        </p:blipFill>
        <p:spPr>
          <a:xfrm>
            <a:off x="548640" y="1927891"/>
            <a:ext cx="7955279" cy="3230817"/>
          </a:xfrm>
          <a:prstGeom prst="rect">
            <a:avLst/>
          </a:prstGeom>
        </p:spPr>
      </p:pic>
      <p:sp>
        <p:nvSpPr>
          <p:cNvPr id="7" name="Definición de la brecha"/>
          <p:cNvSpPr txBox="1"/>
          <p:nvPr/>
        </p:nvSpPr>
        <p:spPr>
          <a:xfrm>
            <a:off x="548640" y="5715000"/>
            <a:ext cx="7955279" cy="548640"/>
          </a:xfrm>
          <a:prstGeom prst="rect">
            <a:avLst/>
          </a:prstGeom>
          <a:noFill/>
        </p:spPr>
        <p:txBody>
          <a:bodyPr wrap="square" lIns="0" rIns="0" tIns="0" bIns="0" anchor="t">
            <a:spAutoFit/>
          </a:bodyPr>
          <a:lstStyle/>
          <a:p>
            <a:pPr algn="l">
              <a:spcAft>
                <a:spcPts val="0"/>
              </a:spcAft>
            </a:pPr>
            <a:r>
              <a:rPr sz="1300" b="0" i="0">
                <a:solidFill>
                  <a:srgbClr val="5F6368"/>
                </a:solidFill>
              </a:rPr>
              <a:t>Brecha = 1 − (ingreso medio geométrico de las mujeres ÷ el de los hombres), con IC 95 %; misma escala en ambos paneles.</a:t>
            </a:r>
          </a:p>
        </p:txBody>
      </p:sp>
      <p:sp>
        <p:nvSpPr>
          <p:cNvPr id="8" name="Brecha por hora"/>
          <p:cNvSpPr/>
          <p:nvPr/>
        </p:nvSpPr>
        <p:spPr>
          <a:xfrm>
            <a:off x="8732520" y="150876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recha por hora texto"/>
          <p:cNvSpPr txBox="1"/>
          <p:nvPr/>
        </p:nvSpPr>
        <p:spPr>
          <a:xfrm>
            <a:off x="8915400" y="1600200"/>
            <a:ext cx="2542032" cy="1188720"/>
          </a:xfrm>
          <a:prstGeom prst="rect">
            <a:avLst/>
          </a:prstGeom>
          <a:noFill/>
        </p:spPr>
        <p:txBody>
          <a:bodyPr wrap="square" lIns="0" rIns="0" tIns="0" bIns="0" anchor="ctr">
            <a:spAutoFit/>
          </a:bodyPr>
          <a:lstStyle/>
          <a:p>
            <a:pPr algn="l">
              <a:spcAft>
                <a:spcPts val="0"/>
              </a:spcAft>
            </a:pPr>
            <a:r>
              <a:rPr sz="3600" b="1" i="0">
                <a:solidFill>
                  <a:schemeClr val="tx2"/>
                </a:solidFill>
              </a:rPr>
              <a:t>3.7 %</a:t>
            </a:r>
          </a:p>
          <a:p>
            <a:r>
              <a:rPr sz="1400" b="0" i="0">
                <a:solidFill>
                  <a:schemeClr val="tx1"/>
                </a:solidFill>
              </a:rPr>
              <a:t>por hora (IC 2.3–5.0)</a:t>
            </a:r>
          </a:p>
        </p:txBody>
      </p:sp>
      <p:sp>
        <p:nvSpPr>
          <p:cNvPr id="10" name="Brecha mensual"/>
          <p:cNvSpPr/>
          <p:nvPr/>
        </p:nvSpPr>
        <p:spPr>
          <a:xfrm>
            <a:off x="8732520" y="301752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recha mensual texto"/>
          <p:cNvSpPr txBox="1"/>
          <p:nvPr/>
        </p:nvSpPr>
        <p:spPr>
          <a:xfrm>
            <a:off x="8915400" y="3108960"/>
            <a:ext cx="2542032" cy="1188720"/>
          </a:xfrm>
          <a:prstGeom prst="rect">
            <a:avLst/>
          </a:prstGeom>
          <a:noFill/>
        </p:spPr>
        <p:txBody>
          <a:bodyPr wrap="square" lIns="0" rIns="0" tIns="0" bIns="0" anchor="ctr">
            <a:spAutoFit/>
          </a:bodyPr>
          <a:lstStyle/>
          <a:p>
            <a:pPr algn="l">
              <a:spcAft>
                <a:spcPts val="0"/>
              </a:spcAft>
            </a:pPr>
            <a:r>
              <a:rPr sz="3600" b="1" i="0">
                <a:solidFill>
                  <a:schemeClr val="tx2"/>
                </a:solidFill>
              </a:rPr>
              <a:t>26.9 %</a:t>
            </a:r>
          </a:p>
          <a:p>
            <a:r>
              <a:rPr sz="1400" b="0" i="0">
                <a:solidFill>
                  <a:schemeClr val="tx1"/>
                </a:solidFill>
              </a:rPr>
              <a:t>por mes</a:t>
            </a:r>
          </a:p>
        </p:txBody>
      </p:sp>
      <p:sp>
        <p:nvSpPr>
          <p:cNvPr id="12" name="Horas"/>
          <p:cNvSpPr/>
          <p:nvPr/>
        </p:nvSpPr>
        <p:spPr>
          <a:xfrm>
            <a:off x="8732520" y="452628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Horas texto"/>
          <p:cNvSpPr txBox="1"/>
          <p:nvPr/>
        </p:nvSpPr>
        <p:spPr>
          <a:xfrm>
            <a:off x="8915400" y="4617720"/>
            <a:ext cx="2542032" cy="1188720"/>
          </a:xfrm>
          <a:prstGeom prst="rect">
            <a:avLst/>
          </a:prstGeom>
          <a:noFill/>
        </p:spPr>
        <p:txBody>
          <a:bodyPr wrap="square" lIns="0" rIns="0" tIns="0" bIns="0" anchor="ctr">
            <a:spAutoFit/>
          </a:bodyPr>
          <a:lstStyle/>
          <a:p>
            <a:pPr algn="l">
              <a:spcAft>
                <a:spcPts val="0"/>
              </a:spcAft>
            </a:pPr>
            <a:r>
              <a:rPr sz="3600" b="1" i="0">
                <a:solidFill>
                  <a:schemeClr val="tx2"/>
                </a:solidFill>
              </a:rPr>
              <a:t>−24 %</a:t>
            </a:r>
          </a:p>
          <a:p>
            <a:r>
              <a:rPr sz="1400" b="0" i="0">
                <a:solidFill>
                  <a:schemeClr val="tx1"/>
                </a:solidFill>
              </a:rPr>
              <a:t>horas pagadas: 37.5 vs. 45.7 h por semana</a:t>
            </a:r>
          </a:p>
        </p:txBody>
      </p:sp>
      <p:sp>
        <p:nvSpPr>
          <p:cNvPr id="14"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Entre personas comparables, la brecha por hora ronda 8 %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32</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F2 · BRECHA DE GÉNERO  ·  ANGEL YIREH</a:t>
            </a:r>
          </a:p>
        </p:txBody>
      </p:sp>
      <p:pic>
        <p:nvPicPr>
          <p:cNvPr id="6" name="10_escalera_controles.png" descr="Gráfica de puntos con intervalos de la brecha por hora al agregar controles sucesivos"/>
          <p:cNvPicPr>
            <a:picLocks noChangeAspect="1"/>
          </p:cNvPicPr>
          <p:nvPr/>
        </p:nvPicPr>
        <p:blipFill>
          <a:blip r:embed="rId3"/>
          <a:stretch>
            <a:fillRect/>
          </a:stretch>
        </p:blipFill>
        <p:spPr>
          <a:xfrm>
            <a:off x="548640" y="1796994"/>
            <a:ext cx="7772400" cy="3446890"/>
          </a:xfrm>
          <a:prstGeom prst="rect">
            <a:avLst/>
          </a:prstGeom>
        </p:spPr>
      </p:pic>
      <p:sp>
        <p:nvSpPr>
          <p:cNvPr id="7" name="Lectura de la escalera"/>
          <p:cNvSpPr txBox="1"/>
          <p:nvPr/>
        </p:nvSpPr>
        <p:spPr>
          <a:xfrm>
            <a:off x="548640" y="5715000"/>
            <a:ext cx="7772400" cy="548640"/>
          </a:xfrm>
          <a:prstGeom prst="rect">
            <a:avLst/>
          </a:prstGeom>
          <a:noFill/>
        </p:spPr>
        <p:txBody>
          <a:bodyPr wrap="square" lIns="0" rIns="0" tIns="0" bIns="0" anchor="t">
            <a:spAutoFit/>
          </a:bodyPr>
          <a:lstStyle/>
          <a:p>
            <a:pPr algn="l">
              <a:spcAft>
                <a:spcPts val="0"/>
              </a:spcAft>
            </a:pPr>
            <a:r>
              <a:rPr sz="1300" b="0" i="0">
                <a:solidFill>
                  <a:srgbClr val="5F6368"/>
                </a:solidFill>
              </a:rPr>
              <a:t>Cada fila agrega controles al anterior; la última (horas) no se interpreta por el sesgo de división.</a:t>
            </a:r>
          </a:p>
        </p:txBody>
      </p:sp>
      <p:sp>
        <p:nvSpPr>
          <p:cNvPr id="8" name="Sin controles"/>
          <p:cNvSpPr/>
          <p:nvPr/>
        </p:nvSpPr>
        <p:spPr>
          <a:xfrm>
            <a:off x="8595360" y="150876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in controles texto"/>
          <p:cNvSpPr txBox="1"/>
          <p:nvPr/>
        </p:nvSpPr>
        <p:spPr>
          <a:xfrm>
            <a:off x="8778240" y="160020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3.7 %</a:t>
            </a:r>
          </a:p>
          <a:p>
            <a:r>
              <a:rPr sz="1400" b="0" i="0">
                <a:solidFill>
                  <a:schemeClr val="tx1"/>
                </a:solidFill>
              </a:rPr>
              <a:t>sin controles</a:t>
            </a:r>
          </a:p>
        </p:txBody>
      </p:sp>
      <p:sp>
        <p:nvSpPr>
          <p:cNvPr id="10" name="Ajustada"/>
          <p:cNvSpPr/>
          <p:nvPr/>
        </p:nvSpPr>
        <p:spPr>
          <a:xfrm>
            <a:off x="8595360" y="301752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justada texto"/>
          <p:cNvSpPr txBox="1"/>
          <p:nvPr/>
        </p:nvSpPr>
        <p:spPr>
          <a:xfrm>
            <a:off x="8778240" y="310896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8.2 %</a:t>
            </a:r>
          </a:p>
          <a:p>
            <a:r>
              <a:rPr sz="1400" b="0" i="0">
                <a:solidFill>
                  <a:schemeClr val="tx1"/>
                </a:solidFill>
              </a:rPr>
              <a:t>con escolaridad, edad, lugar, empleo y rama</a:t>
            </a:r>
          </a:p>
        </p:txBody>
      </p:sp>
      <p:sp>
        <p:nvSpPr>
          <p:cNvPr id="12" name="No explicada"/>
          <p:cNvSpPr/>
          <p:nvPr/>
        </p:nvSpPr>
        <p:spPr>
          <a:xfrm>
            <a:off x="8595360" y="452628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No explicada texto"/>
          <p:cNvSpPr txBox="1"/>
          <p:nvPr/>
        </p:nvSpPr>
        <p:spPr>
          <a:xfrm>
            <a:off x="8778240" y="4617720"/>
            <a:ext cx="2679192" cy="1188720"/>
          </a:xfrm>
          <a:prstGeom prst="rect">
            <a:avLst/>
          </a:prstGeom>
          <a:noFill/>
        </p:spPr>
        <p:txBody>
          <a:bodyPr wrap="square" lIns="0" rIns="0" tIns="0" bIns="0" anchor="ctr">
            <a:spAutoFit/>
          </a:bodyPr>
          <a:lstStyle/>
          <a:p>
            <a:pPr algn="l">
              <a:spcAft>
                <a:spcPts val="0"/>
              </a:spcAft>
            </a:pPr>
            <a:r>
              <a:rPr sz="3200" b="1" i="0">
                <a:solidFill>
                  <a:schemeClr val="tx2"/>
                </a:solidFill>
              </a:rPr>
              <a:t>≈ 7 pts</a:t>
            </a:r>
          </a:p>
          <a:p>
            <a:r>
              <a:rPr sz="1400" b="0" i="0">
                <a:solidFill>
                  <a:schemeClr val="tx1"/>
                </a:solidFill>
              </a:rPr>
              <a:t>parte no explicada (Oaxaca-Blinder)</a:t>
            </a:r>
          </a:p>
        </p:txBody>
      </p:sp>
      <p:sp>
        <p:nvSpPr>
          <p:cNvPr id="14"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Oaxaca–Blinder: separar lo explicado de lo no explicado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33</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F2 · BRECHA DE GÉNERO  ·  ANGEL YIREH</a:t>
            </a:r>
          </a:p>
        </p:txBody>
      </p:sp>
      <p:pic>
        <p:nvPicPr>
          <p:cNvPr id="6" name="D07_oaxaca_idea.png" descr="Diagrama de la idea de Oaxaca-Blinder: brecha total igual a parte explicada más parte no explicada, con los componentes de la parte explicada"/>
          <p:cNvPicPr>
            <a:picLocks noChangeAspect="1"/>
          </p:cNvPicPr>
          <p:nvPr/>
        </p:nvPicPr>
        <p:blipFill>
          <a:blip r:embed="rId3"/>
          <a:stretch>
            <a:fillRect/>
          </a:stretch>
        </p:blipFill>
        <p:spPr>
          <a:xfrm>
            <a:off x="548640" y="1464468"/>
            <a:ext cx="7955279" cy="3563302"/>
          </a:xfrm>
          <a:prstGeom prst="rect">
            <a:avLst/>
          </a:prstGeom>
        </p:spPr>
      </p:pic>
      <p:sp>
        <p:nvSpPr>
          <p:cNvPr id="7" name="Cómo leerla"/>
          <p:cNvSpPr/>
          <p:nvPr/>
        </p:nvSpPr>
        <p:spPr>
          <a:xfrm>
            <a:off x="8686800" y="1508760"/>
            <a:ext cx="2953512" cy="3520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ómo leerla texto"/>
          <p:cNvSpPr txBox="1"/>
          <p:nvPr/>
        </p:nvSpPr>
        <p:spPr>
          <a:xfrm>
            <a:off x="8887968" y="1618488"/>
            <a:ext cx="2551176" cy="3300984"/>
          </a:xfrm>
          <a:prstGeom prst="rect">
            <a:avLst/>
          </a:prstGeom>
          <a:noFill/>
        </p:spPr>
        <p:txBody>
          <a:bodyPr wrap="square" lIns="0" rIns="0" tIns="0" bIns="0" anchor="ctr">
            <a:spAutoFit/>
          </a:bodyPr>
          <a:lstStyle/>
          <a:p>
            <a:pPr algn="l">
              <a:spcAft>
                <a:spcPts val="800"/>
              </a:spcAft>
            </a:pPr>
            <a:r>
              <a:rPr sz="1700" b="1" i="0">
                <a:solidFill>
                  <a:schemeClr val="tx2"/>
                </a:solidFill>
              </a:rPr>
              <a:t>Cómo leerla</a:t>
            </a:r>
          </a:p>
          <a:p>
            <a:pPr algn="l">
              <a:spcAft>
                <a:spcPts val="800"/>
              </a:spcAft>
            </a:pPr>
            <a:r>
              <a:rPr sz="1400" b="1" i="0">
                <a:solidFill>
                  <a:schemeClr val="tx2"/>
                </a:solidFill>
              </a:rPr>
              <a:t>Explicada: </a:t>
            </a:r>
            <a:r>
              <a:rPr sz="1400" b="0" i="0">
                <a:solidFill>
                  <a:schemeClr val="tx1"/>
                </a:solidFill>
              </a:rPr>
              <a:t>difieren las características (escolaridad, edad, lugar, empleo, rama).</a:t>
            </a:r>
          </a:p>
          <a:p>
            <a:pPr algn="l">
              <a:spcAft>
                <a:spcPts val="800"/>
              </a:spcAft>
            </a:pPr>
            <a:r>
              <a:rPr sz="1400" b="1" i="0">
                <a:solidFill>
                  <a:schemeClr val="tx2"/>
                </a:solidFill>
              </a:rPr>
              <a:t>No explicada: </a:t>
            </a:r>
            <a:r>
              <a:rPr sz="1400" b="0" i="0">
                <a:solidFill>
                  <a:schemeClr val="tx1"/>
                </a:solidFill>
              </a:rPr>
              <a:t>a iguales características, distinto pago.</a:t>
            </a:r>
          </a:p>
        </p:txBody>
      </p:sp>
      <p:sp>
        <p:nvSpPr>
          <p:cNvPr id="9" name="Mensaje OB"/>
          <p:cNvSpPr/>
          <p:nvPr/>
        </p:nvSpPr>
        <p:spPr>
          <a:xfrm>
            <a:off x="548640" y="5212080"/>
            <a:ext cx="7955279" cy="10058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Mensaje OB texto"/>
          <p:cNvSpPr txBox="1"/>
          <p:nvPr/>
        </p:nvSpPr>
        <p:spPr>
          <a:xfrm>
            <a:off x="749808" y="5321808"/>
            <a:ext cx="7552944" cy="786384"/>
          </a:xfrm>
          <a:prstGeom prst="rect">
            <a:avLst/>
          </a:prstGeom>
          <a:noFill/>
        </p:spPr>
        <p:txBody>
          <a:bodyPr wrap="square" lIns="0" rIns="0" tIns="0" bIns="0" anchor="ctr">
            <a:spAutoFit/>
          </a:bodyPr>
          <a:lstStyle/>
          <a:p>
            <a:pPr algn="l">
              <a:spcAft>
                <a:spcPts val="800"/>
              </a:spcAft>
            </a:pPr>
            <a:r>
              <a:rPr sz="1500" b="0" i="0">
                <a:solidFill>
                  <a:schemeClr val="tx1"/>
                </a:solidFill>
              </a:rPr>
              <a:t>A iguales características, las mujeres reciben </a:t>
            </a:r>
            <a:r>
              <a:rPr sz="1500" b="1" i="0">
                <a:solidFill>
                  <a:schemeClr val="tx2"/>
                </a:solidFill>
              </a:rPr>
              <a:t>6.9 puntos logarítmicos (≈ 6.7 %) menos.</a:t>
            </a:r>
          </a:p>
        </p:txBody>
      </p:sp>
      <p:sp>
        <p:nvSpPr>
          <p:cNvPr id="11" name="Aviso OB"/>
          <p:cNvSpPr/>
          <p:nvPr/>
        </p:nvSpPr>
        <p:spPr>
          <a:xfrm>
            <a:off x="8686800" y="5212080"/>
            <a:ext cx="2953512" cy="1005840"/>
          </a:xfrm>
          <a:prstGeom prst="roundRect">
            <a:avLst>
              <a:gd name="adj" fmla="val 6000"/>
            </a:avLst>
          </a:prstGeom>
          <a:solidFill>
            <a:srgbClr val="FF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viso OB texto"/>
          <p:cNvSpPr txBox="1"/>
          <p:nvPr/>
        </p:nvSpPr>
        <p:spPr>
          <a:xfrm>
            <a:off x="8887968" y="5321808"/>
            <a:ext cx="2551176" cy="786384"/>
          </a:xfrm>
          <a:prstGeom prst="rect">
            <a:avLst/>
          </a:prstGeom>
          <a:noFill/>
        </p:spPr>
        <p:txBody>
          <a:bodyPr wrap="square" lIns="0" rIns="0" tIns="0" bIns="0" anchor="ctr">
            <a:spAutoFit/>
          </a:bodyPr>
          <a:lstStyle/>
          <a:p>
            <a:pPr algn="l">
              <a:spcAft>
                <a:spcPts val="800"/>
              </a:spcAft>
            </a:pPr>
            <a:r>
              <a:rPr sz="1400" b="1" i="0">
                <a:solidFill>
                  <a:schemeClr val="tx1"/>
                </a:solidFill>
              </a:rPr>
              <a:t>No prueba discriminación.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Oaxaca-Blinder: las mujeres tienen mejores características, pero un residuo desfavorable</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34</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F2 · BRECHA DE GÉNERO  ·  ANGEL YIREH</a:t>
            </a:r>
          </a:p>
        </p:txBody>
      </p:sp>
      <p:pic>
        <p:nvPicPr>
          <p:cNvPr id="6" name="11_oaxaca_blinder.png" descr="Barras con intervalos de la descomposición de Oaxaca-Blinder: brecha total, parte explicada por componentes y parte no explicada"/>
          <p:cNvPicPr>
            <a:picLocks noChangeAspect="1"/>
          </p:cNvPicPr>
          <p:nvPr/>
        </p:nvPicPr>
        <p:blipFill>
          <a:blip r:embed="rId3"/>
          <a:stretch>
            <a:fillRect/>
          </a:stretch>
        </p:blipFill>
        <p:spPr>
          <a:xfrm>
            <a:off x="548640" y="2029073"/>
            <a:ext cx="7772400" cy="3531373"/>
          </a:xfrm>
          <a:prstGeom prst="rect">
            <a:avLst/>
          </a:prstGeom>
        </p:spPr>
      </p:pic>
      <p:sp>
        <p:nvSpPr>
          <p:cNvPr id="7" name="Lectura de Oaxaca"/>
          <p:cNvSpPr/>
          <p:nvPr/>
        </p:nvSpPr>
        <p:spPr>
          <a:xfrm>
            <a:off x="8503920" y="1508760"/>
            <a:ext cx="3136392" cy="4572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ectura de Oaxaca texto"/>
          <p:cNvSpPr txBox="1"/>
          <p:nvPr/>
        </p:nvSpPr>
        <p:spPr>
          <a:xfrm>
            <a:off x="8686800" y="1645920"/>
            <a:ext cx="2770632" cy="4297680"/>
          </a:xfrm>
          <a:prstGeom prst="rect">
            <a:avLst/>
          </a:prstGeom>
          <a:noFill/>
        </p:spPr>
        <p:txBody>
          <a:bodyPr wrap="square" lIns="0" rIns="0" tIns="0" bIns="0" anchor="ctr">
            <a:spAutoFit/>
          </a:bodyPr>
          <a:lstStyle/>
          <a:p>
            <a:pPr algn="l">
              <a:spcAft>
                <a:spcPts val="1200"/>
              </a:spcAft>
            </a:pPr>
            <a:r>
              <a:rPr sz="1500" b="1" i="0">
                <a:solidFill>
                  <a:schemeClr val="tx1"/>
                </a:solidFill>
              </a:rPr>
              <a:t>Explicada: </a:t>
            </a:r>
            <a:r>
              <a:rPr sz="1500" b="0" i="0">
                <a:solidFill>
                  <a:schemeClr val="tx1"/>
                </a:solidFill>
              </a:rPr>
              <a:t>negativa; la mayor escolaridad de las mujeres favorecería su ingreso.</a:t>
            </a:r>
          </a:p>
          <a:p>
            <a:pPr algn="l">
              <a:spcAft>
                <a:spcPts val="1200"/>
              </a:spcAft>
            </a:pPr>
            <a:r>
              <a:rPr sz="1500" b="1" i="0">
                <a:solidFill>
                  <a:schemeClr val="tx1"/>
                </a:solidFill>
              </a:rPr>
              <a:t>No explicada: </a:t>
            </a:r>
            <a:r>
              <a:rPr sz="1500" b="0" i="0">
                <a:solidFill>
                  <a:schemeClr val="tx1"/>
                </a:solidFill>
              </a:rPr>
              <a:t>≈ 7 puntos; no prueba discriminación.</a:t>
            </a:r>
          </a:p>
          <a:p>
            <a:pPr algn="l">
              <a:spcAft>
                <a:spcPts val="1200"/>
              </a:spcAft>
            </a:pPr>
            <a:r>
              <a:rPr sz="1500" b="0" i="0">
                <a:solidFill>
                  <a:schemeClr val="tx1"/>
                </a:solidFill>
              </a:rPr>
              <a:t>Con horas </a:t>
            </a:r>
            <a:r>
              <a:rPr sz="1500" b="0" i="0">
                <a:solidFill>
                  <a:schemeClr val="tx1"/>
                </a:solidFill>
              </a:rPr>
              <a:t>el residuo sube a 14 puntos por el sesgo de división.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brecha se concentra en la parte baja de la distribución</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35</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F2 · BRECHA DE GÉNERO  ·  ANGEL YIREH</a:t>
            </a:r>
          </a:p>
        </p:txBody>
      </p:sp>
      <p:pic>
        <p:nvPicPr>
          <p:cNvPr id="6" name="12_brecha_cuantiles.png" descr="Gráfica de líneas con intervalo de la brecha de género en los percentiles 10 a 90 del ingreso por hora"/>
          <p:cNvPicPr>
            <a:picLocks noChangeAspect="1"/>
          </p:cNvPicPr>
          <p:nvPr/>
        </p:nvPicPr>
        <p:blipFill>
          <a:blip r:embed="rId3"/>
          <a:stretch>
            <a:fillRect/>
          </a:stretch>
        </p:blipFill>
        <p:spPr>
          <a:xfrm>
            <a:off x="548640" y="1903730"/>
            <a:ext cx="7772400" cy="3324860"/>
          </a:xfrm>
          <a:prstGeom prst="rect">
            <a:avLst/>
          </a:prstGeom>
        </p:spPr>
      </p:pic>
      <p:sp>
        <p:nvSpPr>
          <p:cNvPr id="7" name="Abajo"/>
          <p:cNvSpPr/>
          <p:nvPr/>
        </p:nvSpPr>
        <p:spPr>
          <a:xfrm>
            <a:off x="8595360" y="150876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Abajo texto"/>
          <p:cNvSpPr txBox="1"/>
          <p:nvPr/>
        </p:nvSpPr>
        <p:spPr>
          <a:xfrm>
            <a:off x="8778240" y="160020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8–10 %</a:t>
            </a:r>
          </a:p>
          <a:p>
            <a:r>
              <a:rPr sz="1400" b="0" i="0">
                <a:solidFill>
                  <a:schemeClr val="tx1"/>
                </a:solidFill>
              </a:rPr>
              <a:t>en el 10 %–25 % que menos gana</a:t>
            </a:r>
          </a:p>
        </p:txBody>
      </p:sp>
      <p:sp>
        <p:nvSpPr>
          <p:cNvPr id="9" name="Mediana"/>
          <p:cNvSpPr/>
          <p:nvPr/>
        </p:nvSpPr>
        <p:spPr>
          <a:xfrm>
            <a:off x="8595360" y="301752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Mediana texto"/>
          <p:cNvSpPr txBox="1"/>
          <p:nvPr/>
        </p:nvSpPr>
        <p:spPr>
          <a:xfrm>
            <a:off x="8778240" y="310896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2.1 %</a:t>
            </a:r>
          </a:p>
          <a:p>
            <a:r>
              <a:rPr sz="1400" b="0" i="0">
                <a:solidFill>
                  <a:schemeClr val="tx1"/>
                </a:solidFill>
              </a:rPr>
              <a:t>en la mediana (no significativa)</a:t>
            </a:r>
          </a:p>
        </p:txBody>
      </p:sp>
      <p:sp>
        <p:nvSpPr>
          <p:cNvPr id="11" name="Arriba"/>
          <p:cNvSpPr/>
          <p:nvPr/>
        </p:nvSpPr>
        <p:spPr>
          <a:xfrm>
            <a:off x="8595360" y="452628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rriba texto"/>
          <p:cNvSpPr txBox="1"/>
          <p:nvPr/>
        </p:nvSpPr>
        <p:spPr>
          <a:xfrm>
            <a:off x="8778240" y="461772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 0</a:t>
            </a:r>
          </a:p>
          <a:p>
            <a:r>
              <a:rPr sz="1400" b="0" i="0">
                <a:solidFill>
                  <a:schemeClr val="tx1"/>
                </a:solidFill>
              </a:rPr>
              <a:t>en el 25 % que más gana</a:t>
            </a:r>
          </a:p>
        </p:txBody>
      </p:sp>
      <p:sp>
        <p:nvSpPr>
          <p:cNvPr id="13"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brecha por hora varía por grupo: es mayor en el empleo informal</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36</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F2 · BRECHA DE GÉNERO  ·  ANGEL YIREH</a:t>
            </a:r>
          </a:p>
        </p:txBody>
      </p:sp>
      <p:pic>
        <p:nvPicPr>
          <p:cNvPr id="6" name="17_brecha_subgrupos.png" descr="Gráfica de puntos con intervalos de la brecha por hora en subgrupos de informalidad, posición, región, tamaño de localidad y edad"/>
          <p:cNvPicPr>
            <a:picLocks noChangeAspect="1"/>
          </p:cNvPicPr>
          <p:nvPr/>
        </p:nvPicPr>
        <p:blipFill>
          <a:blip r:embed="rId3"/>
          <a:stretch>
            <a:fillRect/>
          </a:stretch>
        </p:blipFill>
        <p:spPr>
          <a:xfrm>
            <a:off x="548640" y="1690764"/>
            <a:ext cx="7040880" cy="4299430"/>
          </a:xfrm>
          <a:prstGeom prst="rect">
            <a:avLst/>
          </a:prstGeom>
        </p:spPr>
      </p:pic>
      <p:sp>
        <p:nvSpPr>
          <p:cNvPr id="7" name="Informalidad"/>
          <p:cNvSpPr/>
          <p:nvPr/>
        </p:nvSpPr>
        <p:spPr>
          <a:xfrm>
            <a:off x="7863840" y="150876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nformalidad texto"/>
          <p:cNvSpPr txBox="1"/>
          <p:nvPr/>
        </p:nvSpPr>
        <p:spPr>
          <a:xfrm>
            <a:off x="8046719" y="1600200"/>
            <a:ext cx="3410712" cy="1188720"/>
          </a:xfrm>
          <a:prstGeom prst="rect">
            <a:avLst/>
          </a:prstGeom>
          <a:noFill/>
        </p:spPr>
        <p:txBody>
          <a:bodyPr wrap="square" lIns="0" rIns="0" tIns="0" bIns="0" anchor="ctr">
            <a:spAutoFit/>
          </a:bodyPr>
          <a:lstStyle/>
          <a:p>
            <a:pPr algn="l">
              <a:spcAft>
                <a:spcPts val="0"/>
              </a:spcAft>
            </a:pPr>
            <a:r>
              <a:rPr sz="3000" b="1" i="0">
                <a:solidFill>
                  <a:schemeClr val="tx2"/>
                </a:solidFill>
              </a:rPr>
              <a:t>4.3 % vs 1.2 %</a:t>
            </a:r>
          </a:p>
          <a:p>
            <a:r>
              <a:rPr sz="1300" b="0" i="0">
                <a:solidFill>
                  <a:schemeClr val="tx1"/>
                </a:solidFill>
              </a:rPr>
              <a:t>informales (significativa) vs. formales (no significativa)</a:t>
            </a:r>
          </a:p>
        </p:txBody>
      </p:sp>
      <p:sp>
        <p:nvSpPr>
          <p:cNvPr id="9" name="Región"/>
          <p:cNvSpPr/>
          <p:nvPr/>
        </p:nvSpPr>
        <p:spPr>
          <a:xfrm>
            <a:off x="7863840" y="301752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gión texto"/>
          <p:cNvSpPr txBox="1"/>
          <p:nvPr/>
        </p:nvSpPr>
        <p:spPr>
          <a:xfrm>
            <a:off x="8046719" y="3108960"/>
            <a:ext cx="3410712" cy="1188720"/>
          </a:xfrm>
          <a:prstGeom prst="rect">
            <a:avLst/>
          </a:prstGeom>
          <a:noFill/>
        </p:spPr>
        <p:txBody>
          <a:bodyPr wrap="square" lIns="0" rIns="0" tIns="0" bIns="0" anchor="ctr">
            <a:spAutoFit/>
          </a:bodyPr>
          <a:lstStyle/>
          <a:p>
            <a:pPr algn="l">
              <a:spcAft>
                <a:spcPts val="0"/>
              </a:spcAft>
            </a:pPr>
            <a:r>
              <a:rPr sz="3000" b="1" i="0">
                <a:solidFill>
                  <a:schemeClr val="tx2"/>
                </a:solidFill>
              </a:rPr>
              <a:t>1.1 → 5.9 %</a:t>
            </a:r>
          </a:p>
          <a:p>
            <a:r>
              <a:rPr sz="1300" b="0" i="0">
                <a:solidFill>
                  <a:schemeClr val="tx1"/>
                </a:solidFill>
              </a:rPr>
              <a:t>del Sur (no significativa) al Centro-Norte</a:t>
            </a:r>
          </a:p>
        </p:txBody>
      </p:sp>
      <p:sp>
        <p:nvSpPr>
          <p:cNvPr id="11" name="Edad"/>
          <p:cNvSpPr/>
          <p:nvPr/>
        </p:nvSpPr>
        <p:spPr>
          <a:xfrm>
            <a:off x="7863840" y="452628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dad texto"/>
          <p:cNvSpPr txBox="1"/>
          <p:nvPr/>
        </p:nvSpPr>
        <p:spPr>
          <a:xfrm>
            <a:off x="8046719" y="4617720"/>
            <a:ext cx="3410712" cy="1188720"/>
          </a:xfrm>
          <a:prstGeom prst="rect">
            <a:avLst/>
          </a:prstGeom>
          <a:noFill/>
        </p:spPr>
        <p:txBody>
          <a:bodyPr wrap="square" lIns="0" rIns="0" tIns="0" bIns="0" anchor="ctr">
            <a:spAutoFit/>
          </a:bodyPr>
          <a:lstStyle/>
          <a:p>
            <a:pPr algn="l">
              <a:spcAft>
                <a:spcPts val="0"/>
              </a:spcAft>
            </a:pPr>
            <a:r>
              <a:rPr sz="3000" b="1" i="0">
                <a:solidFill>
                  <a:schemeClr val="tx2"/>
                </a:solidFill>
              </a:rPr>
              <a:t>25–64 años</a:t>
            </a:r>
          </a:p>
          <a:p>
            <a:r>
              <a:rPr sz="1300" b="0" i="0">
                <a:solidFill>
                  <a:schemeClr val="tx1"/>
                </a:solidFill>
              </a:rPr>
              <a:t>significativa en todos los grupos de edad (2.9 % a 6.0 %)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brecha por hora es positiva en todas las muestras, pero su tamaño va de 0.7 % a 4.6 %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37</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F2 · BRECHA DE GÉNERO  ·  ANGEL YIREH</a:t>
            </a:r>
          </a:p>
        </p:txBody>
      </p:sp>
      <p:pic>
        <p:nvPicPr>
          <p:cNvPr id="6" name="13_robustez_brecha.png" descr="Gráfica de puntos con intervalos de la brecha total bajo diez especificaciones"/>
          <p:cNvPicPr>
            <a:picLocks noChangeAspect="1"/>
          </p:cNvPicPr>
          <p:nvPr/>
        </p:nvPicPr>
        <p:blipFill>
          <a:blip r:embed="rId3"/>
          <a:stretch>
            <a:fillRect/>
          </a:stretch>
        </p:blipFill>
        <p:spPr>
          <a:xfrm>
            <a:off x="548640" y="2063400"/>
            <a:ext cx="7589520" cy="3462718"/>
          </a:xfrm>
          <a:prstGeom prst="rect">
            <a:avLst/>
          </a:prstGeom>
        </p:spPr>
      </p:pic>
      <p:sp>
        <p:nvSpPr>
          <p:cNvPr id="7" name="Lectura de la robustez"/>
          <p:cNvSpPr/>
          <p:nvPr/>
        </p:nvSpPr>
        <p:spPr>
          <a:xfrm>
            <a:off x="8321040" y="1508760"/>
            <a:ext cx="3319272" cy="4572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ectura de la robustez texto"/>
          <p:cNvSpPr txBox="1"/>
          <p:nvPr/>
        </p:nvSpPr>
        <p:spPr>
          <a:xfrm>
            <a:off x="8503920" y="1645920"/>
            <a:ext cx="2953512" cy="4297680"/>
          </a:xfrm>
          <a:prstGeom prst="rect">
            <a:avLst/>
          </a:prstGeom>
          <a:noFill/>
        </p:spPr>
        <p:txBody>
          <a:bodyPr wrap="square" lIns="0" rIns="0" tIns="0" bIns="0" anchor="ctr">
            <a:spAutoFit/>
          </a:bodyPr>
          <a:lstStyle/>
          <a:p>
            <a:pPr algn="l">
              <a:spcAft>
                <a:spcPts val="1200"/>
              </a:spcAft>
            </a:pPr>
            <a:r>
              <a:rPr sz="1500" b="1" i="0">
                <a:solidFill>
                  <a:schemeClr val="tx1"/>
                </a:solidFill>
              </a:rPr>
              <a:t>S3 sesga hacia cero: </a:t>
            </a:r>
            <a:r>
              <a:rPr sz="1500" b="0" i="0">
                <a:solidFill>
                  <a:schemeClr val="tx1"/>
                </a:solidFill>
              </a:rPr>
              <a:t>imputar el rango asigna el mismo ingreso a hombres y mujeres.</a:t>
            </a:r>
          </a:p>
          <a:p>
            <a:pPr algn="l">
              <a:spcAft>
                <a:spcPts val="1200"/>
              </a:spcAft>
            </a:pPr>
            <a:r>
              <a:rPr sz="1500" b="0" i="0">
                <a:solidFill>
                  <a:schemeClr val="tx1"/>
                </a:solidFill>
              </a:rPr>
              <a:t>S4 (IPW) la sube a </a:t>
            </a:r>
            <a:r>
              <a:rPr sz="1500" b="1" i="0">
                <a:solidFill>
                  <a:schemeClr val="tx1"/>
                </a:solidFill>
              </a:rPr>
              <a:t>4.5 %</a:t>
            </a:r>
            <a:r>
              <a:rPr sz="1500" b="0" i="0">
                <a:solidFill>
                  <a:schemeClr val="tx1"/>
                </a:solidFill>
              </a:rPr>
              <a:t>.</a:t>
            </a:r>
          </a:p>
          <a:p>
            <a:pPr algn="l">
              <a:spcAft>
                <a:spcPts val="1200"/>
              </a:spcAft>
            </a:pPr>
            <a:r>
              <a:rPr sz="1500" b="1" i="0">
                <a:solidFill>
                  <a:schemeClr val="tx1"/>
                </a:solidFill>
              </a:rPr>
              <a:t>Ajustada sin horas: </a:t>
            </a:r>
            <a:r>
              <a:rPr sz="1500" b="0" i="0">
                <a:solidFill>
                  <a:schemeClr val="tx1"/>
                </a:solidFill>
              </a:rPr>
              <a:t>8.2 %</a:t>
            </a:r>
            <a:r>
              <a:rPr sz="1500" b="0" i="0">
                <a:solidFill>
                  <a:schemeClr val="tx1"/>
                </a:solidFill>
              </a:rPr>
              <a:t>. Con horas hay sesgo de división.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informalidad cae con la escolaridad: de 87 % a 38 %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38</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F3 · INFORMALIDAD, TABLERO Y DIAGNÓSTICO  ·  LUIS ANDRE</a:t>
            </a:r>
          </a:p>
        </p:txBody>
      </p:sp>
      <p:pic>
        <p:nvPicPr>
          <p:cNvPr id="6" name="14_mapa_informalidad.png" descr="Cartograma de mosaicos de México con la tasa de informalidad laboral de cada entidad en una escala de azules"/>
          <p:cNvPicPr>
            <a:picLocks noChangeAspect="1"/>
          </p:cNvPicPr>
          <p:nvPr/>
        </p:nvPicPr>
        <p:blipFill>
          <a:blip r:embed="rId3"/>
          <a:stretch>
            <a:fillRect/>
          </a:stretch>
        </p:blipFill>
        <p:spPr>
          <a:xfrm>
            <a:off x="548640" y="1780794"/>
            <a:ext cx="6949439" cy="3387851"/>
          </a:xfrm>
          <a:prstGeom prst="rect">
            <a:avLst/>
          </a:prstGeom>
        </p:spPr>
      </p:pic>
      <p:sp>
        <p:nvSpPr>
          <p:cNvPr id="7" name="Nacional"/>
          <p:cNvSpPr/>
          <p:nvPr/>
        </p:nvSpPr>
        <p:spPr>
          <a:xfrm>
            <a:off x="7772400" y="150876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Nacional texto"/>
          <p:cNvSpPr txBox="1"/>
          <p:nvPr/>
        </p:nvSpPr>
        <p:spPr>
          <a:xfrm>
            <a:off x="7955279" y="1600200"/>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55.0 %</a:t>
            </a:r>
          </a:p>
          <a:p>
            <a:r>
              <a:rPr sz="1300" b="0" i="0">
                <a:solidFill>
                  <a:schemeClr val="tx1"/>
                </a:solidFill>
              </a:rPr>
              <a:t>informalidad nacional (TIL1)</a:t>
            </a:r>
          </a:p>
        </p:txBody>
      </p:sp>
      <p:sp>
        <p:nvSpPr>
          <p:cNvPr id="9" name="Rango estatal"/>
          <p:cNvSpPr/>
          <p:nvPr/>
        </p:nvSpPr>
        <p:spPr>
          <a:xfrm>
            <a:off x="7772400" y="256032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ango estatal texto"/>
          <p:cNvSpPr txBox="1"/>
          <p:nvPr/>
        </p:nvSpPr>
        <p:spPr>
          <a:xfrm>
            <a:off x="7955279" y="2651760"/>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33 → 80 %</a:t>
            </a:r>
          </a:p>
          <a:p>
            <a:r>
              <a:rPr sz="1300" b="0" i="0">
                <a:solidFill>
                  <a:schemeClr val="tx1"/>
                </a:solidFill>
              </a:rPr>
              <a:t>de Coahuila a Oaxaca</a:t>
            </a:r>
          </a:p>
        </p:txBody>
      </p:sp>
      <p:sp>
        <p:nvSpPr>
          <p:cNvPr id="11" name="Por escolaridad"/>
          <p:cNvSpPr/>
          <p:nvPr/>
        </p:nvSpPr>
        <p:spPr>
          <a:xfrm>
            <a:off x="7772400" y="361188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or escolaridad texto"/>
          <p:cNvSpPr txBox="1"/>
          <p:nvPr/>
        </p:nvSpPr>
        <p:spPr>
          <a:xfrm>
            <a:off x="7955279" y="3703320"/>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87 → 38 %</a:t>
            </a:r>
          </a:p>
          <a:p>
            <a:r>
              <a:rPr sz="1300" b="0" i="0">
                <a:solidFill>
                  <a:schemeClr val="tx1"/>
                </a:solidFill>
              </a:rPr>
              <a:t>de primaria incompleta a media superior o más</a:t>
            </a:r>
          </a:p>
        </p:txBody>
      </p:sp>
      <p:sp>
        <p:nvSpPr>
          <p:cNvPr id="13" name="Efecto individual"/>
          <p:cNvSpPr/>
          <p:nvPr/>
        </p:nvSpPr>
        <p:spPr>
          <a:xfrm>
            <a:off x="7772400" y="466344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fecto individual texto"/>
          <p:cNvSpPr txBox="1"/>
          <p:nvPr/>
        </p:nvSpPr>
        <p:spPr>
          <a:xfrm>
            <a:off x="7955279" y="4754879"/>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-3.9 pp</a:t>
            </a:r>
          </a:p>
          <a:p>
            <a:r>
              <a:rPr sz="1300" b="0" i="0">
                <a:solidFill>
                  <a:schemeClr val="tx1"/>
                </a:solidFill>
              </a:rPr>
              <a:t>por cada año de escolaridad (individual)</a:t>
            </a:r>
          </a:p>
        </p:txBody>
      </p:sp>
      <p:sp>
        <p:nvSpPr>
          <p:cNvPr id="15" name="Lectura"/>
          <p:cNvSpPr txBox="1"/>
          <p:nvPr/>
        </p:nvSpPr>
        <p:spPr>
          <a:xfrm>
            <a:off x="548640" y="5577840"/>
            <a:ext cx="6949440" cy="731520"/>
          </a:xfrm>
          <a:prstGeom prst="rect">
            <a:avLst/>
          </a:prstGeom>
          <a:noFill/>
        </p:spPr>
        <p:txBody>
          <a:bodyPr wrap="square" lIns="0" rIns="0" tIns="0" bIns="0" anchor="t">
            <a:spAutoFit/>
          </a:bodyPr>
          <a:lstStyle/>
          <a:p>
            <a:pPr algn="l">
              <a:spcAft>
                <a:spcPts val="0"/>
              </a:spcAft>
            </a:pPr>
            <a:r>
              <a:rPr sz="1500" b="1" i="0">
                <a:solidFill>
                  <a:schemeClr val="tx2"/>
                </a:solidFill>
              </a:rPr>
              <a:t>Entre estados, Spearman = -0.86. </a:t>
            </a:r>
            <a:r>
              <a:rPr sz="1500" b="0" i="0">
                <a:solidFill>
                  <a:schemeClr val="tx1"/>
                </a:solidFill>
              </a:rPr>
              <a:t>TIL1 = ocupados en empleo informal ÷ ocupados de 15+ (definición del INEGI); las mujeres suman +6 puntos a igual escolaridad, edad y lugar.</a:t>
            </a:r>
          </a:p>
        </p:txBody>
      </p:sp>
      <p:sp>
        <p:nvSpPr>
          <p:cNvPr id="16"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Donde se estudia más hay menos informalidad (relación entre estados)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39</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F3 · INFORMALIDAD, TABLERO Y DIAGNÓSTICO  ·  LUIS ANDRE</a:t>
            </a:r>
          </a:p>
        </p:txBody>
      </p:sp>
      <p:pic>
        <p:nvPicPr>
          <p:cNvPr id="6" name="15_informalidad_vs_escolaridad.png" descr="Dispersión de la escolaridad promedio contra la tasa de informalidad de las 32 entidades con su recta de ajuste"/>
          <p:cNvPicPr>
            <a:picLocks noChangeAspect="1"/>
          </p:cNvPicPr>
          <p:nvPr/>
        </p:nvPicPr>
        <p:blipFill>
          <a:blip r:embed="rId3"/>
          <a:stretch>
            <a:fillRect/>
          </a:stretch>
        </p:blipFill>
        <p:spPr>
          <a:xfrm>
            <a:off x="548640" y="1779320"/>
            <a:ext cx="7589520" cy="4030878"/>
          </a:xfrm>
          <a:prstGeom prst="rect">
            <a:avLst/>
          </a:prstGeom>
        </p:spPr>
      </p:pic>
      <p:sp>
        <p:nvSpPr>
          <p:cNvPr id="7" name="Spearman estatal"/>
          <p:cNvSpPr/>
          <p:nvPr/>
        </p:nvSpPr>
        <p:spPr>
          <a:xfrm>
            <a:off x="8321040" y="1508760"/>
            <a:ext cx="33192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pearman estatal texto"/>
          <p:cNvSpPr txBox="1"/>
          <p:nvPr/>
        </p:nvSpPr>
        <p:spPr>
          <a:xfrm>
            <a:off x="8503919" y="1600200"/>
            <a:ext cx="2953512" cy="1188720"/>
          </a:xfrm>
          <a:prstGeom prst="rect">
            <a:avLst/>
          </a:prstGeom>
          <a:noFill/>
        </p:spPr>
        <p:txBody>
          <a:bodyPr wrap="square" lIns="0" rIns="0" tIns="0" bIns="0" anchor="ctr">
            <a:spAutoFit/>
          </a:bodyPr>
          <a:lstStyle/>
          <a:p>
            <a:pPr algn="l">
              <a:spcAft>
                <a:spcPts val="0"/>
              </a:spcAft>
            </a:pPr>
            <a:r>
              <a:rPr sz="4000" b="1" i="0">
                <a:solidFill>
                  <a:schemeClr val="tx2"/>
                </a:solidFill>
              </a:rPr>
              <a:t>-0.86</a:t>
            </a:r>
          </a:p>
          <a:p>
            <a:r>
              <a:rPr sz="1400" b="0" i="0">
                <a:solidFill>
                  <a:schemeClr val="tx1"/>
                </a:solidFill>
              </a:rPr>
              <a:t>Spearman entre estados</a:t>
            </a:r>
          </a:p>
        </p:txBody>
      </p:sp>
      <p:sp>
        <p:nvSpPr>
          <p:cNvPr id="9" name="Pendiente"/>
          <p:cNvSpPr/>
          <p:nvPr/>
        </p:nvSpPr>
        <p:spPr>
          <a:xfrm>
            <a:off x="8321040" y="3017520"/>
            <a:ext cx="33192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endiente texto"/>
          <p:cNvSpPr txBox="1"/>
          <p:nvPr/>
        </p:nvSpPr>
        <p:spPr>
          <a:xfrm>
            <a:off x="8503919" y="3108960"/>
            <a:ext cx="2953512" cy="1188720"/>
          </a:xfrm>
          <a:prstGeom prst="rect">
            <a:avLst/>
          </a:prstGeom>
          <a:noFill/>
        </p:spPr>
        <p:txBody>
          <a:bodyPr wrap="square" lIns="0" rIns="0" tIns="0" bIns="0" anchor="ctr">
            <a:spAutoFit/>
          </a:bodyPr>
          <a:lstStyle/>
          <a:p>
            <a:pPr algn="l">
              <a:spcAft>
                <a:spcPts val="0"/>
              </a:spcAft>
            </a:pPr>
            <a:r>
              <a:rPr sz="4000" b="1" i="0">
                <a:solidFill>
                  <a:schemeClr val="tx2"/>
                </a:solidFill>
              </a:rPr>
              <a:t>-14.4</a:t>
            </a:r>
          </a:p>
          <a:p>
            <a:r>
              <a:rPr sz="1300" b="0" i="0">
                <a:solidFill>
                  <a:schemeClr val="tx1"/>
                </a:solidFill>
              </a:rPr>
              <a:t>puntos porcentuales por año de escolaridad promedio</a:t>
            </a:r>
          </a:p>
        </p:txBody>
      </p:sp>
      <p:sp>
        <p:nvSpPr>
          <p:cNvPr id="11" name="Razón de momios"/>
          <p:cNvSpPr/>
          <p:nvPr/>
        </p:nvSpPr>
        <p:spPr>
          <a:xfrm>
            <a:off x="8321040" y="4526280"/>
            <a:ext cx="33192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azón de momios texto"/>
          <p:cNvSpPr txBox="1"/>
          <p:nvPr/>
        </p:nvSpPr>
        <p:spPr>
          <a:xfrm>
            <a:off x="8503919" y="4617720"/>
            <a:ext cx="2953512" cy="1188720"/>
          </a:xfrm>
          <a:prstGeom prst="rect">
            <a:avLst/>
          </a:prstGeom>
          <a:noFill/>
        </p:spPr>
        <p:txBody>
          <a:bodyPr wrap="square" lIns="0" rIns="0" tIns="0" bIns="0" anchor="ctr">
            <a:spAutoFit/>
          </a:bodyPr>
          <a:lstStyle/>
          <a:p>
            <a:pPr algn="l">
              <a:spcAft>
                <a:spcPts val="0"/>
              </a:spcAft>
            </a:pPr>
            <a:r>
              <a:rPr sz="4000" b="1" i="0">
                <a:solidFill>
                  <a:schemeClr val="tx2"/>
                </a:solidFill>
              </a:rPr>
              <a:t>0.82</a:t>
            </a:r>
          </a:p>
          <a:p>
            <a:r>
              <a:rPr sz="1300" b="0" i="0">
                <a:solidFill>
                  <a:schemeClr val="tx1"/>
                </a:solidFill>
              </a:rPr>
              <a:t>razón de momios individual por año de escolaridad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Tablero interactivo: la ficha de cada entidad</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40</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F3 · INFORMALIDAD, TABLERO Y DIAGNÓSTICO  ·  LUIS ANDRE</a:t>
            </a:r>
          </a:p>
        </p:txBody>
      </p:sp>
      <p:pic>
        <p:nvPicPr>
          <p:cNvPr id="6" name="tablero.jpg" descr="Captura del tablero interactivo con KPIs, mapa de mosaicos y ranking de las entidades"/>
          <p:cNvPicPr>
            <a:picLocks noChangeAspect="1"/>
          </p:cNvPicPr>
          <p:nvPr/>
        </p:nvPicPr>
        <p:blipFill>
          <a:blip r:embed="rId3"/>
          <a:stretch>
            <a:fillRect/>
          </a:stretch>
        </p:blipFill>
        <p:spPr>
          <a:xfrm>
            <a:off x="1209862" y="1463040"/>
            <a:ext cx="5444115" cy="4709160"/>
          </a:xfrm>
          <a:prstGeom prst="rect">
            <a:avLst/>
          </a:prstGeom>
        </p:spPr>
      </p:pic>
      <p:sp>
        <p:nvSpPr>
          <p:cNvPr id="7" name="Qué incluye el tablero"/>
          <p:cNvSpPr/>
          <p:nvPr/>
        </p:nvSpPr>
        <p:spPr>
          <a:xfrm>
            <a:off x="7772400" y="1508760"/>
            <a:ext cx="3867912" cy="4572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Qué incluye el tablero texto"/>
          <p:cNvSpPr txBox="1"/>
          <p:nvPr/>
        </p:nvSpPr>
        <p:spPr>
          <a:xfrm>
            <a:off x="8001000" y="1645920"/>
            <a:ext cx="3429000" cy="4297680"/>
          </a:xfrm>
          <a:prstGeom prst="rect">
            <a:avLst/>
          </a:prstGeom>
          <a:noFill/>
        </p:spPr>
        <p:txBody>
          <a:bodyPr wrap="square" lIns="0" rIns="0" tIns="0" bIns="0" anchor="ctr">
            <a:spAutoFit/>
          </a:bodyPr>
          <a:lstStyle/>
          <a:p>
            <a:pPr algn="l">
              <a:spcAft>
                <a:spcPts val="800"/>
              </a:spcAft>
            </a:pPr>
            <a:r>
              <a:rPr sz="1800" b="1" i="0">
                <a:solidFill>
                  <a:schemeClr val="tx2"/>
                </a:solidFill>
              </a:rPr>
              <a:t>Qué incluye</a:t>
            </a:r>
          </a:p>
          <a:p>
            <a:pPr algn="l">
              <a:spcAft>
                <a:spcPts val="800"/>
              </a:spcAft>
            </a:pPr>
            <a:r>
              <a:rPr sz="1500" b="0" i="0">
                <a:solidFill>
                  <a:schemeClr val="tx1"/>
                </a:solidFill>
              </a:rPr>
              <a:t>Selector de entidad e indicador</a:t>
            </a:r>
          </a:p>
          <a:p>
            <a:pPr algn="l">
              <a:spcAft>
                <a:spcPts val="800"/>
              </a:spcAft>
            </a:pPr>
            <a:r>
              <a:rPr sz="1500" b="0" i="0">
                <a:solidFill>
                  <a:schemeClr val="tx1"/>
                </a:solidFill>
              </a:rPr>
              <a:t>Mapa de mosaicos y ranking con IC</a:t>
            </a:r>
          </a:p>
          <a:p>
            <a:pPr algn="l">
              <a:spcAft>
                <a:spcPts val="800"/>
              </a:spcAft>
            </a:pPr>
            <a:r>
              <a:rPr sz="1500" b="0" i="0">
                <a:solidFill>
                  <a:schemeClr val="tx1"/>
                </a:solidFill>
              </a:rPr>
              <a:t>Dos dispersiones y brechas por nivel</a:t>
            </a:r>
          </a:p>
          <a:p>
            <a:pPr algn="l">
              <a:spcAft>
                <a:spcPts val="800"/>
              </a:spcAft>
            </a:pPr>
            <a:r>
              <a:rPr sz="1500" b="0" i="0">
                <a:solidFill>
                  <a:schemeClr val="tx1"/>
                </a:solidFill>
              </a:rPr>
              <a:t>Calidad del ingreso por entidad</a:t>
            </a:r>
          </a:p>
          <a:p>
            <a:pPr algn="l">
              <a:spcAft>
                <a:spcPts val="800"/>
              </a:spcAft>
            </a:pPr>
            <a:r>
              <a:rPr sz="1500" b="0" i="0">
                <a:solidFill>
                  <a:schemeClr val="tx1"/>
                </a:solidFill>
              </a:rPr>
              <a:t>Tabla accesible y documento JSON de la entidad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Diagnóstico del modelo: varianza no constante y colas pesadas, por eso errores robustos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41</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F3 · INFORMALIDAD, TABLERO Y DIAGNÓSTICO  ·  LUIS ANDRE</a:t>
            </a:r>
          </a:p>
        </p:txBody>
      </p:sp>
      <p:pic>
        <p:nvPicPr>
          <p:cNvPr id="6" name="16_diagnosticos_modelo.png" descr="Gráficas de residuos contra ajustados y de cuantiles contra cuantiles normales del modelo con todos los controles"/>
          <p:cNvPicPr>
            <a:picLocks noChangeAspect="1"/>
          </p:cNvPicPr>
          <p:nvPr/>
        </p:nvPicPr>
        <p:blipFill>
          <a:blip r:embed="rId3"/>
          <a:stretch>
            <a:fillRect/>
          </a:stretch>
        </p:blipFill>
        <p:spPr>
          <a:xfrm>
            <a:off x="548640" y="2116931"/>
            <a:ext cx="7772400" cy="2898457"/>
          </a:xfrm>
          <a:prstGeom prst="rect">
            <a:avLst/>
          </a:prstGeom>
        </p:spPr>
      </p:pic>
      <p:sp>
        <p:nvSpPr>
          <p:cNvPr id="7" name="VIF"/>
          <p:cNvSpPr/>
          <p:nvPr/>
        </p:nvSpPr>
        <p:spPr>
          <a:xfrm>
            <a:off x="8503920" y="1508760"/>
            <a:ext cx="3136392"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VIF texto"/>
          <p:cNvSpPr txBox="1"/>
          <p:nvPr/>
        </p:nvSpPr>
        <p:spPr>
          <a:xfrm>
            <a:off x="8686800" y="1600200"/>
            <a:ext cx="2770632" cy="1097280"/>
          </a:xfrm>
          <a:prstGeom prst="rect">
            <a:avLst/>
          </a:prstGeom>
          <a:noFill/>
        </p:spPr>
        <p:txBody>
          <a:bodyPr wrap="square" lIns="0" rIns="0" tIns="0" bIns="0" anchor="ctr">
            <a:spAutoFit/>
          </a:bodyPr>
          <a:lstStyle/>
          <a:p>
            <a:pPr algn="l">
              <a:spcAft>
                <a:spcPts val="0"/>
              </a:spcAft>
            </a:pPr>
            <a:r>
              <a:rPr sz="3600" b="1" i="0">
                <a:solidFill>
                  <a:schemeClr val="tx2"/>
                </a:solidFill>
              </a:rPr>
              <a:t>1.7</a:t>
            </a:r>
          </a:p>
          <a:p>
            <a:r>
              <a:rPr sz="1300" b="0" i="0">
                <a:solidFill>
                  <a:schemeClr val="tx1"/>
                </a:solidFill>
              </a:rPr>
              <a:t>VIF máximo: sin multicolinealidad</a:t>
            </a:r>
          </a:p>
        </p:txBody>
      </p:sp>
      <p:sp>
        <p:nvSpPr>
          <p:cNvPr id="9" name="Cook"/>
          <p:cNvSpPr/>
          <p:nvPr/>
        </p:nvSpPr>
        <p:spPr>
          <a:xfrm>
            <a:off x="8503920" y="2926080"/>
            <a:ext cx="3136392"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ook texto"/>
          <p:cNvSpPr txBox="1"/>
          <p:nvPr/>
        </p:nvSpPr>
        <p:spPr>
          <a:xfrm>
            <a:off x="8686800" y="3017520"/>
            <a:ext cx="2770632" cy="1097280"/>
          </a:xfrm>
          <a:prstGeom prst="rect">
            <a:avLst/>
          </a:prstGeom>
          <a:noFill/>
        </p:spPr>
        <p:txBody>
          <a:bodyPr wrap="square" lIns="0" rIns="0" tIns="0" bIns="0" anchor="ctr">
            <a:spAutoFit/>
          </a:bodyPr>
          <a:lstStyle/>
          <a:p>
            <a:pPr algn="l">
              <a:spcAft>
                <a:spcPts val="0"/>
              </a:spcAft>
            </a:pPr>
            <a:r>
              <a:rPr sz="3000" b="1" i="0">
                <a:solidFill>
                  <a:schemeClr val="tx2"/>
                </a:solidFill>
              </a:rPr>
              <a:t>0.0005</a:t>
            </a:r>
          </a:p>
          <a:p>
            <a:r>
              <a:rPr sz="1300" b="0" i="0">
                <a:solidFill>
                  <a:schemeClr val="tx1"/>
                </a:solidFill>
              </a:rPr>
              <a:t>distancia de Cook máxima: sin influyentes</a:t>
            </a:r>
          </a:p>
        </p:txBody>
      </p:sp>
      <p:sp>
        <p:nvSpPr>
          <p:cNvPr id="11" name="Curtosis"/>
          <p:cNvSpPr/>
          <p:nvPr/>
        </p:nvSpPr>
        <p:spPr>
          <a:xfrm>
            <a:off x="8503920" y="4343400"/>
            <a:ext cx="3136392"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urtosis texto"/>
          <p:cNvSpPr txBox="1"/>
          <p:nvPr/>
        </p:nvSpPr>
        <p:spPr>
          <a:xfrm>
            <a:off x="8686800" y="4434840"/>
            <a:ext cx="2770632" cy="1097280"/>
          </a:xfrm>
          <a:prstGeom prst="rect">
            <a:avLst/>
          </a:prstGeom>
          <a:noFill/>
        </p:spPr>
        <p:txBody>
          <a:bodyPr wrap="square" lIns="0" rIns="0" tIns="0" bIns="0" anchor="ctr">
            <a:spAutoFit/>
          </a:bodyPr>
          <a:lstStyle/>
          <a:p>
            <a:pPr algn="l">
              <a:spcAft>
                <a:spcPts val="0"/>
              </a:spcAft>
            </a:pPr>
            <a:r>
              <a:rPr sz="3600" b="1" i="0">
                <a:solidFill>
                  <a:schemeClr val="tx2"/>
                </a:solidFill>
              </a:rPr>
              <a:t>1.9</a:t>
            </a:r>
          </a:p>
          <a:p>
            <a:r>
              <a:rPr sz="1300" b="0" i="0">
                <a:solidFill>
                  <a:schemeClr val="tx1"/>
                </a:solidFill>
              </a:rPr>
              <a:t>curtosis en exceso de los residuos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Estudiar paga en todas partes; la brecha de género es de horas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42</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G · CIERRE  ·  JUAN EVELIO</a:t>
            </a:r>
          </a:p>
        </p:txBody>
      </p:sp>
      <p:sp>
        <p:nvSpPr>
          <p:cNvPr id="6" name="Qué encontramos"/>
          <p:cNvSpPr/>
          <p:nvPr/>
        </p:nvSpPr>
        <p:spPr>
          <a:xfrm>
            <a:off x="548640" y="1508760"/>
            <a:ext cx="5486400" cy="3657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Qué encontramos texto"/>
          <p:cNvSpPr txBox="1"/>
          <p:nvPr/>
        </p:nvSpPr>
        <p:spPr>
          <a:xfrm>
            <a:off x="777240" y="1627632"/>
            <a:ext cx="5029200" cy="3474720"/>
          </a:xfrm>
          <a:prstGeom prst="rect">
            <a:avLst/>
          </a:prstGeom>
          <a:noFill/>
        </p:spPr>
        <p:txBody>
          <a:bodyPr wrap="square" lIns="0" rIns="0" tIns="0" bIns="0" anchor="t">
            <a:spAutoFit/>
          </a:bodyPr>
          <a:lstStyle/>
          <a:p>
            <a:pPr algn="l">
              <a:spcAft>
                <a:spcPts val="1000"/>
              </a:spcAft>
            </a:pPr>
            <a:r>
              <a:rPr sz="2000" b="1" i="0">
                <a:solidFill>
                  <a:schemeClr val="tx2"/>
                </a:solidFill>
              </a:rPr>
              <a:t>Qué encontramos</a:t>
            </a:r>
          </a:p>
          <a:p>
            <a:pPr algn="l">
              <a:spcAft>
                <a:spcPts val="1000"/>
              </a:spcAft>
            </a:pPr>
            <a:r>
              <a:rPr sz="1800" b="0" i="0">
                <a:solidFill>
                  <a:schemeClr val="tx1"/>
                </a:solidFill>
              </a:rPr>
              <a:t>Estudiar rinde ≈ 5.1 % por año y la licenciatura casi duplica el ingreso</a:t>
            </a:r>
          </a:p>
          <a:p>
            <a:pPr algn="l">
              <a:spcAft>
                <a:spcPts val="1000"/>
              </a:spcAft>
            </a:pPr>
            <a:r>
              <a:rPr sz="1800" b="0" i="0">
                <a:solidFill>
                  <a:schemeClr val="tx1"/>
                </a:solidFill>
              </a:rPr>
              <a:t>El rendimiento es igual en estados ricos y pobres (p = 0.91)</a:t>
            </a:r>
          </a:p>
          <a:p>
            <a:pPr algn="l">
              <a:spcAft>
                <a:spcPts val="1000"/>
              </a:spcAft>
            </a:pPr>
            <a:r>
              <a:rPr sz="1800" b="0" i="0">
                <a:solidFill>
                  <a:schemeClr val="tx1"/>
                </a:solidFill>
              </a:rPr>
              <a:t>Brecha de 3.7 % por hora y 26.9 % por mes: es de horas</a:t>
            </a:r>
          </a:p>
          <a:p>
            <a:pPr algn="l">
              <a:spcAft>
                <a:spcPts val="1000"/>
              </a:spcAft>
            </a:pPr>
            <a:r>
              <a:rPr sz="1800" b="0" i="0">
                <a:solidFill>
                  <a:schemeClr val="tx1"/>
                </a:solidFill>
              </a:rPr>
              <a:t>Informalidad: 87 % → 38 % con la escolaridad</a:t>
            </a:r>
          </a:p>
        </p:txBody>
      </p:sp>
      <p:sp>
        <p:nvSpPr>
          <p:cNvPr id="8" name="Qué recomendamos"/>
          <p:cNvSpPr/>
          <p:nvPr/>
        </p:nvSpPr>
        <p:spPr>
          <a:xfrm>
            <a:off x="6263640" y="1508760"/>
            <a:ext cx="5376672" cy="3657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Qué recomendamos texto"/>
          <p:cNvSpPr txBox="1"/>
          <p:nvPr/>
        </p:nvSpPr>
        <p:spPr>
          <a:xfrm>
            <a:off x="6492240" y="1627632"/>
            <a:ext cx="4937760" cy="3474720"/>
          </a:xfrm>
          <a:prstGeom prst="rect">
            <a:avLst/>
          </a:prstGeom>
          <a:noFill/>
        </p:spPr>
        <p:txBody>
          <a:bodyPr wrap="square" lIns="0" rIns="0" tIns="0" bIns="0" anchor="t">
            <a:spAutoFit/>
          </a:bodyPr>
          <a:lstStyle/>
          <a:p>
            <a:pPr algn="l">
              <a:spcAft>
                <a:spcPts val="1000"/>
              </a:spcAft>
            </a:pPr>
            <a:r>
              <a:rPr sz="2000" b="1" i="0">
                <a:solidFill>
                  <a:schemeClr val="tx2"/>
                </a:solidFill>
              </a:rPr>
              <a:t>Qué recomendamos</a:t>
            </a:r>
          </a:p>
          <a:p>
            <a:pPr algn="l">
              <a:spcAft>
                <a:spcPts val="1000"/>
              </a:spcAft>
            </a:pPr>
            <a:r>
              <a:rPr sz="1800" b="0" i="0">
                <a:solidFill>
                  <a:schemeClr val="tx1"/>
                </a:solidFill>
              </a:rPr>
              <a:t>Ampliar acceso y permanencia escolar, sobre todo en el Sur (informalidad 69 %)</a:t>
            </a:r>
          </a:p>
          <a:p>
            <a:pPr algn="l">
              <a:spcAft>
                <a:spcPts val="1000"/>
              </a:spcAft>
            </a:pPr>
            <a:r>
              <a:rPr sz="1800" b="0" i="0">
                <a:solidFill>
                  <a:schemeClr val="tx1"/>
                </a:solidFill>
              </a:rPr>
              <a:t>Políticas de cuidados y horarios flexibles de tiempo completo para cerrar la brecha de horas</a:t>
            </a:r>
          </a:p>
          <a:p>
            <a:pPr algn="l">
              <a:spcAft>
                <a:spcPts val="1000"/>
              </a:spcAft>
            </a:pPr>
            <a:r>
              <a:rPr sz="1800" b="0" i="0">
                <a:solidFill>
                  <a:schemeClr val="tx1"/>
                </a:solidFill>
              </a:rPr>
              <a:t>Atender el «piso pegajoso»: salario mínimo y formalización en los percentiles bajos</a:t>
            </a:r>
          </a:p>
          <a:p>
            <a:pPr algn="l">
              <a:spcAft>
                <a:spcPts val="1000"/>
              </a:spcAft>
            </a:pPr>
            <a:r>
              <a:rPr sz="1800" b="0" i="0">
                <a:solidFill>
                  <a:schemeClr val="tx1"/>
                </a:solidFill>
              </a:rPr>
              <a:t>Publicar ingresos imputados por rango y corregir por no respuesta</a:t>
            </a:r>
          </a:p>
        </p:txBody>
      </p:sp>
      <p:sp>
        <p:nvSpPr>
          <p:cNvPr id="10" name="Métrica M1 cumplida"/>
          <p:cNvSpPr/>
          <p:nvPr/>
        </p:nvSpPr>
        <p:spPr>
          <a:xfrm>
            <a:off x="548640" y="5394960"/>
            <a:ext cx="3611880" cy="77724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200"/>
              </a:spcAft>
            </a:pPr>
            <a:r>
              <a:rPr sz="1800" b="1" i="0">
                <a:solidFill>
                  <a:schemeClr val="bg1"/>
                </a:solidFill>
              </a:rPr>
              <a:t>M1 ✓  </a:t>
            </a:r>
            <a:r>
              <a:rPr sz="1300" b="0" i="0">
                <a:solidFill>
                  <a:schemeClr val="bg1"/>
                </a:solidFill>
              </a:rPr>
              <a:t>Brecha por nivel con IC y prueba: cumplida</a:t>
            </a:r>
          </a:p>
        </p:txBody>
      </p:sp>
      <p:sp>
        <p:nvSpPr>
          <p:cNvPr id="11" name="Métrica M2 cumplida"/>
          <p:cNvSpPr/>
          <p:nvPr/>
        </p:nvSpPr>
        <p:spPr>
          <a:xfrm>
            <a:off x="4297679" y="5394960"/>
            <a:ext cx="3611880" cy="77724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200"/>
              </a:spcAft>
            </a:pPr>
            <a:r>
              <a:rPr sz="1800" b="1" i="0">
                <a:solidFill>
                  <a:schemeClr val="bg1"/>
                </a:solidFill>
              </a:rPr>
              <a:t>M2 ✓  </a:t>
            </a:r>
            <a:r>
              <a:rPr sz="1300" b="0" i="0">
                <a:solidFill>
                  <a:schemeClr val="bg1"/>
                </a:solidFill>
              </a:rPr>
              <a:t>Spearman de 32 entidades con IC y ranking: cumplida</a:t>
            </a:r>
          </a:p>
        </p:txBody>
      </p:sp>
      <p:sp>
        <p:nvSpPr>
          <p:cNvPr id="12" name="Métrica M3 cumplida"/>
          <p:cNvSpPr/>
          <p:nvPr/>
        </p:nvSpPr>
        <p:spPr>
          <a:xfrm>
            <a:off x="8046719" y="5394960"/>
            <a:ext cx="3611880" cy="77724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200"/>
              </a:spcAft>
            </a:pPr>
            <a:r>
              <a:rPr sz="1800" b="1" i="0">
                <a:solidFill>
                  <a:schemeClr val="bg1"/>
                </a:solidFill>
              </a:rPr>
              <a:t>M3 ✓  </a:t>
            </a:r>
            <a:r>
              <a:rPr sz="1300" b="0" i="0">
                <a:solidFill>
                  <a:schemeClr val="bg1"/>
                </a:solidFill>
              </a:rPr>
              <a:t>Tablero ≥ 4 gráficas sobre base NoSQL: cumplida</a:t>
            </a:r>
          </a:p>
        </p:txBody>
      </p:sp>
      <p:sp>
        <p:nvSpPr>
          <p:cNvPr id="13"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Métricas de éxito del protocolo: las tres se cumplen</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43</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G · CIERRE  ·  JUAN EVELIO</a:t>
            </a:r>
          </a:p>
        </p:txBody>
      </p:sp>
      <p:graphicFrame>
        <p:nvGraphicFramePr>
          <p:cNvPr id="6" name="Métricas de éxito"/>
          <p:cNvGraphicFramePr>
            <a:graphicFrameLocks noGrp="1"/>
          </p:cNvGraphicFramePr>
          <p:nvPr/>
        </p:nvGraphicFramePr>
        <p:xfrm>
          <a:off x="548640" y="1554480"/>
          <a:ext cx="11091672" cy="3749040"/>
        </p:xfrm>
        <a:graphic>
          <a:graphicData uri="http://schemas.openxmlformats.org/drawingml/2006/table">
            <a:tbl>
              <a:tblPr firstRow="1" bandRow="1">
                <a:tableStyleId>{5C22544A-7EE6-4342-B048-85BDC9FD1C3A}</a:tableStyleId>
              </a:tblPr>
              <a:tblGrid>
                <a:gridCol w="731520"/>
                <a:gridCol w="4023360"/>
                <a:gridCol w="4937760"/>
                <a:gridCol w="1399032"/>
              </a:tblGrid>
              <a:tr h="457200">
                <a:tc>
                  <a:txBody>
                    <a:bodyPr/>
                    <a:lstStyle/>
                    <a:p>
                      <a:pPr algn="ctr"/>
                      <a:r>
                        <a:rPr sz="1400" b="1" i="0">
                          <a:solidFill>
                            <a:schemeClr val="bg1"/>
                          </a:solidFill>
                        </a:rPr>
                        <a:t/>
                      </a:r>
                    </a:p>
                  </a:txBody>
                  <a:tcPr anchor="ctr">
                    <a:solidFill>
                      <a:schemeClr val="tx2"/>
                    </a:solidFill>
                  </a:tcPr>
                </a:tc>
                <a:tc>
                  <a:txBody>
                    <a:bodyPr/>
                    <a:lstStyle/>
                    <a:p>
                      <a:pPr algn="l"/>
                      <a:r>
                        <a:rPr sz="1400" b="1" i="0">
                          <a:solidFill>
                            <a:schemeClr val="bg1"/>
                          </a:solidFill>
                        </a:rPr>
                        <a:t>Qué pedía el protocolo</a:t>
                      </a:r>
                    </a:p>
                  </a:txBody>
                  <a:tcPr anchor="ctr">
                    <a:solidFill>
                      <a:schemeClr val="tx2"/>
                    </a:solidFill>
                  </a:tcPr>
                </a:tc>
                <a:tc>
                  <a:txBody>
                    <a:bodyPr/>
                    <a:lstStyle/>
                    <a:p>
                      <a:pPr algn="l"/>
                      <a:r>
                        <a:rPr sz="1400" b="1" i="0">
                          <a:solidFill>
                            <a:schemeClr val="bg1"/>
                          </a:solidFill>
                        </a:rPr>
                        <a:t>Evidencia</a:t>
                      </a:r>
                    </a:p>
                  </a:txBody>
                  <a:tcPr anchor="ctr">
                    <a:solidFill>
                      <a:schemeClr val="tx2"/>
                    </a:solidFill>
                  </a:tcPr>
                </a:tc>
                <a:tc>
                  <a:txBody>
                    <a:bodyPr/>
                    <a:lstStyle/>
                    <a:p>
                      <a:pPr algn="ctr"/>
                      <a:r>
                        <a:rPr sz="1400" b="1" i="0">
                          <a:solidFill>
                            <a:schemeClr val="bg1"/>
                          </a:solidFill>
                        </a:rPr>
                        <a:t>Estado</a:t>
                      </a:r>
                    </a:p>
                  </a:txBody>
                  <a:tcPr anchor="ctr">
                    <a:solidFill>
                      <a:schemeClr val="tx2"/>
                    </a:solidFill>
                  </a:tcPr>
                </a:tc>
              </a:tr>
              <a:tr h="1097280">
                <a:tc>
                  <a:txBody>
                    <a:bodyPr wrap="square"/>
                    <a:lstStyle/>
                    <a:p>
                      <a:pPr algn="ctr"/>
                      <a:r>
                        <a:rPr sz="1400" b="1" i="0">
                          <a:solidFill>
                            <a:schemeClr val="tx1"/>
                          </a:solidFill>
                        </a:rPr>
                        <a:t>M1</a:t>
                      </a:r>
                    </a:p>
                  </a:txBody>
                  <a:tcPr anchor="ctr" marL="73152" marR="73152">
                    <a:solidFill>
                      <a:schemeClr val="bg1"/>
                    </a:solidFill>
                  </a:tcPr>
                </a:tc>
                <a:tc>
                  <a:txBody>
                    <a:bodyPr wrap="square"/>
                    <a:lstStyle/>
                    <a:p>
                      <a:pPr algn="l"/>
                      <a:r>
                        <a:rPr sz="1400" b="0" i="0">
                          <a:solidFill>
                            <a:schemeClr val="tx1"/>
                          </a:solidFill>
                        </a:rPr>
                        <a:t>Brecha salarial por nivel de instrucción, con IC 95 % y prueba de hipótesis</a:t>
                      </a:r>
                    </a:p>
                  </a:txBody>
                  <a:tcPr anchor="ctr" marL="73152" marR="73152">
                    <a:solidFill>
                      <a:schemeClr val="bg1"/>
                    </a:solidFill>
                  </a:tcPr>
                </a:tc>
                <a:tc>
                  <a:txBody>
                    <a:bodyPr wrap="square"/>
                    <a:lstStyle/>
                    <a:p>
                      <a:pPr algn="l"/>
                      <a:r>
                        <a:rPr sz="1400" b="0" i="0">
                          <a:solidFill>
                            <a:schemeClr val="tx1"/>
                          </a:solidFill>
                        </a:rPr>
                        <a:t>Brecha por hora y por mes en los 4 niveles; IC de Rao-Wu; p con Holm; Welch, Mann-Whitney y d de Cohen</a:t>
                      </a:r>
                    </a:p>
                  </a:txBody>
                  <a:tcPr anchor="ctr" marL="73152" marR="73152">
                    <a:solidFill>
                      <a:schemeClr val="bg1"/>
                    </a:solidFill>
                  </a:tcPr>
                </a:tc>
                <a:tc>
                  <a:txBody>
                    <a:bodyPr wrap="square"/>
                    <a:lstStyle/>
                    <a:p>
                      <a:pPr algn="ctr"/>
                      <a:r>
                        <a:rPr sz="1400" b="0" i="0">
                          <a:solidFill>
                            <a:schemeClr val="tx1"/>
                          </a:solidFill>
                        </a:rPr>
                        <a:t>Cumplida</a:t>
                      </a:r>
                    </a:p>
                  </a:txBody>
                  <a:tcPr anchor="ctr" marL="73152" marR="73152">
                    <a:solidFill>
                      <a:schemeClr val="bg1"/>
                    </a:solidFill>
                  </a:tcPr>
                </a:tc>
              </a:tr>
              <a:tr h="1097280">
                <a:tc>
                  <a:txBody>
                    <a:bodyPr wrap="square"/>
                    <a:lstStyle/>
                    <a:p>
                      <a:pPr algn="ctr"/>
                      <a:r>
                        <a:rPr sz="1400" b="1" i="0">
                          <a:solidFill>
                            <a:schemeClr val="tx1"/>
                          </a:solidFill>
                        </a:rPr>
                        <a:t>M2</a:t>
                      </a:r>
                    </a:p>
                  </a:txBody>
                  <a:tcPr anchor="ctr" marL="73152" marR="73152">
                    <a:solidFill>
                      <a:schemeClr val="bg2"/>
                    </a:solidFill>
                  </a:tcPr>
                </a:tc>
                <a:tc>
                  <a:txBody>
                    <a:bodyPr wrap="square"/>
                    <a:lstStyle/>
                    <a:p>
                      <a:pPr algn="l"/>
                      <a:r>
                        <a:rPr sz="1400" b="0" i="0">
                          <a:solidFill>
                            <a:schemeClr val="tx1"/>
                          </a:solidFill>
                        </a:rPr>
                        <a:t>Spearman en las 32 entidades, con IC por bootstrap y ranking defendible</a:t>
                      </a:r>
                    </a:p>
                  </a:txBody>
                  <a:tcPr anchor="ctr" marL="73152" marR="73152">
                    <a:solidFill>
                      <a:schemeClr val="bg2"/>
                    </a:solidFill>
                  </a:tcPr>
                </a:tc>
                <a:tc>
                  <a:txBody>
                    <a:bodyPr wrap="square"/>
                    <a:lstStyle/>
                    <a:p>
                      <a:pPr algn="l"/>
                      <a:r>
                        <a:rPr sz="1400" b="0" i="0">
                          <a:solidFill>
                            <a:schemeClr val="tx1"/>
                          </a:solidFill>
                        </a:rPr>
                        <a:t>ρ de 32 entidades con IC y con el intervalo del lugar; el ranking solo distingue los extremos</a:t>
                      </a:r>
                    </a:p>
                  </a:txBody>
                  <a:tcPr anchor="ctr" marL="73152" marR="73152">
                    <a:solidFill>
                      <a:schemeClr val="bg2"/>
                    </a:solidFill>
                  </a:tcPr>
                </a:tc>
                <a:tc>
                  <a:txBody>
                    <a:bodyPr wrap="square"/>
                    <a:lstStyle/>
                    <a:p>
                      <a:pPr algn="ctr"/>
                      <a:r>
                        <a:rPr sz="1400" b="0" i="0">
                          <a:solidFill>
                            <a:schemeClr val="tx1"/>
                          </a:solidFill>
                        </a:rPr>
                        <a:t>Cumplida</a:t>
                      </a:r>
                    </a:p>
                  </a:txBody>
                  <a:tcPr anchor="ctr" marL="73152" marR="73152">
                    <a:solidFill>
                      <a:schemeClr val="bg2"/>
                    </a:solidFill>
                  </a:tcPr>
                </a:tc>
              </a:tr>
              <a:tr h="1097280">
                <a:tc>
                  <a:txBody>
                    <a:bodyPr wrap="square"/>
                    <a:lstStyle/>
                    <a:p>
                      <a:pPr algn="ctr"/>
                      <a:r>
                        <a:rPr sz="1400" b="1" i="0">
                          <a:solidFill>
                            <a:schemeClr val="tx1"/>
                          </a:solidFill>
                        </a:rPr>
                        <a:t>M3</a:t>
                      </a:r>
                    </a:p>
                  </a:txBody>
                  <a:tcPr anchor="ctr" marL="73152" marR="73152">
                    <a:solidFill>
                      <a:schemeClr val="bg1"/>
                    </a:solidFill>
                  </a:tcPr>
                </a:tc>
                <a:tc>
                  <a:txBody>
                    <a:bodyPr wrap="square"/>
                    <a:lstStyle/>
                    <a:p>
                      <a:pPr algn="l"/>
                      <a:r>
                        <a:rPr sz="1400" b="0" i="0">
                          <a:solidFill>
                            <a:schemeClr val="tx1"/>
                          </a:solidFill>
                        </a:rPr>
                        <a:t>Tablero con ≥ 4 visualizaciones, alimentado por un pipeline a una base NoSQL consultable por entidad</a:t>
                      </a:r>
                    </a:p>
                  </a:txBody>
                  <a:tcPr anchor="ctr" marL="73152" marR="73152">
                    <a:solidFill>
                      <a:schemeClr val="bg1"/>
                    </a:solidFill>
                  </a:tcPr>
                </a:tc>
                <a:tc>
                  <a:txBody>
                    <a:bodyPr wrap="square"/>
                    <a:lstStyle/>
                    <a:p>
                      <a:pPr algn="l"/>
                      <a:r>
                        <a:rPr sz="1400" b="0" i="0">
                          <a:solidFill>
                            <a:schemeClr val="tx1"/>
                          </a:solidFill>
                        </a:rPr>
                        <a:t>Tablero HTML con 6 visualizaciones y ficha por entidad; documentos MongoDB y agregación verificada contra SQL</a:t>
                      </a:r>
                    </a:p>
                  </a:txBody>
                  <a:tcPr anchor="ctr" marL="73152" marR="73152">
                    <a:solidFill>
                      <a:schemeClr val="bg1"/>
                    </a:solidFill>
                  </a:tcPr>
                </a:tc>
                <a:tc>
                  <a:txBody>
                    <a:bodyPr wrap="square"/>
                    <a:lstStyle/>
                    <a:p>
                      <a:pPr algn="ctr"/>
                      <a:r>
                        <a:rPr sz="1400" b="0" i="0">
                          <a:solidFill>
                            <a:schemeClr val="tx1"/>
                          </a:solidFill>
                        </a:rPr>
                        <a:t>Cumplida*</a:t>
                      </a:r>
                    </a:p>
                  </a:txBody>
                  <a:tcPr anchor="ctr" marL="73152" marR="73152">
                    <a:solidFill>
                      <a:schemeClr val="bg1"/>
                    </a:solidFill>
                  </a:tcPr>
                </a:tc>
              </a:tr>
            </a:tbl>
          </a:graphicData>
        </a:graphic>
      </p:graphicFrame>
      <p:sp>
        <p:nvSpPr>
          <p:cNvPr id="7" name="Salvedad"/>
          <p:cNvSpPr/>
          <p:nvPr/>
        </p:nvSpPr>
        <p:spPr>
          <a:xfrm>
            <a:off x="548640" y="5349240"/>
            <a:ext cx="11091672" cy="868680"/>
          </a:xfrm>
          <a:prstGeom prst="roundRect">
            <a:avLst>
              <a:gd name="adj" fmla="val 6000"/>
            </a:avLst>
          </a:prstGeom>
          <a:solidFill>
            <a:srgbClr val="FF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alvedad texto"/>
          <p:cNvSpPr txBox="1"/>
          <p:nvPr/>
        </p:nvSpPr>
        <p:spPr>
          <a:xfrm>
            <a:off x="749808" y="5458968"/>
            <a:ext cx="10689336" cy="649224"/>
          </a:xfrm>
          <a:prstGeom prst="rect">
            <a:avLst/>
          </a:prstGeom>
          <a:noFill/>
        </p:spPr>
        <p:txBody>
          <a:bodyPr wrap="square" lIns="0" rIns="0" tIns="0" bIns="0" anchor="ctr">
            <a:spAutoFit/>
          </a:bodyPr>
          <a:lstStyle/>
          <a:p>
            <a:pPr algn="l">
              <a:spcAft>
                <a:spcPts val="800"/>
              </a:spcAft>
            </a:pPr>
            <a:r>
              <a:rPr sz="1500" b="1" i="0">
                <a:solidFill>
                  <a:schemeClr val="tx2"/>
                </a:solidFill>
              </a:rPr>
              <a:t>* Salvedad: </a:t>
            </a:r>
            <a:r>
              <a:rPr sz="1400" b="0" i="0">
                <a:solidFill>
                  <a:schemeClr val="tx1"/>
                </a:solidFill>
              </a:rPr>
              <a:t>la carga a un servidor MongoDB real no se ejecutó (no hay servidor instalado); los documentos están listos para mongoimport y la agregación equivalente está verificada.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Qué no podemos afirmar, y qué haríamos después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44</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G · CIERRE  ·  JUAN EVELIO</a:t>
            </a:r>
          </a:p>
        </p:txBody>
      </p:sp>
      <p:sp>
        <p:nvSpPr>
          <p:cNvPr id="6" name="Límites"/>
          <p:cNvSpPr/>
          <p:nvPr/>
        </p:nvSpPr>
        <p:spPr>
          <a:xfrm>
            <a:off x="548640" y="1508760"/>
            <a:ext cx="5486400" cy="4617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Límites texto"/>
          <p:cNvSpPr txBox="1"/>
          <p:nvPr/>
        </p:nvSpPr>
        <p:spPr>
          <a:xfrm>
            <a:off x="777240" y="1645920"/>
            <a:ext cx="5029200" cy="4389120"/>
          </a:xfrm>
          <a:prstGeom prst="rect">
            <a:avLst/>
          </a:prstGeom>
          <a:noFill/>
        </p:spPr>
        <p:txBody>
          <a:bodyPr wrap="square" lIns="0" rIns="0" tIns="0" bIns="0" anchor="t">
            <a:spAutoFit/>
          </a:bodyPr>
          <a:lstStyle/>
          <a:p>
            <a:pPr algn="l">
              <a:spcAft>
                <a:spcPts val="1000"/>
              </a:spcAft>
            </a:pPr>
            <a:r>
              <a:rPr sz="2000" b="1" i="0">
                <a:solidFill>
                  <a:schemeClr val="tx2"/>
                </a:solidFill>
              </a:rPr>
              <a:t>Límites</a:t>
            </a:r>
          </a:p>
          <a:p>
            <a:pPr algn="l">
              <a:spcAft>
                <a:spcPts val="1000"/>
              </a:spcAft>
            </a:pPr>
            <a:r>
              <a:rPr sz="1800" b="0" i="0">
                <a:solidFill>
                  <a:schemeClr val="tx1"/>
                </a:solidFill>
              </a:rPr>
              <a:t>Asociación, no causalidad (habilidad no observada; falacia ecológica entre estados)</a:t>
            </a:r>
          </a:p>
          <a:p>
            <a:pPr algn="l">
              <a:spcAft>
                <a:spcPts val="1000"/>
              </a:spcAft>
            </a:pPr>
            <a:r>
              <a:rPr sz="1800" b="0" i="0">
                <a:solidFill>
                  <a:schemeClr val="tx1"/>
                </a:solidFill>
              </a:rPr>
              <a:t>Solo vemos el ingreso de quien trabaja y lo declara (selección)</a:t>
            </a:r>
          </a:p>
          <a:p>
            <a:pPr algn="l">
              <a:spcAft>
                <a:spcPts val="1000"/>
              </a:spcAft>
            </a:pPr>
            <a:r>
              <a:rPr sz="1800" b="0" i="0">
                <a:solidFill>
                  <a:schemeClr val="tx1"/>
                </a:solidFill>
              </a:rPr>
              <a:t>Ingreso autorreportado, con redondeo; horas de una sola semana</a:t>
            </a:r>
          </a:p>
          <a:p>
            <a:pPr algn="l">
              <a:spcAft>
                <a:spcPts val="1000"/>
              </a:spcAft>
            </a:pPr>
            <a:r>
              <a:rPr sz="1800" b="0" i="0">
                <a:solidFill>
                  <a:schemeClr val="tx1"/>
                </a:solidFill>
              </a:rPr>
              <a:t>Un trimestre; 1,900–5,900 observaciones por estado</a:t>
            </a:r>
          </a:p>
          <a:p>
            <a:pPr algn="l">
              <a:spcAft>
                <a:spcPts val="1000"/>
              </a:spcAft>
            </a:pPr>
            <a:r>
              <a:rPr sz="1800" b="0" i="0">
                <a:solidFill>
                  <a:schemeClr val="tx1"/>
                </a:solidFill>
              </a:rPr>
              <a:t>MongoDB: documentos verificados, carga a servidor real pendiente</a:t>
            </a:r>
          </a:p>
        </p:txBody>
      </p:sp>
      <p:sp>
        <p:nvSpPr>
          <p:cNvPr id="8" name="Próximos pasos"/>
          <p:cNvSpPr/>
          <p:nvPr/>
        </p:nvSpPr>
        <p:spPr>
          <a:xfrm>
            <a:off x="6263640" y="1508760"/>
            <a:ext cx="5376672" cy="4617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róximos pasos texto"/>
          <p:cNvSpPr txBox="1"/>
          <p:nvPr/>
        </p:nvSpPr>
        <p:spPr>
          <a:xfrm>
            <a:off x="6492240" y="1645920"/>
            <a:ext cx="4937760" cy="4389120"/>
          </a:xfrm>
          <a:prstGeom prst="rect">
            <a:avLst/>
          </a:prstGeom>
          <a:noFill/>
        </p:spPr>
        <p:txBody>
          <a:bodyPr wrap="square" lIns="0" rIns="0" tIns="0" bIns="0" anchor="t">
            <a:spAutoFit/>
          </a:bodyPr>
          <a:lstStyle/>
          <a:p>
            <a:pPr algn="l">
              <a:spcAft>
                <a:spcPts val="1000"/>
              </a:spcAft>
            </a:pPr>
            <a:r>
              <a:rPr sz="2000" b="1" i="0">
                <a:solidFill>
                  <a:schemeClr val="tx2"/>
                </a:solidFill>
              </a:rPr>
              <a:t>Con más tiempo</a:t>
            </a:r>
          </a:p>
          <a:p>
            <a:pPr algn="l">
              <a:spcAft>
                <a:spcPts val="1000"/>
              </a:spcAft>
            </a:pPr>
            <a:r>
              <a:rPr sz="1800" b="0" i="0">
                <a:solidFill>
                  <a:schemeClr val="tx1"/>
                </a:solidFill>
              </a:rPr>
              <a:t>Varios trimestres (panel rotativo de la ENOE)</a:t>
            </a:r>
          </a:p>
          <a:p>
            <a:pPr algn="l">
              <a:spcAft>
                <a:spcPts val="1000"/>
              </a:spcAft>
            </a:pPr>
            <a:r>
              <a:rPr sz="1800" b="0" i="0">
                <a:solidFill>
                  <a:schemeClr val="tx1"/>
                </a:solidFill>
              </a:rPr>
              <a:t>Corrección de selección (Heckman) para la participación laboral</a:t>
            </a:r>
          </a:p>
          <a:p>
            <a:pPr algn="l">
              <a:spcAft>
                <a:spcPts val="1000"/>
              </a:spcAft>
            </a:pPr>
            <a:r>
              <a:rPr sz="1800" b="0" i="0">
                <a:solidFill>
                  <a:schemeClr val="tx1"/>
                </a:solidFill>
              </a:rPr>
              <a:t>Mapa geográfico real con el Marco Geoestadístico</a:t>
            </a:r>
          </a:p>
          <a:p>
            <a:pPr algn="l">
              <a:spcAft>
                <a:spcPts val="1000"/>
              </a:spcAft>
            </a:pPr>
            <a:r>
              <a:rPr sz="1800" b="0" i="0">
                <a:solidFill>
                  <a:schemeClr val="tx1"/>
                </a:solidFill>
              </a:rPr>
              <a:t>Estimaciones para áreas pequeñas (municipios)</a:t>
            </a:r>
          </a:p>
          <a:p>
            <a:pPr algn="l">
              <a:spcAft>
                <a:spcPts val="1000"/>
              </a:spcAft>
            </a:pPr>
            <a:r>
              <a:rPr sz="1800" b="0" i="0">
                <a:solidFill>
                  <a:schemeClr val="tx1"/>
                </a:solidFill>
              </a:rPr>
              <a:t>Contrastar los códigos de rangos con el cuestionario oficial</a:t>
            </a:r>
          </a:p>
        </p:txBody>
      </p:sp>
      <p:sp>
        <p:nvSpPr>
          <p:cNvPr id="10"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548640" y="1737360"/>
            <a:ext cx="11094415" cy="1188720"/>
          </a:xfrm>
        </p:spPr>
        <p:txBody>
          <a:bodyPr wrap="square" anchor="ctr" lIns="0" rIns="0" tIns="0" bIns="0"/>
          <a:lstStyle/>
          <a:p>
            <a:pPr algn="l"/>
            <a:r>
              <a:rPr sz="5400" b="1" i="0">
                <a:solidFill>
                  <a:schemeClr val="bg1"/>
                </a:solidFill>
              </a:rPr>
              <a:t>Gracias</a:t>
            </a:r>
          </a:p>
        </p:txBody>
      </p:sp>
      <p:sp>
        <p:nvSpPr>
          <p:cNvPr id="3" name="Preguntas"/>
          <p:cNvSpPr txBox="1"/>
          <p:nvPr/>
        </p:nvSpPr>
        <p:spPr>
          <a:xfrm>
            <a:off x="548640" y="3063240"/>
            <a:ext cx="10515600" cy="640080"/>
          </a:xfrm>
          <a:prstGeom prst="rect">
            <a:avLst/>
          </a:prstGeom>
          <a:noFill/>
        </p:spPr>
        <p:txBody>
          <a:bodyPr wrap="square" lIns="0" rIns="0" tIns="0" bIns="0" anchor="t">
            <a:spAutoFit/>
          </a:bodyPr>
          <a:lstStyle/>
          <a:p>
            <a:pPr algn="l">
              <a:spcAft>
                <a:spcPts val="0"/>
              </a:spcAft>
            </a:pPr>
            <a:r>
              <a:rPr sz="3000" b="0" i="0">
                <a:solidFill>
                  <a:srgbClr val="CADCFC"/>
                </a:solidFill>
              </a:rPr>
              <a:t>¿Preguntas?</a:t>
            </a:r>
          </a:p>
        </p:txBody>
      </p:sp>
      <p:sp>
        <p:nvSpPr>
          <p:cNvPr id="4" name="Dónde está todo"/>
          <p:cNvSpPr/>
          <p:nvPr/>
        </p:nvSpPr>
        <p:spPr>
          <a:xfrm>
            <a:off x="548640" y="4069080"/>
            <a:ext cx="11091672" cy="173736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Dónde está todo texto"/>
          <p:cNvSpPr txBox="1"/>
          <p:nvPr/>
        </p:nvSpPr>
        <p:spPr>
          <a:xfrm>
            <a:off x="822959" y="4206240"/>
            <a:ext cx="10515600" cy="1463040"/>
          </a:xfrm>
          <a:prstGeom prst="rect">
            <a:avLst/>
          </a:prstGeom>
          <a:noFill/>
        </p:spPr>
        <p:txBody>
          <a:bodyPr wrap="square" lIns="0" rIns="0" tIns="0" bIns="0" anchor="ctr">
            <a:spAutoFit/>
          </a:bodyPr>
          <a:lstStyle/>
          <a:p>
            <a:pPr algn="l">
              <a:spcAft>
                <a:spcPts val="800"/>
              </a:spcAft>
            </a:pPr>
            <a:r>
              <a:rPr sz="1600" b="1" i="0">
                <a:solidFill>
                  <a:schemeClr val="bg1"/>
                </a:solidFill>
              </a:rPr>
              <a:t>Carpeta Proyecto_ENOE: </a:t>
            </a:r>
            <a:r>
              <a:rPr sz="1600" b="0" i="0">
                <a:solidFill>
                  <a:schemeClr val="bg1"/>
                </a:solidFill>
              </a:rPr>
              <a:t>cuaderno (notebooks/) · tablero interactivo (tablero/) · código (src/ y scripts/) · documentación y guía de defensa (docs/) · pruebas (tests/)</a:t>
            </a:r>
          </a:p>
          <a:p>
            <a:pPr algn="l">
              <a:spcAft>
                <a:spcPts val="800"/>
              </a:spcAft>
            </a:pPr>
            <a:r>
              <a:rPr sz="1600" b="1" i="0">
                <a:solidFill>
                  <a:schemeClr val="bg1"/>
                </a:solidFill>
              </a:rPr>
              <a:t>Reproducir todo: </a:t>
            </a:r>
            <a:r>
              <a:rPr sz="1600" b="0" i="0">
                <a:solidFill>
                  <a:srgbClr val="CADCFC"/>
                </a:solidFill>
              </a:rPr>
              <a:t>python scripts/run_etl.py → run_analysis.py → make_figures.py → build_notebook.py</a:t>
            </a:r>
          </a:p>
        </p:txBody>
      </p:sp>
      <p:sp>
        <p:nvSpPr>
          <p:cNvPr id="6" name="Marca ruta corta"/>
          <p:cNvSpPr/>
          <p:nvPr/>
        </p:nvSpPr>
        <p:spPr>
          <a:xfrm>
            <a:off x="10408615" y="91440"/>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54864" bIns="54864"/>
          <a:lstStyle/>
          <a:p>
            <a:pPr algn="ctr">
              <a:spcAft>
                <a:spcPts val="0"/>
              </a:spcAft>
            </a:pPr>
            <a:r>
              <a:rPr sz="1100" b="1" i="0">
                <a:solidFill>
                  <a:schemeClr val="tx1"/>
                </a:solidFill>
              </a:rPr>
              <a:t>★ ruta corta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Glosario (1/2): encuesta e inferencia</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46</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H · RESPALDO</a:t>
            </a:r>
          </a:p>
        </p:txBody>
      </p:sp>
      <p:sp>
        <p:nvSpPr>
          <p:cNvPr id="6" name="Término 1"/>
          <p:cNvSpPr/>
          <p:nvPr/>
        </p:nvSpPr>
        <p:spPr>
          <a:xfrm>
            <a:off x="548640" y="150876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érmino 1 texto"/>
          <p:cNvSpPr txBox="1"/>
          <p:nvPr/>
        </p:nvSpPr>
        <p:spPr>
          <a:xfrm>
            <a:off x="749808" y="158191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ENOE</a:t>
            </a:r>
          </a:p>
          <a:p>
            <a:pPr algn="l">
              <a:spcAft>
                <a:spcPts val="300"/>
              </a:spcAft>
            </a:pPr>
            <a:r>
              <a:rPr sz="1300" b="0" i="0">
                <a:solidFill>
                  <a:schemeClr val="tx1"/>
                </a:solidFill>
              </a:rPr>
              <a:t>Encuesta Nacional de Ocupación y Empleo del INEGI: principal fuente del mercado laboral.</a:t>
            </a:r>
          </a:p>
        </p:txBody>
      </p:sp>
      <p:sp>
        <p:nvSpPr>
          <p:cNvPr id="8" name="Término 2"/>
          <p:cNvSpPr/>
          <p:nvPr/>
        </p:nvSpPr>
        <p:spPr>
          <a:xfrm>
            <a:off x="548640" y="269748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érmino 2 texto"/>
          <p:cNvSpPr txBox="1"/>
          <p:nvPr/>
        </p:nvSpPr>
        <p:spPr>
          <a:xfrm>
            <a:off x="749808" y="277063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Factor de expansión (fac_tri)</a:t>
            </a:r>
          </a:p>
          <a:p>
            <a:pPr algn="l">
              <a:spcAft>
                <a:spcPts val="300"/>
              </a:spcAft>
            </a:pPr>
            <a:r>
              <a:rPr sz="1300" b="0" i="0">
                <a:solidFill>
                  <a:schemeClr val="tx1"/>
                </a:solidFill>
              </a:rPr>
              <a:t>A cuántas personas de la población representa cada persona de la muestra.</a:t>
            </a:r>
          </a:p>
        </p:txBody>
      </p:sp>
      <p:sp>
        <p:nvSpPr>
          <p:cNvPr id="10" name="Término 3"/>
          <p:cNvSpPr/>
          <p:nvPr/>
        </p:nvSpPr>
        <p:spPr>
          <a:xfrm>
            <a:off x="548640" y="388620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érmino 3 texto"/>
          <p:cNvSpPr txBox="1"/>
          <p:nvPr/>
        </p:nvSpPr>
        <p:spPr>
          <a:xfrm>
            <a:off x="749808" y="395935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Estrato y UPM</a:t>
            </a:r>
          </a:p>
          <a:p>
            <a:pPr algn="l">
              <a:spcAft>
                <a:spcPts val="300"/>
              </a:spcAft>
            </a:pPr>
            <a:r>
              <a:rPr sz="1300" b="0" i="0">
                <a:solidFill>
                  <a:schemeClr val="tx1"/>
                </a:solidFill>
              </a:rPr>
              <a:t>Estrato: grupo de áreas parecidas. UPM: conjunto de viviendas que se sortea.</a:t>
            </a:r>
          </a:p>
        </p:txBody>
      </p:sp>
      <p:sp>
        <p:nvSpPr>
          <p:cNvPr id="12" name="Término 4"/>
          <p:cNvSpPr/>
          <p:nvPr/>
        </p:nvSpPr>
        <p:spPr>
          <a:xfrm>
            <a:off x="548640" y="507492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érmino 4 texto"/>
          <p:cNvSpPr txBox="1"/>
          <p:nvPr/>
        </p:nvSpPr>
        <p:spPr>
          <a:xfrm>
            <a:off x="749808" y="514807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Efecto de diseño</a:t>
            </a:r>
          </a:p>
          <a:p>
            <a:pPr algn="l">
              <a:spcAft>
                <a:spcPts val="300"/>
              </a:spcAft>
            </a:pPr>
            <a:r>
              <a:rPr sz="1300" b="0" i="0">
                <a:solidFill>
                  <a:schemeClr val="tx1"/>
                </a:solidFill>
              </a:rPr>
              <a:t>Cuánto agranda la varianza el muestreo por conglomerados frente a una muestra simple.</a:t>
            </a:r>
          </a:p>
        </p:txBody>
      </p:sp>
      <p:sp>
        <p:nvSpPr>
          <p:cNvPr id="14" name="Término 5"/>
          <p:cNvSpPr/>
          <p:nvPr/>
        </p:nvSpPr>
        <p:spPr>
          <a:xfrm>
            <a:off x="6172200" y="150876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érmino 5 texto"/>
          <p:cNvSpPr txBox="1"/>
          <p:nvPr/>
        </p:nvSpPr>
        <p:spPr>
          <a:xfrm>
            <a:off x="6373368" y="158191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Bootstrap de Rao–Wu</a:t>
            </a:r>
          </a:p>
          <a:p>
            <a:pPr algn="l">
              <a:spcAft>
                <a:spcPts val="300"/>
              </a:spcAft>
            </a:pPr>
            <a:r>
              <a:rPr sz="1300" b="0" i="0">
                <a:solidFill>
                  <a:schemeClr val="tx1"/>
                </a:solidFill>
              </a:rPr>
              <a:t>Remuestreo de UPM dentro de estratos con pesos reescalados para medir la incertidumbre.</a:t>
            </a:r>
          </a:p>
        </p:txBody>
      </p:sp>
      <p:sp>
        <p:nvSpPr>
          <p:cNvPr id="16" name="Término 6"/>
          <p:cNvSpPr/>
          <p:nvPr/>
        </p:nvSpPr>
        <p:spPr>
          <a:xfrm>
            <a:off x="6172200" y="269748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érmino 6 texto"/>
          <p:cNvSpPr txBox="1"/>
          <p:nvPr/>
        </p:nvSpPr>
        <p:spPr>
          <a:xfrm>
            <a:off x="6373368" y="277063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Intervalo de confianza</a:t>
            </a:r>
          </a:p>
          <a:p>
            <a:pPr algn="l">
              <a:spcAft>
                <a:spcPts val="300"/>
              </a:spcAft>
            </a:pPr>
            <a:r>
              <a:rPr sz="1300" b="0" i="0">
                <a:solidFill>
                  <a:schemeClr val="tx1"/>
                </a:solidFill>
              </a:rPr>
              <a:t>Rango de valores plausibles; al 95 %, contiene el valor verdadero el 95 % de las veces.</a:t>
            </a:r>
          </a:p>
        </p:txBody>
      </p:sp>
      <p:sp>
        <p:nvSpPr>
          <p:cNvPr id="18" name="Término 7"/>
          <p:cNvSpPr/>
          <p:nvPr/>
        </p:nvSpPr>
        <p:spPr>
          <a:xfrm>
            <a:off x="6172200" y="388620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érmino 7 texto"/>
          <p:cNvSpPr txBox="1"/>
          <p:nvPr/>
        </p:nvSpPr>
        <p:spPr>
          <a:xfrm>
            <a:off x="6373368" y="395935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Valor p</a:t>
            </a:r>
          </a:p>
          <a:p>
            <a:pPr algn="l">
              <a:spcAft>
                <a:spcPts val="300"/>
              </a:spcAft>
            </a:pPr>
            <a:r>
              <a:rPr sz="1300" b="0" i="0">
                <a:solidFill>
                  <a:schemeClr val="tx1"/>
                </a:solidFill>
              </a:rPr>
              <a:t>Probabilidad de ver una diferencia así si no hubiera efecto; &lt; 0.05 = significativa.</a:t>
            </a:r>
          </a:p>
        </p:txBody>
      </p:sp>
      <p:sp>
        <p:nvSpPr>
          <p:cNvPr id="20" name="Término 8"/>
          <p:cNvSpPr/>
          <p:nvPr/>
        </p:nvSpPr>
        <p:spPr>
          <a:xfrm>
            <a:off x="6172200" y="507492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érmino 8 texto"/>
          <p:cNvSpPr txBox="1"/>
          <p:nvPr/>
        </p:nvSpPr>
        <p:spPr>
          <a:xfrm>
            <a:off x="6373368" y="514807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Corrección de Holm</a:t>
            </a:r>
          </a:p>
          <a:p>
            <a:pPr algn="l">
              <a:spcAft>
                <a:spcPts val="300"/>
              </a:spcAft>
            </a:pPr>
            <a:r>
              <a:rPr sz="1300" b="0" i="0">
                <a:solidFill>
                  <a:schemeClr val="tx1"/>
                </a:solidFill>
              </a:rPr>
              <a:t>Ajusta los valores p cuando se hacen varias pruebas a la vez.</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Glosario (2/2): modelos y variables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47</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H · RESPALDO</a:t>
            </a:r>
          </a:p>
        </p:txBody>
      </p:sp>
      <p:sp>
        <p:nvSpPr>
          <p:cNvPr id="6" name="Término 1"/>
          <p:cNvSpPr/>
          <p:nvPr/>
        </p:nvSpPr>
        <p:spPr>
          <a:xfrm>
            <a:off x="548640" y="150876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érmino 1 texto"/>
          <p:cNvSpPr txBox="1"/>
          <p:nvPr/>
        </p:nvSpPr>
        <p:spPr>
          <a:xfrm>
            <a:off x="749808" y="158191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Spearman (ρ)</a:t>
            </a:r>
          </a:p>
          <a:p>
            <a:pPr algn="l">
              <a:spcAft>
                <a:spcPts val="300"/>
              </a:spcAft>
            </a:pPr>
            <a:r>
              <a:rPr sz="1300" b="0" i="0">
                <a:solidFill>
                  <a:schemeClr val="tx1"/>
                </a:solidFill>
              </a:rPr>
              <a:t>Correlación entre los rangos de dos variables; mide asociación monótona.</a:t>
            </a:r>
          </a:p>
        </p:txBody>
      </p:sp>
      <p:sp>
        <p:nvSpPr>
          <p:cNvPr id="8" name="Término 2"/>
          <p:cNvSpPr/>
          <p:nvPr/>
        </p:nvSpPr>
        <p:spPr>
          <a:xfrm>
            <a:off x="548640" y="269748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érmino 2 texto"/>
          <p:cNvSpPr txBox="1"/>
          <p:nvPr/>
        </p:nvSpPr>
        <p:spPr>
          <a:xfrm>
            <a:off x="749808" y="277063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Logaritmo natural</a:t>
            </a:r>
          </a:p>
          <a:p>
            <a:pPr algn="l">
              <a:spcAft>
                <a:spcPts val="300"/>
              </a:spcAft>
            </a:pPr>
            <a:r>
              <a:rPr sz="1300" b="0" i="0">
                <a:solidFill>
                  <a:schemeClr val="tx1"/>
                </a:solidFill>
              </a:rPr>
              <a:t>Transformación que acorta la cola larga; sus diferencias son diferencias porcentuales.</a:t>
            </a:r>
          </a:p>
        </p:txBody>
      </p:sp>
      <p:sp>
        <p:nvSpPr>
          <p:cNvPr id="10" name="Término 3"/>
          <p:cNvSpPr/>
          <p:nvPr/>
        </p:nvSpPr>
        <p:spPr>
          <a:xfrm>
            <a:off x="548640" y="388620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érmino 3 texto"/>
          <p:cNvSpPr txBox="1"/>
          <p:nvPr/>
        </p:nvSpPr>
        <p:spPr>
          <a:xfrm>
            <a:off x="749808" y="395935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Ecuación de Mincer</a:t>
            </a:r>
          </a:p>
          <a:p>
            <a:pPr algn="l">
              <a:spcAft>
                <a:spcPts val="300"/>
              </a:spcAft>
            </a:pPr>
            <a:r>
              <a:rPr sz="1300" b="0" i="0">
                <a:solidFill>
                  <a:schemeClr val="tx1"/>
                </a:solidFill>
              </a:rPr>
              <a:t>Regresión del logaritmo del ingreso sobre escolaridad y experiencia.</a:t>
            </a:r>
          </a:p>
        </p:txBody>
      </p:sp>
      <p:sp>
        <p:nvSpPr>
          <p:cNvPr id="12" name="Término 4"/>
          <p:cNvSpPr/>
          <p:nvPr/>
        </p:nvSpPr>
        <p:spPr>
          <a:xfrm>
            <a:off x="548640" y="507492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érmino 4 texto"/>
          <p:cNvSpPr txBox="1"/>
          <p:nvPr/>
        </p:nvSpPr>
        <p:spPr>
          <a:xfrm>
            <a:off x="749808" y="514807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Brecha salarial</a:t>
            </a:r>
          </a:p>
          <a:p>
            <a:pPr algn="l">
              <a:spcAft>
                <a:spcPts val="300"/>
              </a:spcAft>
            </a:pPr>
            <a:r>
              <a:rPr sz="1300" b="0" i="0">
                <a:solidFill>
                  <a:schemeClr val="tx1"/>
                </a:solidFill>
              </a:rPr>
              <a:t>Porcentaje menos que ganan las mujeres que los hombres (medias geométricas).</a:t>
            </a:r>
          </a:p>
        </p:txBody>
      </p:sp>
      <p:sp>
        <p:nvSpPr>
          <p:cNvPr id="14" name="Término 5"/>
          <p:cNvSpPr/>
          <p:nvPr/>
        </p:nvSpPr>
        <p:spPr>
          <a:xfrm>
            <a:off x="6172200" y="150876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érmino 5 texto"/>
          <p:cNvSpPr txBox="1"/>
          <p:nvPr/>
        </p:nvSpPr>
        <p:spPr>
          <a:xfrm>
            <a:off x="6373368" y="158191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d de Cohen</a:t>
            </a:r>
          </a:p>
          <a:p>
            <a:pPr algn="l">
              <a:spcAft>
                <a:spcPts val="300"/>
              </a:spcAft>
            </a:pPr>
            <a:r>
              <a:rPr sz="1300" b="0" i="0">
                <a:solidFill>
                  <a:schemeClr val="tx1"/>
                </a:solidFill>
              </a:rPr>
              <a:t>Tamaño del efecto: 0.2 pequeño, 0.5 mediano, 0.8 grande.</a:t>
            </a:r>
          </a:p>
        </p:txBody>
      </p:sp>
      <p:sp>
        <p:nvSpPr>
          <p:cNvPr id="16" name="Término 6"/>
          <p:cNvSpPr/>
          <p:nvPr/>
        </p:nvSpPr>
        <p:spPr>
          <a:xfrm>
            <a:off x="6172200" y="269748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érmino 6 texto"/>
          <p:cNvSpPr txBox="1"/>
          <p:nvPr/>
        </p:nvSpPr>
        <p:spPr>
          <a:xfrm>
            <a:off x="6373368" y="277063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Oaxaca–Blinder</a:t>
            </a:r>
          </a:p>
          <a:p>
            <a:pPr algn="l">
              <a:spcAft>
                <a:spcPts val="300"/>
              </a:spcAft>
            </a:pPr>
            <a:r>
              <a:rPr sz="1300" b="0" i="0">
                <a:solidFill>
                  <a:schemeClr val="tx1"/>
                </a:solidFill>
              </a:rPr>
              <a:t>Divide la brecha en parte explicada por características y parte no explicada.</a:t>
            </a:r>
          </a:p>
        </p:txBody>
      </p:sp>
      <p:sp>
        <p:nvSpPr>
          <p:cNvPr id="18" name="Término 7"/>
          <p:cNvSpPr/>
          <p:nvPr/>
        </p:nvSpPr>
        <p:spPr>
          <a:xfrm>
            <a:off x="6172200" y="388620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érmino 7 texto"/>
          <p:cNvSpPr txBox="1"/>
          <p:nvPr/>
        </p:nvSpPr>
        <p:spPr>
          <a:xfrm>
            <a:off x="6373368" y="395935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IPW</a:t>
            </a:r>
          </a:p>
          <a:p>
            <a:pPr algn="l">
              <a:spcAft>
                <a:spcPts val="300"/>
              </a:spcAft>
            </a:pPr>
            <a:r>
              <a:rPr sz="1300" b="0" i="0">
                <a:solidFill>
                  <a:schemeClr val="tx1"/>
                </a:solidFill>
              </a:rPr>
              <a:t>Ponderación por la probabilidad inversa de responder para corregir la no respuesta.</a:t>
            </a:r>
          </a:p>
        </p:txBody>
      </p:sp>
      <p:sp>
        <p:nvSpPr>
          <p:cNvPr id="20" name="Término 8"/>
          <p:cNvSpPr/>
          <p:nvPr/>
        </p:nvSpPr>
        <p:spPr>
          <a:xfrm>
            <a:off x="6172200" y="5074920"/>
            <a:ext cx="5468112" cy="107899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érmino 8 texto"/>
          <p:cNvSpPr txBox="1"/>
          <p:nvPr/>
        </p:nvSpPr>
        <p:spPr>
          <a:xfrm>
            <a:off x="6373368" y="5148072"/>
            <a:ext cx="5074920" cy="932688"/>
          </a:xfrm>
          <a:prstGeom prst="rect">
            <a:avLst/>
          </a:prstGeom>
          <a:noFill/>
        </p:spPr>
        <p:txBody>
          <a:bodyPr wrap="square" lIns="0" rIns="0" tIns="0" bIns="0" anchor="ctr">
            <a:spAutoFit/>
          </a:bodyPr>
          <a:lstStyle/>
          <a:p>
            <a:pPr algn="l">
              <a:spcAft>
                <a:spcPts val="300"/>
              </a:spcAft>
            </a:pPr>
            <a:r>
              <a:rPr sz="1600" b="1" i="0">
                <a:solidFill>
                  <a:schemeClr val="tx2"/>
                </a:solidFill>
              </a:rPr>
              <a:t>TIL1</a:t>
            </a:r>
          </a:p>
          <a:p>
            <a:pPr algn="l">
              <a:spcAft>
                <a:spcPts val="300"/>
              </a:spcAft>
            </a:pPr>
            <a:r>
              <a:rPr sz="1300" b="0" i="0">
                <a:solidFill>
                  <a:schemeClr val="tx1"/>
                </a:solidFill>
              </a:rPr>
              <a:t>Tasa de informalidad laboral: ocupados informales ÷ ocupados de 15 años y más.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Preguntas difíciles y respuestas cortas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48</a:t>
            </a:r>
          </a:p>
        </p:txBody>
      </p:sp>
      <p:sp>
        <p:nvSpPr>
          <p:cNvPr id="5" name="Bloque"/>
          <p:cNvSpPr txBox="1"/>
          <p:nvPr/>
        </p:nvSpPr>
        <p:spPr>
          <a:xfrm>
            <a:off x="548640" y="109728"/>
            <a:ext cx="7772400" cy="237744"/>
          </a:xfrm>
          <a:prstGeom prst="rect">
            <a:avLst/>
          </a:prstGeom>
          <a:noFill/>
        </p:spPr>
        <p:txBody>
          <a:bodyPr wrap="square" lIns="0" rIns="0" tIns="0" bIns="0" anchor="ctr">
            <a:spAutoFit/>
          </a:bodyPr>
          <a:lstStyle/>
          <a:p>
            <a:pPr algn="l">
              <a:spcAft>
                <a:spcPts val="0"/>
              </a:spcAft>
            </a:pPr>
            <a:r>
              <a:rPr sz="1100" b="1" i="0">
                <a:solidFill>
                  <a:schemeClr val="accent1"/>
                </a:solidFill>
              </a:rPr>
              <a:t>H · RESPALDO</a:t>
            </a:r>
          </a:p>
        </p:txBody>
      </p:sp>
      <p:sp>
        <p:nvSpPr>
          <p:cNvPr id="6" name="Pregunta 1"/>
          <p:cNvSpPr/>
          <p:nvPr/>
        </p:nvSpPr>
        <p:spPr>
          <a:xfrm>
            <a:off x="548640" y="1508760"/>
            <a:ext cx="546811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egunta 1 texto"/>
          <p:cNvSpPr txBox="1"/>
          <p:nvPr/>
        </p:nvSpPr>
        <p:spPr>
          <a:xfrm>
            <a:off x="749808" y="1581912"/>
            <a:ext cx="5074920" cy="1316736"/>
          </a:xfrm>
          <a:prstGeom prst="rect">
            <a:avLst/>
          </a:prstGeom>
          <a:noFill/>
        </p:spPr>
        <p:txBody>
          <a:bodyPr wrap="square" lIns="0" rIns="0" tIns="0" bIns="0" anchor="ctr">
            <a:spAutoFit/>
          </a:bodyPr>
          <a:lstStyle/>
          <a:p>
            <a:pPr algn="l">
              <a:spcAft>
                <a:spcPts val="400"/>
              </a:spcAft>
            </a:pPr>
            <a:r>
              <a:rPr sz="1600" b="1" i="0">
                <a:solidFill>
                  <a:schemeClr val="tx2"/>
                </a:solidFill>
              </a:rPr>
              <a:t>¿Es causal?</a:t>
            </a:r>
          </a:p>
          <a:p>
            <a:pPr algn="l">
              <a:spcAft>
                <a:spcPts val="400"/>
              </a:spcAft>
            </a:pPr>
            <a:r>
              <a:rPr sz="1300" b="0" i="0">
                <a:solidFill>
                  <a:schemeClr val="tx1"/>
                </a:solidFill>
              </a:rPr>
              <a:t>No: son asociaciones. Hay habilidad no observada y selección, y las relaciones entre estados no se leen a nivel individual.</a:t>
            </a:r>
          </a:p>
        </p:txBody>
      </p:sp>
      <p:sp>
        <p:nvSpPr>
          <p:cNvPr id="8" name="Pregunta 2"/>
          <p:cNvSpPr/>
          <p:nvPr/>
        </p:nvSpPr>
        <p:spPr>
          <a:xfrm>
            <a:off x="6172200" y="1508760"/>
            <a:ext cx="546811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regunta 2 texto"/>
          <p:cNvSpPr txBox="1"/>
          <p:nvPr/>
        </p:nvSpPr>
        <p:spPr>
          <a:xfrm>
            <a:off x="6373368" y="1581912"/>
            <a:ext cx="5074920" cy="1316736"/>
          </a:xfrm>
          <a:prstGeom prst="rect">
            <a:avLst/>
          </a:prstGeom>
          <a:noFill/>
        </p:spPr>
        <p:txBody>
          <a:bodyPr wrap="square" lIns="0" rIns="0" tIns="0" bIns="0" anchor="ctr">
            <a:spAutoFit/>
          </a:bodyPr>
          <a:lstStyle/>
          <a:p>
            <a:pPr algn="l">
              <a:spcAft>
                <a:spcPts val="400"/>
              </a:spcAft>
            </a:pPr>
            <a:r>
              <a:rPr sz="1600" b="1" i="0">
                <a:solidFill>
                  <a:schemeClr val="tx2"/>
                </a:solidFill>
              </a:rPr>
              <a:t>¿Por qué ponderan y usan Rao–Wu?</a:t>
            </a:r>
          </a:p>
          <a:p>
            <a:pPr algn="l">
              <a:spcAft>
                <a:spcPts val="400"/>
              </a:spcAft>
            </a:pPr>
            <a:r>
              <a:rPr sz="1300" b="0" i="0">
                <a:solidFill>
                  <a:schemeClr val="tx1"/>
                </a:solidFill>
              </a:rPr>
              <a:t>fac_tri representa personas y la encuesta es por conglomerados: los errores «normales» serían demasiado pequeños (efecto de diseño 4.8).</a:t>
            </a:r>
          </a:p>
        </p:txBody>
      </p:sp>
      <p:sp>
        <p:nvSpPr>
          <p:cNvPr id="10" name="Pregunta 3"/>
          <p:cNvSpPr/>
          <p:nvPr/>
        </p:nvSpPr>
        <p:spPr>
          <a:xfrm>
            <a:off x="548640" y="3081528"/>
            <a:ext cx="546811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egunta 3 texto"/>
          <p:cNvSpPr txBox="1"/>
          <p:nvPr/>
        </p:nvSpPr>
        <p:spPr>
          <a:xfrm>
            <a:off x="749808" y="3154680"/>
            <a:ext cx="5074920" cy="1316736"/>
          </a:xfrm>
          <a:prstGeom prst="rect">
            <a:avLst/>
          </a:prstGeom>
          <a:noFill/>
        </p:spPr>
        <p:txBody>
          <a:bodyPr wrap="square" lIns="0" rIns="0" tIns="0" bIns="0" anchor="ctr">
            <a:spAutoFit/>
          </a:bodyPr>
          <a:lstStyle/>
          <a:p>
            <a:pPr algn="l">
              <a:spcAft>
                <a:spcPts val="400"/>
              </a:spcAft>
            </a:pPr>
            <a:r>
              <a:rPr sz="1600" b="1" i="0">
                <a:solidFill>
                  <a:schemeClr val="tx2"/>
                </a:solidFill>
              </a:rPr>
              <a:t>¿Hay brecha de género?</a:t>
            </a:r>
          </a:p>
          <a:p>
            <a:pPr algn="l">
              <a:spcAft>
                <a:spcPts val="400"/>
              </a:spcAft>
            </a:pPr>
            <a:r>
              <a:rPr sz="1300" b="0" i="0">
                <a:solidFill>
                  <a:schemeClr val="tx1"/>
                </a:solidFill>
              </a:rPr>
              <a:t>Sí, depende de qué se mida: 3.7 % por hora, 26.9 % por mes (horas: −24 %) y 8.2 % entre personas comparables.</a:t>
            </a:r>
          </a:p>
        </p:txBody>
      </p:sp>
      <p:sp>
        <p:nvSpPr>
          <p:cNvPr id="12" name="Pregunta 4"/>
          <p:cNvSpPr/>
          <p:nvPr/>
        </p:nvSpPr>
        <p:spPr>
          <a:xfrm>
            <a:off x="6172200" y="3081528"/>
            <a:ext cx="546811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egunta 4 texto"/>
          <p:cNvSpPr txBox="1"/>
          <p:nvPr/>
        </p:nvSpPr>
        <p:spPr>
          <a:xfrm>
            <a:off x="6373368" y="3154680"/>
            <a:ext cx="5074920" cy="1316736"/>
          </a:xfrm>
          <a:prstGeom prst="rect">
            <a:avLst/>
          </a:prstGeom>
          <a:noFill/>
        </p:spPr>
        <p:txBody>
          <a:bodyPr wrap="square" lIns="0" rIns="0" tIns="0" bIns="0" anchor="ctr">
            <a:spAutoFit/>
          </a:bodyPr>
          <a:lstStyle/>
          <a:p>
            <a:pPr algn="l">
              <a:spcAft>
                <a:spcPts val="400"/>
              </a:spcAft>
            </a:pPr>
            <a:r>
              <a:rPr sz="1600" b="1" i="0">
                <a:solidFill>
                  <a:schemeClr val="tx2"/>
                </a:solidFill>
              </a:rPr>
              <a:t>¿Por qué no interpretan el modelo con horas?</a:t>
            </a:r>
          </a:p>
          <a:p>
            <a:pPr algn="l">
              <a:spcAft>
                <a:spcPts val="400"/>
              </a:spcAft>
            </a:pPr>
            <a:r>
              <a:rPr sz="1300" b="0" i="0">
                <a:solidFill>
                  <a:schemeClr val="tx1"/>
                </a:solidFill>
              </a:rPr>
              <a:t>Sesgo de división: un error en las horas crea una relación negativa mecánica y la brecha «sube» a 16 %.</a:t>
            </a:r>
          </a:p>
        </p:txBody>
      </p:sp>
      <p:sp>
        <p:nvSpPr>
          <p:cNvPr id="14" name="Pregunta 5"/>
          <p:cNvSpPr/>
          <p:nvPr/>
        </p:nvSpPr>
        <p:spPr>
          <a:xfrm>
            <a:off x="548640" y="4654296"/>
            <a:ext cx="546811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regunta 5 texto"/>
          <p:cNvSpPr txBox="1"/>
          <p:nvPr/>
        </p:nvSpPr>
        <p:spPr>
          <a:xfrm>
            <a:off x="749808" y="4727448"/>
            <a:ext cx="5074920" cy="1316736"/>
          </a:xfrm>
          <a:prstGeom prst="rect">
            <a:avLst/>
          </a:prstGeom>
          <a:noFill/>
        </p:spPr>
        <p:txBody>
          <a:bodyPr wrap="square" lIns="0" rIns="0" tIns="0" bIns="0" anchor="ctr">
            <a:spAutoFit/>
          </a:bodyPr>
          <a:lstStyle/>
          <a:p>
            <a:pPr algn="l">
              <a:spcAft>
                <a:spcPts val="400"/>
              </a:spcAft>
            </a:pPr>
            <a:r>
              <a:rPr sz="1600" b="1" i="0">
                <a:solidFill>
                  <a:schemeClr val="tx2"/>
                </a:solidFill>
              </a:rPr>
              <a:t>¿Cargaron a un MongoDB real?</a:t>
            </a:r>
          </a:p>
          <a:p>
            <a:pPr algn="l">
              <a:spcAft>
                <a:spcPts val="400"/>
              </a:spcAft>
            </a:pPr>
            <a:r>
              <a:rPr sz="1300" b="0" i="0">
                <a:solidFill>
                  <a:schemeClr val="tx1"/>
                </a:solidFill>
              </a:rPr>
              <a:t>No. Exportamos los documentos y verificamos que la agregación reproduce la vista SQL (0.005 pp); con pymongo y un servidor se cargan.</a:t>
            </a:r>
          </a:p>
        </p:txBody>
      </p:sp>
      <p:sp>
        <p:nvSpPr>
          <p:cNvPr id="16" name="Pregunta 6"/>
          <p:cNvSpPr/>
          <p:nvPr/>
        </p:nvSpPr>
        <p:spPr>
          <a:xfrm>
            <a:off x="6172200" y="4654296"/>
            <a:ext cx="546811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egunta 6 texto"/>
          <p:cNvSpPr txBox="1"/>
          <p:nvPr/>
        </p:nvSpPr>
        <p:spPr>
          <a:xfrm>
            <a:off x="6373368" y="4727448"/>
            <a:ext cx="5074920" cy="1316736"/>
          </a:xfrm>
          <a:prstGeom prst="rect">
            <a:avLst/>
          </a:prstGeom>
          <a:noFill/>
        </p:spPr>
        <p:txBody>
          <a:bodyPr wrap="square" lIns="0" rIns="0" tIns="0" bIns="0" anchor="ctr">
            <a:spAutoFit/>
          </a:bodyPr>
          <a:lstStyle/>
          <a:p>
            <a:pPr algn="l">
              <a:spcAft>
                <a:spcPts val="400"/>
              </a:spcAft>
            </a:pPr>
            <a:r>
              <a:rPr sz="1600" b="1" i="0">
                <a:solidFill>
                  <a:schemeClr val="tx2"/>
                </a:solidFill>
              </a:rPr>
              <a:t>¿Qué limita los resultados?</a:t>
            </a:r>
          </a:p>
          <a:p>
            <a:pPr algn="l">
              <a:spcAft>
                <a:spcPts val="400"/>
              </a:spcAft>
            </a:pPr>
            <a:r>
              <a:rPr sz="1300" b="0" i="0">
                <a:solidFill>
                  <a:schemeClr val="tx1"/>
                </a:solidFill>
              </a:rPr>
              <a:t>Un trimestre, ingreso autorreportado y con redondeo, selección en el empleo y entre 1,900 y 5,900 observaciones por estado.</a:t>
            </a:r>
          </a:p>
        </p:txBody>
      </p:sp>
    </p:spTree>
  </p:cSld>
  <p:clrMapOvr>
    <a:masterClrMapping/>
  </p:clrMapOvr>
</p:sld>
</file>

<file path=ppt/theme/theme1.xml><?xml version="1.0" encoding="utf-8"?>
<a:theme xmlns:a="http://schemas.openxmlformats.org/drawingml/2006/main" name="Proyecto ENOE">
  <a:themeElements>
    <a:clrScheme name="Proyecto ENOE">
      <a:dk1>
        <a:srgbClr val="1B1B1F"/>
      </a:dk1>
      <a:lt1>
        <a:srgbClr val="FFFFFF"/>
      </a:lt1>
      <a:dk2>
        <a:srgbClr val="1E2A6B"/>
      </a:dk2>
      <a:lt2>
        <a:srgbClr val="F3F5FB"/>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Proyecto ENO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Radiografía socioeconómica de México: escolaridad, ingreso y brecha de género</dc:title>
  <dc:subject>Proyecto Integrador de Ciencia de Datos · ENOE 2025-T4 (INEGI) · presentación completa</dc:subject>
  <dc:creator>Equipo 1: Juan Evelio Culin Grajeda, Angel Yireh Garcia Jara, Luis Andre Gutierrez Zuñia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